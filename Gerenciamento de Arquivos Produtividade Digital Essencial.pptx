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8288000" cy="10287000"/>
  <p:notesSz cx="6858000" cy="9144000"/>
  <p:embeddedFontLst>
    <p:embeddedFont>
      <p:font typeface="Cambria Math" panose="02040503050406030204" pitchFamily="18" charset="0"/>
      <p:regular r:id="rId45"/>
    </p:embeddedFont>
    <p:embeddedFont>
      <p:font typeface="Quicksand" panose="020B0604020202020204" charset="0"/>
      <p:regular r:id="rId46"/>
    </p:embeddedFont>
    <p:embeddedFont>
      <p:font typeface="Quicksand Bold" panose="020B0604020202020204" charset="0"/>
      <p:regular r:id="rId47"/>
    </p:embeddedFont>
    <p:embeddedFont>
      <p:font typeface="Rubik" panose="020B0604020202020204" charset="-79"/>
      <p:regular r:id="rId4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39" d="100"/>
          <a:sy n="3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2" name="Rounded Rectangle 1"/>
          <p:cNvSpPr/>
          <p:nvPr/>
        </p:nvSpPr>
        <p:spPr>
          <a:xfrm rot="120000">
            <a:off x="9639300" y="1095374"/>
            <a:ext cx="7886700" cy="7886700"/>
          </a:xfrm>
          <a:prstGeom prst="roundRect">
            <a:avLst>
              <a:gd name="adj" fmla="val 1932"/>
            </a:avLst>
          </a:prstGeom>
          <a:solidFill>
            <a:srgbClr val="000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5632510e-3738-43ce-808e-8f76c3c9b811.png"/>
          <p:cNvPicPr>
            <a:picLocks noChangeAspect="1"/>
          </p:cNvPicPr>
          <p:nvPr/>
        </p:nvPicPr>
        <p:blipFill>
          <a:blip r:embed="rId2"/>
          <a:stretch>
            <a:fillRect/>
          </a:stretch>
        </p:blipFill>
        <p:spPr>
          <a:xfrm rot="21480000">
            <a:off x="9525000" y="1304925"/>
            <a:ext cx="7886700" cy="7886700"/>
          </a:xfrm>
          <a:prstGeom prst="rect">
            <a:avLst/>
          </a:prstGeom>
        </p:spPr>
      </p:pic>
      <p:pic>
        <p:nvPicPr>
          <p:cNvPr id="4" name="Picture 3" descr="fa6c05dd-d6ee-4101-b64b-b4e6085378dd.png"/>
          <p:cNvPicPr>
            <a:picLocks noChangeAspect="1"/>
          </p:cNvPicPr>
          <p:nvPr/>
        </p:nvPicPr>
        <p:blipFill>
          <a:blip r:embed="rId3"/>
          <a:stretch>
            <a:fillRect/>
          </a:stretch>
        </p:blipFill>
        <p:spPr>
          <a:xfrm>
            <a:off x="12734924" y="1000125"/>
            <a:ext cx="1581149" cy="380999"/>
          </a:xfrm>
          <a:prstGeom prst="rect">
            <a:avLst/>
          </a:prstGeom>
        </p:spPr>
      </p:pic>
      <p:sp>
        <p:nvSpPr>
          <p:cNvPr id="6" name="TextBox 5"/>
          <p:cNvSpPr txBox="1"/>
          <p:nvPr/>
        </p:nvSpPr>
        <p:spPr>
          <a:xfrm>
            <a:off x="761999" y="2960389"/>
            <a:ext cx="8001000" cy="3352800"/>
          </a:xfrm>
          <a:prstGeom prst="rect">
            <a:avLst/>
          </a:prstGeom>
          <a:noFill/>
        </p:spPr>
        <p:txBody>
          <a:bodyPr wrap="square" lIns="0" tIns="0" rIns="0" bIns="0">
            <a:normAutofit/>
          </a:bodyPr>
          <a:lstStyle/>
          <a:p>
            <a:pPr algn="l">
              <a:lnSpc>
                <a:spcPct val="99000"/>
              </a:lnSpc>
            </a:pPr>
            <a:r>
              <a:rPr sz="6000" b="1">
                <a:solidFill>
                  <a:srgbClr val="FFFFFF"/>
                </a:solidFill>
                <a:latin typeface="Quicksand Bold"/>
              </a:rPr>
              <a:t>Gerenciamento de Arquivos: Produtividade Digital Essencial</a:t>
            </a:r>
          </a:p>
        </p:txBody>
      </p:sp>
      <p:sp>
        <p:nvSpPr>
          <p:cNvPr id="7" name="TextBox 6"/>
          <p:cNvSpPr txBox="1"/>
          <p:nvPr/>
        </p:nvSpPr>
        <p:spPr>
          <a:xfrm>
            <a:off x="761999" y="6503689"/>
            <a:ext cx="8001000" cy="822920"/>
          </a:xfrm>
          <a:prstGeom prst="rect">
            <a:avLst/>
          </a:prstGeom>
          <a:noFill/>
        </p:spPr>
        <p:txBody>
          <a:bodyPr wrap="square" lIns="0" tIns="0" rIns="0" bIns="0">
            <a:normAutofit/>
          </a:bodyPr>
          <a:lstStyle/>
          <a:p>
            <a:pPr algn="l">
              <a:lnSpc>
                <a:spcPct val="108000"/>
              </a:lnSpc>
            </a:pPr>
            <a:r>
              <a:rPr sz="2700">
                <a:solidFill>
                  <a:srgbClr val="FFFFFF"/>
                </a:solidFill>
                <a:latin typeface="Quicksand"/>
              </a:rPr>
              <a:t>Organização, Suítes de Produtividade e Colaboração na Nuvem para o Século XXI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371600" y="1695449"/>
            <a:ext cx="7486650" cy="1005780"/>
          </a:xfrm>
          <a:prstGeom prst="rect">
            <a:avLst/>
          </a:prstGeom>
          <a:noFill/>
        </p:spPr>
        <p:txBody>
          <a:bodyPr wrap="square" lIns="0" tIns="0" rIns="0" bIns="0">
            <a:normAutofit/>
          </a:bodyPr>
          <a:lstStyle/>
          <a:p>
            <a:pPr algn="l">
              <a:lnSpc>
                <a:spcPct val="99000"/>
              </a:lnSpc>
            </a:pPr>
            <a:r>
              <a:rPr sz="7200" b="1">
                <a:solidFill>
                  <a:srgbClr val="FFFFFF"/>
                </a:solidFill>
                <a:latin typeface="Quicksand Bold"/>
              </a:rPr>
              <a:t>Sumário</a:t>
            </a:r>
          </a:p>
        </p:txBody>
      </p:sp>
      <p:sp>
        <p:nvSpPr>
          <p:cNvPr id="4" name="TextBox 3"/>
          <p:cNvSpPr txBox="1"/>
          <p:nvPr/>
        </p:nvSpPr>
        <p:spPr>
          <a:xfrm>
            <a:off x="9334499" y="2919412"/>
            <a:ext cx="7248525" cy="4448175"/>
          </a:xfrm>
          <a:prstGeom prst="rect">
            <a:avLst/>
          </a:prstGeom>
          <a:noFill/>
        </p:spPr>
        <p:txBody>
          <a:bodyPr wrap="square" lIns="0" tIns="0" rIns="0" bIns="0">
            <a:normAutofit/>
          </a:bodyPr>
          <a:lstStyle/>
          <a:p>
            <a:pPr algn="l">
              <a:buChar char="•"/>
            </a:pPr>
            <a:r>
              <a:rPr sz="3000">
                <a:latin typeface="Quicksand"/>
              </a:rPr>
              <a:t>  </a:t>
            </a:r>
            <a:r>
              <a:rPr sz="3000">
                <a:solidFill>
                  <a:srgbClr val="FFFFFF"/>
                </a:solidFill>
                <a:latin typeface="Quicksand"/>
              </a:rPr>
              <a:t>Base do Sistema Operacional e Organização</a:t>
            </a:r>
          </a:p>
          <a:p>
            <a:pPr algn="l">
              <a:lnSpc>
                <a:spcPct val="126000"/>
              </a:lnSpc>
              <a:spcBef>
                <a:spcPts val="1875"/>
              </a:spcBef>
              <a:buChar char="•"/>
            </a:pPr>
            <a:r>
              <a:rPr sz="3000">
                <a:latin typeface="Quicksand"/>
              </a:rPr>
              <a:t>  </a:t>
            </a:r>
            <a:r>
              <a:rPr sz="3000">
                <a:solidFill>
                  <a:srgbClr val="FFFFFF"/>
                </a:solidFill>
                <a:latin typeface="Quicksand"/>
              </a:rPr>
              <a:t>Ferramentas de Produtividade (Texto, Planilhas, Slides)</a:t>
            </a:r>
          </a:p>
          <a:p>
            <a:pPr algn="l">
              <a:lnSpc>
                <a:spcPct val="126000"/>
              </a:lnSpc>
              <a:spcBef>
                <a:spcPts val="1875"/>
              </a:spcBef>
              <a:buChar char="•"/>
            </a:pPr>
            <a:r>
              <a:rPr sz="3000">
                <a:latin typeface="Quicksand"/>
              </a:rPr>
              <a:t>  </a:t>
            </a:r>
            <a:r>
              <a:rPr sz="3000">
                <a:solidFill>
                  <a:srgbClr val="FFFFFF"/>
                </a:solidFill>
                <a:latin typeface="Quicksand"/>
              </a:rPr>
              <a:t>Computação em Nuvem e Colaboração</a:t>
            </a:r>
          </a:p>
          <a:p>
            <a:pPr algn="l">
              <a:lnSpc>
                <a:spcPct val="126000"/>
              </a:lnSpc>
              <a:spcBef>
                <a:spcPts val="1875"/>
              </a:spcBef>
              <a:buChar char="•"/>
            </a:pPr>
            <a:r>
              <a:rPr sz="3000">
                <a:latin typeface="Quicksand"/>
              </a:rPr>
              <a:t>  </a:t>
            </a:r>
            <a:r>
              <a:rPr sz="3000">
                <a:solidFill>
                  <a:srgbClr val="FFFFFF"/>
                </a:solidFill>
                <a:latin typeface="Quicksand"/>
              </a:rPr>
              <a:t>Segurança, Backup e Ética Digital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f0dc5524-1a57-442f-8ecd-f4feaa0dc247.png"/>
          <p:cNvPicPr>
            <a:picLocks noChangeAspect="1"/>
          </p:cNvPicPr>
          <p:nvPr/>
        </p:nvPicPr>
        <p:blipFill>
          <a:blip r:embed="rId2"/>
          <a:stretch>
            <a:fillRect/>
          </a:stretch>
        </p:blipFill>
        <p:spPr>
          <a:xfrm>
            <a:off x="771525" y="2520950"/>
            <a:ext cx="7867649" cy="5245100"/>
          </a:xfrm>
          <a:prstGeom prst="rect">
            <a:avLst/>
          </a:prstGeom>
        </p:spPr>
      </p:pic>
      <p:sp>
        <p:nvSpPr>
          <p:cNvPr id="4" name="TextBox 3"/>
          <p:cNvSpPr txBox="1"/>
          <p:nvPr/>
        </p:nvSpPr>
        <p:spPr>
          <a:xfrm>
            <a:off x="9096375" y="1276350"/>
            <a:ext cx="7905749" cy="1508720"/>
          </a:xfrm>
          <a:prstGeom prst="rect">
            <a:avLst/>
          </a:prstGeom>
          <a:noFill/>
        </p:spPr>
        <p:txBody>
          <a:bodyPr wrap="square" lIns="0" tIns="0" rIns="0" bIns="0">
            <a:normAutofit/>
          </a:bodyPr>
          <a:lstStyle/>
          <a:p>
            <a:pPr algn="l">
              <a:lnSpc>
                <a:spcPct val="99000"/>
              </a:lnSpc>
            </a:pPr>
            <a:r>
              <a:rPr sz="5400" b="1">
                <a:solidFill>
                  <a:srgbClr val="FFFFFF"/>
                </a:solidFill>
                <a:latin typeface="Quicksand Bold"/>
              </a:rPr>
              <a:t>Gerenciamento e Produtividade Digital</a:t>
            </a:r>
          </a:p>
        </p:txBody>
      </p:sp>
      <p:sp>
        <p:nvSpPr>
          <p:cNvPr id="5" name="TextBox 4"/>
          <p:cNvSpPr txBox="1"/>
          <p:nvPr/>
        </p:nvSpPr>
        <p:spPr>
          <a:xfrm>
            <a:off x="9096375" y="3089870"/>
            <a:ext cx="7905749" cy="5119687"/>
          </a:xfrm>
          <a:prstGeom prst="rect">
            <a:avLst/>
          </a:prstGeom>
          <a:noFill/>
        </p:spPr>
        <p:txBody>
          <a:bodyPr wrap="square" lIns="0" tIns="0" rIns="0" bIns="0">
            <a:normAutofit/>
          </a:bodyPr>
          <a:lstStyle/>
          <a:p>
            <a:pPr algn="l">
              <a:lnSpc>
                <a:spcPct val="126000"/>
              </a:lnSpc>
            </a:pPr>
            <a:r>
              <a:rPr sz="2400">
                <a:solidFill>
                  <a:srgbClr val="FFFFFF"/>
                </a:solidFill>
                <a:latin typeface="Quicksand"/>
              </a:rPr>
              <a:t>Em um mundo saturado de informações, </a:t>
            </a:r>
            <a:r>
              <a:rPr sz="2400" b="1">
                <a:solidFill>
                  <a:srgbClr val="FFFFFF"/>
                </a:solidFill>
                <a:latin typeface="Quicksand Bold"/>
              </a:rPr>
              <a:t>dominar o gerenciamento de arquivos</a:t>
            </a:r>
            <a:r>
              <a:rPr sz="2400">
                <a:solidFill>
                  <a:srgbClr val="FFFFFF"/>
                </a:solidFill>
                <a:latin typeface="Quicksand"/>
              </a:rPr>
              <a:t> e as ferramentas de produtividade é essencial. Essa habilidade não é apenas técnica, mas uma competência estratégica que impacta diretamente a </a:t>
            </a:r>
            <a:r>
              <a:rPr sz="2400" b="1">
                <a:solidFill>
                  <a:srgbClr val="FFFFFF"/>
                </a:solidFill>
                <a:latin typeface="Quicksand Bold"/>
              </a:rPr>
              <a:t>carga cognitiva</a:t>
            </a:r>
            <a:r>
              <a:rPr sz="2400">
                <a:solidFill>
                  <a:srgbClr val="FFFFFF"/>
                </a:solidFill>
                <a:latin typeface="Quicksand"/>
              </a:rPr>
              <a:t>. Um ambiente digital organizado minimiza o estresse e a perda de tempo, permitindo foco na criação e análise, o que é crucial para o sucesso acadêmico, especialmente no ensino médio, vestibulares e no mercado de trabalho. Nesta aula, abordaremos desde os fundamentos técnicos dos sistemas operacionais até o trabalho colaborativo avançado na nuvem.</a:t>
            </a:r>
          </a:p>
        </p:txBody>
      </p:sp>
      <p:sp>
        <p:nvSpPr>
          <p:cNvPr id="6" name="TextBox 5"/>
          <p:cNvSpPr txBox="1"/>
          <p:nvPr/>
        </p:nvSpPr>
        <p:spPr>
          <a:xfrm>
            <a:off x="771525" y="7823199"/>
            <a:ext cx="7867649" cy="214312"/>
          </a:xfrm>
          <a:prstGeom prst="rect">
            <a:avLst/>
          </a:prstGeom>
          <a:noFill/>
        </p:spPr>
        <p:txBody>
          <a:bodyPr wrap="square" lIns="0" tIns="0" rIns="0" bIns="0">
            <a:normAutofit/>
          </a:bodyPr>
          <a:lstStyle/>
          <a:p>
            <a:pPr algn="l">
              <a:lnSpc>
                <a:spcPct val="112500"/>
              </a:lnSpc>
            </a:pPr>
            <a:r>
              <a:rPr sz="1350">
                <a:solidFill>
                  <a:srgbClr val="FFFFFF"/>
                </a:solidFill>
                <a:latin typeface="Quicksand"/>
              </a:rPr>
              <a:t>Excluindo arquivos digitais para otimizar a produtividade e reduzir a carga cognitiva.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276350"/>
            <a:ext cx="7200900" cy="1562100"/>
          </a:xfrm>
          <a:prstGeom prst="rect">
            <a:avLst/>
          </a:prstGeom>
          <a:noFill/>
        </p:spPr>
        <p:txBody>
          <a:bodyPr wrap="square" lIns="0" tIns="0" rIns="0" bIns="0">
            <a:normAutofit/>
          </a:bodyPr>
          <a:lstStyle/>
          <a:p>
            <a:pPr algn="l">
              <a:lnSpc>
                <a:spcPct val="90000"/>
              </a:lnSpc>
            </a:pPr>
            <a:r>
              <a:rPr sz="6150" b="1">
                <a:solidFill>
                  <a:srgbClr val="FFFFFF"/>
                </a:solidFill>
                <a:latin typeface="Quicksand Bold"/>
              </a:rPr>
              <a:t>O Sistema Operacional</a:t>
            </a:r>
          </a:p>
        </p:txBody>
      </p:sp>
      <p:sp>
        <p:nvSpPr>
          <p:cNvPr id="4" name="TextBox 3"/>
          <p:cNvSpPr txBox="1"/>
          <p:nvPr/>
        </p:nvSpPr>
        <p:spPr>
          <a:xfrm>
            <a:off x="9144000" y="1437629"/>
            <a:ext cx="7867649" cy="548580"/>
          </a:xfrm>
          <a:prstGeom prst="rect">
            <a:avLst/>
          </a:prstGeom>
          <a:noFill/>
        </p:spPr>
        <p:txBody>
          <a:bodyPr wrap="square" lIns="0" tIns="0" rIns="0" bIns="0">
            <a:normAutofit/>
          </a:bodyPr>
          <a:lstStyle/>
          <a:p>
            <a:pPr algn="l">
              <a:lnSpc>
                <a:spcPct val="108000"/>
              </a:lnSpc>
            </a:pPr>
            <a:r>
              <a:rPr sz="3600" b="1">
                <a:solidFill>
                  <a:srgbClr val="FFFFFF"/>
                </a:solidFill>
                <a:latin typeface="Quicksand Bold"/>
              </a:rPr>
              <a:t>Gerenciamento de Processos</a:t>
            </a:r>
          </a:p>
        </p:txBody>
      </p:sp>
      <p:sp>
        <p:nvSpPr>
          <p:cNvPr id="5" name="TextBox 4"/>
          <p:cNvSpPr txBox="1"/>
          <p:nvPr/>
        </p:nvSpPr>
        <p:spPr>
          <a:xfrm>
            <a:off x="9144000" y="2129085"/>
            <a:ext cx="7867649" cy="6720284"/>
          </a:xfrm>
          <a:prstGeom prst="rect">
            <a:avLst/>
          </a:prstGeom>
          <a:noFill/>
        </p:spPr>
        <p:txBody>
          <a:bodyPr wrap="square" lIns="0" tIns="0" rIns="0" bIns="0">
            <a:normAutofit/>
          </a:bodyPr>
          <a:lstStyle/>
          <a:p>
            <a:pPr algn="l">
              <a:lnSpc>
                <a:spcPct val="126000"/>
              </a:lnSpc>
            </a:pPr>
            <a:r>
              <a:rPr sz="2700">
                <a:solidFill>
                  <a:srgbClr val="FFFFFF"/>
                </a:solidFill>
                <a:latin typeface="Quicksand"/>
              </a:rPr>
              <a:t>O Sistema Operacional (SO) é como um maestro que orquestra a execução de programas, decidindo qual processo (tarefa em execução) terá acesso à Unidade Central de Processamento (CPU) e por quanto tempo. Ele aloca recursos de forma inteligente para que o sistema permaneça responsivo, permitindo que você execute múltiplas aplicações simultaneamente sem travamentos. Essa gestão é crucial para a </a:t>
            </a:r>
            <a:r>
              <a:rPr sz="2700" b="1">
                <a:solidFill>
                  <a:srgbClr val="FFFFFF"/>
                </a:solidFill>
                <a:latin typeface="Quicksand Bold"/>
              </a:rPr>
              <a:t>multitarefa</a:t>
            </a:r>
            <a:r>
              <a:rPr sz="2700">
                <a:solidFill>
                  <a:srgbClr val="FFFFFF"/>
                </a:solidFill>
                <a:latin typeface="Quicksand"/>
              </a:rPr>
              <a:t>, uma capacidade essencial nos computadores modernos, onde o SO alterna rapidamente entre os processos, criando a ilusão de que todos estão sendo executados ao mesmo tempo.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276350"/>
            <a:ext cx="7200900" cy="1562100"/>
          </a:xfrm>
          <a:prstGeom prst="rect">
            <a:avLst/>
          </a:prstGeom>
          <a:noFill/>
        </p:spPr>
        <p:txBody>
          <a:bodyPr wrap="square" lIns="0" tIns="0" rIns="0" bIns="0">
            <a:normAutofit/>
          </a:bodyPr>
          <a:lstStyle/>
          <a:p>
            <a:pPr algn="l">
              <a:lnSpc>
                <a:spcPct val="90000"/>
              </a:lnSpc>
            </a:pPr>
            <a:r>
              <a:rPr sz="6150" b="1">
                <a:solidFill>
                  <a:srgbClr val="FFFFFF"/>
                </a:solidFill>
                <a:latin typeface="Quicksand Bold"/>
              </a:rPr>
              <a:t>O Sistema Operacional</a:t>
            </a:r>
          </a:p>
        </p:txBody>
      </p:sp>
      <p:sp>
        <p:nvSpPr>
          <p:cNvPr id="4" name="TextBox 3"/>
          <p:cNvSpPr txBox="1"/>
          <p:nvPr/>
        </p:nvSpPr>
        <p:spPr>
          <a:xfrm>
            <a:off x="9144000" y="1677640"/>
            <a:ext cx="7867649" cy="548580"/>
          </a:xfrm>
          <a:prstGeom prst="rect">
            <a:avLst/>
          </a:prstGeom>
          <a:noFill/>
        </p:spPr>
        <p:txBody>
          <a:bodyPr wrap="square" lIns="0" tIns="0" rIns="0" bIns="0">
            <a:normAutofit/>
          </a:bodyPr>
          <a:lstStyle/>
          <a:p>
            <a:pPr algn="l">
              <a:lnSpc>
                <a:spcPct val="108000"/>
              </a:lnSpc>
            </a:pPr>
            <a:r>
              <a:rPr sz="3600" b="1">
                <a:solidFill>
                  <a:srgbClr val="FFFFFF"/>
                </a:solidFill>
                <a:latin typeface="Quicksand Bold"/>
              </a:rPr>
              <a:t>Gerenciamento de Memória</a:t>
            </a:r>
          </a:p>
        </p:txBody>
      </p:sp>
      <p:sp>
        <p:nvSpPr>
          <p:cNvPr id="5" name="TextBox 4"/>
          <p:cNvSpPr txBox="1"/>
          <p:nvPr/>
        </p:nvSpPr>
        <p:spPr>
          <a:xfrm>
            <a:off x="9144000" y="2369095"/>
            <a:ext cx="7867649" cy="6240264"/>
          </a:xfrm>
          <a:prstGeom prst="rect">
            <a:avLst/>
          </a:prstGeom>
          <a:noFill/>
        </p:spPr>
        <p:txBody>
          <a:bodyPr wrap="square" lIns="0" tIns="0" rIns="0" bIns="0">
            <a:normAutofit/>
          </a:bodyPr>
          <a:lstStyle/>
          <a:p>
            <a:pPr algn="l">
              <a:lnSpc>
                <a:spcPct val="126000"/>
              </a:lnSpc>
            </a:pPr>
            <a:r>
              <a:rPr sz="2700">
                <a:solidFill>
                  <a:srgbClr val="FFFFFF"/>
                </a:solidFill>
                <a:latin typeface="Quicksand"/>
              </a:rPr>
              <a:t>Responsável por controlar o uso da Memória de Acesso Aleatório (RAM), o SO distribui o espaço disponível entre os diversos programas abertos e o próprio sistema. Ele garante que cada aplicativo tenha a quantidade de memória necessária para funcionar eficientemente, evitando conflitos e otimizando o desempenho geral do computador. Sem uma gestão eficaz da memória, o sistema ficaria lento ou travaria, pois os programas competiriam por um recurso limitado. É o SO que assegura que a memória seja utilizada de forma organizada e segura para todos os processos.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276350"/>
            <a:ext cx="7200900" cy="1562100"/>
          </a:xfrm>
          <a:prstGeom prst="rect">
            <a:avLst/>
          </a:prstGeom>
          <a:noFill/>
        </p:spPr>
        <p:txBody>
          <a:bodyPr wrap="square" lIns="0" tIns="0" rIns="0" bIns="0">
            <a:normAutofit/>
          </a:bodyPr>
          <a:lstStyle/>
          <a:p>
            <a:pPr algn="l">
              <a:lnSpc>
                <a:spcPct val="90000"/>
              </a:lnSpc>
            </a:pPr>
            <a:r>
              <a:rPr sz="6150" b="1">
                <a:solidFill>
                  <a:srgbClr val="FFFFFF"/>
                </a:solidFill>
                <a:latin typeface="Quicksand Bold"/>
              </a:rPr>
              <a:t>O Sistema Operacional</a:t>
            </a:r>
          </a:p>
        </p:txBody>
      </p:sp>
      <p:sp>
        <p:nvSpPr>
          <p:cNvPr id="4" name="TextBox 3"/>
          <p:cNvSpPr txBox="1"/>
          <p:nvPr/>
        </p:nvSpPr>
        <p:spPr>
          <a:xfrm>
            <a:off x="9144000" y="1504156"/>
            <a:ext cx="7867649" cy="548580"/>
          </a:xfrm>
          <a:prstGeom prst="rect">
            <a:avLst/>
          </a:prstGeom>
          <a:noFill/>
        </p:spPr>
        <p:txBody>
          <a:bodyPr wrap="square" lIns="0" tIns="0" rIns="0" bIns="0">
            <a:normAutofit/>
          </a:bodyPr>
          <a:lstStyle/>
          <a:p>
            <a:pPr algn="l">
              <a:lnSpc>
                <a:spcPct val="108000"/>
              </a:lnSpc>
            </a:pPr>
            <a:r>
              <a:rPr sz="3600" b="1">
                <a:solidFill>
                  <a:srgbClr val="FFFFFF"/>
                </a:solidFill>
                <a:latin typeface="Quicksand Bold"/>
              </a:rPr>
              <a:t>Gerenciamento de Arquivos</a:t>
            </a:r>
          </a:p>
        </p:txBody>
      </p:sp>
      <p:sp>
        <p:nvSpPr>
          <p:cNvPr id="5" name="TextBox 4"/>
          <p:cNvSpPr txBox="1"/>
          <p:nvPr/>
        </p:nvSpPr>
        <p:spPr>
          <a:xfrm>
            <a:off x="9144000" y="2195611"/>
            <a:ext cx="7867649" cy="6587232"/>
          </a:xfrm>
          <a:prstGeom prst="rect">
            <a:avLst/>
          </a:prstGeom>
          <a:noFill/>
        </p:spPr>
        <p:txBody>
          <a:bodyPr wrap="square" lIns="0" tIns="0" rIns="0" bIns="0">
            <a:normAutofit/>
          </a:bodyPr>
          <a:lstStyle/>
          <a:p>
            <a:pPr algn="l">
              <a:lnSpc>
                <a:spcPct val="126000"/>
              </a:lnSpc>
            </a:pPr>
            <a:r>
              <a:rPr sz="2850">
                <a:solidFill>
                  <a:srgbClr val="FFFFFF"/>
                </a:solidFill>
                <a:latin typeface="Quicksand"/>
              </a:rPr>
              <a:t>O SO define como os dados são organizados e armazenados em dispositivos como discos rígidos e SSDs, criando uma </a:t>
            </a:r>
            <a:r>
              <a:rPr sz="2850" b="1">
                <a:solidFill>
                  <a:srgbClr val="FFFFFF"/>
                </a:solidFill>
                <a:latin typeface="Quicksand Bold"/>
              </a:rPr>
              <a:t>abstração</a:t>
            </a:r>
            <a:r>
              <a:rPr sz="2850">
                <a:solidFill>
                  <a:srgbClr val="FFFFFF"/>
                </a:solidFill>
                <a:latin typeface="Quicksand"/>
              </a:rPr>
              <a:t> de </a:t>
            </a:r>
            <a:r>
              <a:rPr sz="2850" i="1">
                <a:solidFill>
                  <a:srgbClr val="FFFFFF"/>
                </a:solidFill>
                <a:latin typeface="Quicksand"/>
              </a:rPr>
              <a:t>pastas</a:t>
            </a:r>
            <a:r>
              <a:rPr sz="2850">
                <a:solidFill>
                  <a:srgbClr val="FFFFFF"/>
                </a:solidFill>
                <a:latin typeface="Quicksand"/>
              </a:rPr>
              <a:t> (ou diretórios) e </a:t>
            </a:r>
            <a:r>
              <a:rPr sz="2850" i="1">
                <a:solidFill>
                  <a:srgbClr val="FFFFFF"/>
                </a:solidFill>
                <a:latin typeface="Quicksand"/>
              </a:rPr>
              <a:t>arquivos</a:t>
            </a:r>
            <a:r>
              <a:rPr sz="2850">
                <a:solidFill>
                  <a:srgbClr val="FFFFFF"/>
                </a:solidFill>
                <a:latin typeface="Quicksand"/>
              </a:rPr>
              <a:t>. Ele controla a gravação, leitura, modificação e exclusão de dados, além de gerenciar permissões de acesso e o sistema de arquivos (ex: NTFS, FAT32, ext4), que é a estrutura lógica de organização. É essa função que nos permite encontrar e manipular facilmente nossos documentos, imagens e programas, fundamental para a produtividade digital e organização das informações no computador.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695449"/>
            <a:ext cx="7429500" cy="670520"/>
          </a:xfrm>
          <a:prstGeom prst="rect">
            <a:avLst/>
          </a:prstGeom>
          <a:noFill/>
        </p:spPr>
        <p:txBody>
          <a:bodyPr wrap="square" lIns="0" tIns="0" rIns="0" bIns="0">
            <a:normAutofit/>
          </a:bodyPr>
          <a:lstStyle/>
          <a:p>
            <a:pPr algn="l">
              <a:lnSpc>
                <a:spcPct val="99000"/>
              </a:lnSpc>
            </a:pPr>
            <a:r>
              <a:rPr sz="4800" b="1">
                <a:solidFill>
                  <a:srgbClr val="FFFFFF"/>
                </a:solidFill>
                <a:latin typeface="Quicksand Bold"/>
              </a:rPr>
              <a:t>Windows: Proprietário</a:t>
            </a:r>
          </a:p>
        </p:txBody>
      </p:sp>
      <p:sp>
        <p:nvSpPr>
          <p:cNvPr id="4" name="TextBox 3"/>
          <p:cNvSpPr txBox="1"/>
          <p:nvPr/>
        </p:nvSpPr>
        <p:spPr>
          <a:xfrm>
            <a:off x="9639300" y="1695449"/>
            <a:ext cx="7429500" cy="670520"/>
          </a:xfrm>
          <a:prstGeom prst="rect">
            <a:avLst/>
          </a:prstGeom>
          <a:noFill/>
        </p:spPr>
        <p:txBody>
          <a:bodyPr wrap="square" lIns="0" tIns="0" rIns="0" bIns="0">
            <a:normAutofit/>
          </a:bodyPr>
          <a:lstStyle/>
          <a:p>
            <a:pPr algn="l">
              <a:lnSpc>
                <a:spcPct val="99000"/>
              </a:lnSpc>
            </a:pPr>
            <a:r>
              <a:rPr sz="4800" b="1">
                <a:solidFill>
                  <a:srgbClr val="FFFFFF"/>
                </a:solidFill>
                <a:latin typeface="Quicksand Bold"/>
              </a:rPr>
              <a:t>Linux: Código Aberto</a:t>
            </a:r>
          </a:p>
        </p:txBody>
      </p:sp>
      <p:sp>
        <p:nvSpPr>
          <p:cNvPr id="5" name="TextBox 4"/>
          <p:cNvSpPr txBox="1"/>
          <p:nvPr/>
        </p:nvSpPr>
        <p:spPr>
          <a:xfrm>
            <a:off x="1276350" y="2670770"/>
            <a:ext cx="7429500" cy="5399484"/>
          </a:xfrm>
          <a:prstGeom prst="rect">
            <a:avLst/>
          </a:prstGeom>
          <a:noFill/>
        </p:spPr>
        <p:txBody>
          <a:bodyPr wrap="square" lIns="0" tIns="0" rIns="0" bIns="0">
            <a:normAutofit/>
          </a:bodyPr>
          <a:lstStyle/>
          <a:p>
            <a:pPr algn="l">
              <a:lnSpc>
                <a:spcPct val="126000"/>
              </a:lnSpc>
            </a:pPr>
            <a:r>
              <a:rPr sz="2025">
                <a:solidFill>
                  <a:srgbClr val="FFFFFF"/>
                </a:solidFill>
                <a:latin typeface="Quicksand"/>
              </a:rPr>
              <a:t>O Windows, sendo um sistema operacional proprietário, utiliza uma filosofia de gerenciamento de arquivos que se baseia em letras de unidade (como C:, D:, E:) para identificar partições de disco rígido ou outros dispositivos de armazenamento. Cada letra representa uma unidade lógica separada, e o sistema de arquivos geralmente emprega o padrão NTFS (New Technology File System) ou, em versões mais antigas, FAT32 (File Allocation Table 32). Sua interface é altamente focada em ambientes gráficos intuitivos, com o </a:t>
            </a:r>
            <a:r>
              <a:rPr sz="2025" i="1">
                <a:solidFill>
                  <a:srgbClr val="FFFFFF"/>
                </a:solidFill>
                <a:latin typeface="Quicksand"/>
              </a:rPr>
              <a:t>Windows Explorer</a:t>
            </a:r>
            <a:r>
              <a:rPr sz="2025">
                <a:solidFill>
                  <a:srgbClr val="FFFFFF"/>
                </a:solidFill>
                <a:latin typeface="Quicksand"/>
              </a:rPr>
              <a:t> como a principal ferramenta para navegar e manipular arquivos e pastas. Essa abordagem visa proporcionar </a:t>
            </a:r>
            <a:r>
              <a:rPr sz="2025" b="1">
                <a:solidFill>
                  <a:srgbClr val="FFFFFF"/>
                </a:solidFill>
                <a:latin typeface="Quicksand Bold"/>
              </a:rPr>
              <a:t>facilidade de uso</a:t>
            </a:r>
            <a:r>
              <a:rPr sz="2025">
                <a:solidFill>
                  <a:srgbClr val="FFFFFF"/>
                </a:solidFill>
                <a:latin typeface="Quicksand"/>
              </a:rPr>
              <a:t> para o usuário médio, tornando-o dominante nos mercados corporativo e de consumo geral. A navegação visual e a organização por unidades são características centrais, onde a simplicidade é valorizada.</a:t>
            </a:r>
          </a:p>
        </p:txBody>
      </p:sp>
      <p:sp>
        <p:nvSpPr>
          <p:cNvPr id="6" name="TextBox 5"/>
          <p:cNvSpPr txBox="1"/>
          <p:nvPr/>
        </p:nvSpPr>
        <p:spPr>
          <a:xfrm>
            <a:off x="9639300" y="2670770"/>
            <a:ext cx="7429500" cy="5759450"/>
          </a:xfrm>
          <a:prstGeom prst="rect">
            <a:avLst/>
          </a:prstGeom>
          <a:noFill/>
        </p:spPr>
        <p:txBody>
          <a:bodyPr wrap="square" lIns="0" tIns="0" rIns="0" bIns="0">
            <a:normAutofit/>
          </a:bodyPr>
          <a:lstStyle/>
          <a:p>
            <a:pPr algn="l">
              <a:lnSpc>
                <a:spcPct val="126000"/>
              </a:lnSpc>
            </a:pPr>
            <a:r>
              <a:rPr sz="2025">
                <a:solidFill>
                  <a:srgbClr val="FFFFFF"/>
                </a:solidFill>
                <a:latin typeface="Quicksand"/>
              </a:rPr>
              <a:t>Em contraste, o Linux, um sistema operacional de código aberto, adota uma filosofia de gerenciamento de arquivos onde </a:t>
            </a:r>
            <a:r>
              <a:rPr sz="2025" b="1">
                <a:solidFill>
                  <a:srgbClr val="FFFFFF"/>
                </a:solidFill>
                <a:latin typeface="Quicksand Bold"/>
              </a:rPr>
              <a:t>tudo é tratado como um arquivo</a:t>
            </a:r>
            <a:r>
              <a:rPr sz="2025">
                <a:solidFill>
                  <a:srgbClr val="FFFFFF"/>
                </a:solidFill>
                <a:latin typeface="Quicksand"/>
              </a:rPr>
              <a:t>, incluindo dispositivos de hardware e processos. Ele organiza seu sistema de arquivos em uma única árvore hierárquica que começa na </a:t>
            </a:r>
            <a:r>
              <a:rPr sz="2025" i="1">
                <a:solidFill>
                  <a:srgbClr val="FFFFFF"/>
                </a:solidFill>
                <a:latin typeface="Quicksand"/>
              </a:rPr>
              <a:t>raiz</a:t>
            </a:r>
            <a:r>
              <a:rPr sz="2025">
                <a:solidFill>
                  <a:srgbClr val="FFFFFF"/>
                </a:solidFill>
                <a:latin typeface="Quicksand"/>
              </a:rPr>
              <a:t> ('/'). Não há letras de unidade; em vez disso, todas as partições e dispositivos são </a:t>
            </a:r>
            <a:r>
              <a:rPr sz="2025" i="1">
                <a:solidFill>
                  <a:srgbClr val="FFFFFF"/>
                </a:solidFill>
                <a:latin typeface="Quicksand"/>
              </a:rPr>
              <a:t>montados</a:t>
            </a:r>
            <a:r>
              <a:rPr sz="2025">
                <a:solidFill>
                  <a:srgbClr val="FFFFFF"/>
                </a:solidFill>
                <a:latin typeface="Quicksand"/>
              </a:rPr>
              <a:t> (anexados) a diretórios específicos dentro dessa estrutura de árvore unificada. O sistema de arquivos é </a:t>
            </a:r>
            <a:r>
              <a:rPr sz="2025" b="1">
                <a:solidFill>
                  <a:srgbClr val="FFFFFF"/>
                </a:solidFill>
                <a:latin typeface="Quicksand Bold"/>
              </a:rPr>
              <a:t>case-sensitive</a:t>
            </a:r>
            <a:r>
              <a:rPr sz="2025">
                <a:solidFill>
                  <a:srgbClr val="FFFFFF"/>
                </a:solidFill>
                <a:latin typeface="Quicksand"/>
              </a:rPr>
              <a:t>, o que significa que 'Arquivo.txt' e 'arquivo.txt' são considerados arquivos diferentes. Sua flexibilidade e segurança o tornam amplamente utilizado em servidores, ambientes de nuvem e por desenvolvedores, que frequentemente utilizam a </a:t>
            </a:r>
            <a:r>
              <a:rPr sz="2025" b="1">
                <a:solidFill>
                  <a:srgbClr val="FFFFFF"/>
                </a:solidFill>
                <a:latin typeface="Quicksand Bold"/>
              </a:rPr>
              <a:t>linha de comando</a:t>
            </a:r>
            <a:r>
              <a:rPr sz="2025">
                <a:solidFill>
                  <a:srgbClr val="FFFFFF"/>
                </a:solidFill>
                <a:latin typeface="Quicksand"/>
              </a:rPr>
              <a:t> para um controle mais granular e scripts de automação. Essa abordagem oferece um poder e uma capacidade de personalização incomparáveis.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6394b613-c9b3-48e1-8d43-730db2af61a9.png"/>
          <p:cNvPicPr>
            <a:picLocks noChangeAspect="1"/>
          </p:cNvPicPr>
          <p:nvPr/>
        </p:nvPicPr>
        <p:blipFill>
          <a:blip r:embed="rId2"/>
          <a:stretch>
            <a:fillRect/>
          </a:stretch>
        </p:blipFill>
        <p:spPr>
          <a:xfrm>
            <a:off x="1276350" y="2706985"/>
            <a:ext cx="5248275" cy="914400"/>
          </a:xfrm>
          <a:prstGeom prst="rect">
            <a:avLst/>
          </a:prstGeom>
        </p:spPr>
      </p:pic>
      <p:pic>
        <p:nvPicPr>
          <p:cNvPr id="3" name="Picture 2" descr="6394b613-c9b3-48e1-8d43-730db2af61a9.png"/>
          <p:cNvPicPr>
            <a:picLocks noChangeAspect="1"/>
          </p:cNvPicPr>
          <p:nvPr/>
        </p:nvPicPr>
        <p:blipFill>
          <a:blip r:embed="rId2"/>
          <a:stretch>
            <a:fillRect/>
          </a:stretch>
        </p:blipFill>
        <p:spPr>
          <a:xfrm>
            <a:off x="6521449" y="2706985"/>
            <a:ext cx="5248275" cy="914400"/>
          </a:xfrm>
          <a:prstGeom prst="rect">
            <a:avLst/>
          </a:prstGeom>
        </p:spPr>
      </p:pic>
      <p:pic>
        <p:nvPicPr>
          <p:cNvPr id="4" name="Picture 3" descr="6394b613-c9b3-48e1-8d43-730db2af61a9.png"/>
          <p:cNvPicPr>
            <a:picLocks noChangeAspect="1"/>
          </p:cNvPicPr>
          <p:nvPr/>
        </p:nvPicPr>
        <p:blipFill>
          <a:blip r:embed="rId2"/>
          <a:stretch>
            <a:fillRect/>
          </a:stretch>
        </p:blipFill>
        <p:spPr>
          <a:xfrm>
            <a:off x="11766549" y="2706985"/>
            <a:ext cx="5248275" cy="914400"/>
          </a:xfrm>
          <a:prstGeom prst="rect">
            <a:avLst/>
          </a:prstGeom>
        </p:spPr>
      </p:pic>
      <p:sp>
        <p:nvSpPr>
          <p:cNvPr id="6" name="TextBox 5"/>
          <p:cNvSpPr txBox="1"/>
          <p:nvPr/>
        </p:nvSpPr>
        <p:spPr>
          <a:xfrm>
            <a:off x="1276350" y="1276350"/>
            <a:ext cx="15735299" cy="859135"/>
          </a:xfrm>
          <a:prstGeom prst="rect">
            <a:avLst/>
          </a:prstGeom>
          <a:noFill/>
        </p:spPr>
        <p:txBody>
          <a:bodyPr wrap="square" lIns="0" tIns="0" rIns="0" bIns="0">
            <a:normAutofit/>
          </a:bodyPr>
          <a:lstStyle/>
          <a:p>
            <a:pPr algn="ctr">
              <a:lnSpc>
                <a:spcPct val="99000"/>
              </a:lnSpc>
            </a:pPr>
            <a:r>
              <a:rPr sz="6150" b="1">
                <a:solidFill>
                  <a:srgbClr val="FFFFFF"/>
                </a:solidFill>
                <a:latin typeface="Quicksand Bold"/>
              </a:rPr>
              <a:t>Hierarquia e Organização de Arquivos</a:t>
            </a:r>
          </a:p>
        </p:txBody>
      </p:sp>
      <p:sp>
        <p:nvSpPr>
          <p:cNvPr id="7" name="TextBox 6"/>
          <p:cNvSpPr txBox="1"/>
          <p:nvPr/>
        </p:nvSpPr>
        <p:spPr>
          <a:xfrm>
            <a:off x="3613149" y="2973685"/>
            <a:ext cx="571500" cy="380999"/>
          </a:xfrm>
          <a:prstGeom prst="rect">
            <a:avLst/>
          </a:prstGeom>
          <a:noFill/>
        </p:spPr>
        <p:txBody>
          <a:bodyPr wrap="square" lIns="0" tIns="0" rIns="0" bIns="0">
            <a:normAutofit/>
          </a:bodyPr>
          <a:lstStyle/>
          <a:p>
            <a:pPr algn="ctr">
              <a:lnSpc>
                <a:spcPct val="90000"/>
              </a:lnSpc>
            </a:pPr>
            <a:r>
              <a:rPr sz="3000" b="1">
                <a:solidFill>
                  <a:srgbClr val="FFFFFF"/>
                </a:solidFill>
                <a:latin typeface="Quicksand Bold"/>
              </a:rPr>
              <a:t>1</a:t>
            </a:r>
          </a:p>
        </p:txBody>
      </p:sp>
      <p:sp>
        <p:nvSpPr>
          <p:cNvPr id="8" name="TextBox 7"/>
          <p:cNvSpPr txBox="1"/>
          <p:nvPr/>
        </p:nvSpPr>
        <p:spPr>
          <a:xfrm>
            <a:off x="8858250" y="2973685"/>
            <a:ext cx="571500" cy="380999"/>
          </a:xfrm>
          <a:prstGeom prst="rect">
            <a:avLst/>
          </a:prstGeom>
          <a:noFill/>
        </p:spPr>
        <p:txBody>
          <a:bodyPr wrap="square" lIns="0" tIns="0" rIns="0" bIns="0">
            <a:normAutofit/>
          </a:bodyPr>
          <a:lstStyle/>
          <a:p>
            <a:pPr algn="ctr">
              <a:lnSpc>
                <a:spcPct val="90000"/>
              </a:lnSpc>
            </a:pPr>
            <a:r>
              <a:rPr sz="3000" b="1">
                <a:solidFill>
                  <a:srgbClr val="FFFFFF"/>
                </a:solidFill>
                <a:latin typeface="Quicksand Bold"/>
              </a:rPr>
              <a:t>2</a:t>
            </a:r>
          </a:p>
        </p:txBody>
      </p:sp>
      <p:sp>
        <p:nvSpPr>
          <p:cNvPr id="9" name="TextBox 8"/>
          <p:cNvSpPr txBox="1"/>
          <p:nvPr/>
        </p:nvSpPr>
        <p:spPr>
          <a:xfrm>
            <a:off x="14103349" y="2973685"/>
            <a:ext cx="571500" cy="380999"/>
          </a:xfrm>
          <a:prstGeom prst="rect">
            <a:avLst/>
          </a:prstGeom>
          <a:noFill/>
        </p:spPr>
        <p:txBody>
          <a:bodyPr wrap="square" lIns="0" tIns="0" rIns="0" bIns="0">
            <a:normAutofit/>
          </a:bodyPr>
          <a:lstStyle/>
          <a:p>
            <a:pPr algn="ctr">
              <a:lnSpc>
                <a:spcPct val="90000"/>
              </a:lnSpc>
            </a:pPr>
            <a:r>
              <a:rPr sz="3000" b="1">
                <a:solidFill>
                  <a:srgbClr val="FFFFFF"/>
                </a:solidFill>
                <a:latin typeface="Quicksand Bold"/>
              </a:rPr>
              <a:t>3</a:t>
            </a:r>
          </a:p>
        </p:txBody>
      </p:sp>
      <p:sp>
        <p:nvSpPr>
          <p:cNvPr id="10" name="TextBox 9"/>
          <p:cNvSpPr txBox="1"/>
          <p:nvPr/>
        </p:nvSpPr>
        <p:spPr>
          <a:xfrm>
            <a:off x="1504950" y="4002385"/>
            <a:ext cx="4787900" cy="303807"/>
          </a:xfrm>
          <a:prstGeom prst="rect">
            <a:avLst/>
          </a:prstGeom>
          <a:noFill/>
        </p:spPr>
        <p:txBody>
          <a:bodyPr wrap="square" lIns="0" tIns="0" rIns="0" bIns="0">
            <a:normAutofit/>
          </a:bodyPr>
          <a:lstStyle/>
          <a:p>
            <a:pPr algn="l">
              <a:lnSpc>
                <a:spcPct val="99000"/>
              </a:lnSpc>
            </a:pPr>
            <a:r>
              <a:rPr sz="2175" b="1">
                <a:solidFill>
                  <a:srgbClr val="FFFFFF"/>
                </a:solidFill>
                <a:latin typeface="Quicksand Bold"/>
              </a:rPr>
              <a:t>Definir Diretório Raiz</a:t>
            </a:r>
          </a:p>
        </p:txBody>
      </p:sp>
      <p:sp>
        <p:nvSpPr>
          <p:cNvPr id="11" name="TextBox 10"/>
          <p:cNvSpPr txBox="1"/>
          <p:nvPr/>
        </p:nvSpPr>
        <p:spPr>
          <a:xfrm>
            <a:off x="6750049" y="4002385"/>
            <a:ext cx="4787900" cy="303807"/>
          </a:xfrm>
          <a:prstGeom prst="rect">
            <a:avLst/>
          </a:prstGeom>
          <a:noFill/>
        </p:spPr>
        <p:txBody>
          <a:bodyPr wrap="square" lIns="0" tIns="0" rIns="0" bIns="0">
            <a:normAutofit/>
          </a:bodyPr>
          <a:lstStyle/>
          <a:p>
            <a:pPr algn="l">
              <a:lnSpc>
                <a:spcPct val="99000"/>
              </a:lnSpc>
            </a:pPr>
            <a:r>
              <a:rPr sz="2175" b="1">
                <a:solidFill>
                  <a:srgbClr val="FFFFFF"/>
                </a:solidFill>
                <a:latin typeface="Quicksand Bold"/>
              </a:rPr>
              <a:t>Categorizar por Contexto</a:t>
            </a:r>
          </a:p>
        </p:txBody>
      </p:sp>
      <p:sp>
        <p:nvSpPr>
          <p:cNvPr id="12" name="TextBox 11"/>
          <p:cNvSpPr txBox="1"/>
          <p:nvPr/>
        </p:nvSpPr>
        <p:spPr>
          <a:xfrm>
            <a:off x="11995149" y="4002385"/>
            <a:ext cx="4787900" cy="607615"/>
          </a:xfrm>
          <a:prstGeom prst="rect">
            <a:avLst/>
          </a:prstGeom>
          <a:noFill/>
        </p:spPr>
        <p:txBody>
          <a:bodyPr wrap="square" lIns="0" tIns="0" rIns="0" bIns="0">
            <a:normAutofit/>
          </a:bodyPr>
          <a:lstStyle/>
          <a:p>
            <a:pPr algn="l">
              <a:lnSpc>
                <a:spcPct val="99000"/>
              </a:lnSpc>
            </a:pPr>
            <a:r>
              <a:rPr sz="2175" b="1">
                <a:solidFill>
                  <a:srgbClr val="FFFFFF"/>
                </a:solidFill>
                <a:latin typeface="Quicksand Bold"/>
              </a:rPr>
              <a:t>Criar Subpastas Temáticas/Temporais</a:t>
            </a:r>
          </a:p>
        </p:txBody>
      </p:sp>
      <p:sp>
        <p:nvSpPr>
          <p:cNvPr id="13" name="TextBox 12"/>
          <p:cNvSpPr txBox="1"/>
          <p:nvPr/>
        </p:nvSpPr>
        <p:spPr>
          <a:xfrm>
            <a:off x="1504950" y="4496693"/>
            <a:ext cx="4787900" cy="2533054"/>
          </a:xfrm>
          <a:prstGeom prst="rect">
            <a:avLst/>
          </a:prstGeom>
          <a:noFill/>
        </p:spPr>
        <p:txBody>
          <a:bodyPr wrap="square" lIns="0" tIns="0" rIns="0" bIns="0">
            <a:normAutofit/>
          </a:bodyPr>
          <a:lstStyle/>
          <a:p>
            <a:pPr algn="l">
              <a:lnSpc>
                <a:spcPct val="126000"/>
              </a:lnSpc>
            </a:pPr>
            <a:r>
              <a:rPr sz="1425">
                <a:solidFill>
                  <a:srgbClr val="FFFFFF"/>
                </a:solidFill>
                <a:latin typeface="Quicksand"/>
              </a:rPr>
              <a:t>O diretório raiz é o ponto de partida fundamental de qualquer estrutura de arquivos, funcionando como a base de onde todas as outras pastas e arquivos se ramificam. No Windows, o diretório raiz é tipicamente a letra da unidade, como 'C:\', enquanto em sistemas baseados em Unix (como Linux e macOS), é a barra, '/', que representa o diretório principal do sistema de arquivos. Entender sua localização é crucial para iniciar qualquer organização, pois ele serve como a âncora para todos os seus documentos.</a:t>
            </a:r>
          </a:p>
        </p:txBody>
      </p:sp>
      <p:sp>
        <p:nvSpPr>
          <p:cNvPr id="14" name="TextBox 13"/>
          <p:cNvSpPr txBox="1"/>
          <p:nvPr/>
        </p:nvSpPr>
        <p:spPr>
          <a:xfrm>
            <a:off x="6750049" y="4496693"/>
            <a:ext cx="4787900" cy="2279749"/>
          </a:xfrm>
          <a:prstGeom prst="rect">
            <a:avLst/>
          </a:prstGeom>
          <a:noFill/>
        </p:spPr>
        <p:txBody>
          <a:bodyPr wrap="square" lIns="0" tIns="0" rIns="0" bIns="0">
            <a:normAutofit/>
          </a:bodyPr>
          <a:lstStyle/>
          <a:p>
            <a:pPr algn="l">
              <a:lnSpc>
                <a:spcPct val="126000"/>
              </a:lnSpc>
            </a:pPr>
            <a:r>
              <a:rPr sz="1425">
                <a:solidFill>
                  <a:srgbClr val="FFFFFF"/>
                </a:solidFill>
                <a:latin typeface="Quicksand"/>
              </a:rPr>
              <a:t>Após estabelecer o diretório raiz, o próximo passo é criar pastas de alto nível que representem categorias amplas de sua vida digital. Isso significa agrupar arquivos por seu contexto principal, como 'Escola', 'Projetos_Pessoais', 'Trabalho' ou 'Finanças'. Essa organização macro permite uma visão geral imediata do conteúdo e direciona rapidamente para a área correta onde um arquivo específico pode ser encontrado, evitando a confusão de ter tudo em uma única pasta.</a:t>
            </a:r>
          </a:p>
        </p:txBody>
      </p:sp>
      <p:sp>
        <p:nvSpPr>
          <p:cNvPr id="15" name="TextBox 14"/>
          <p:cNvSpPr txBox="1"/>
          <p:nvPr/>
        </p:nvSpPr>
        <p:spPr>
          <a:xfrm>
            <a:off x="11995149" y="4800500"/>
            <a:ext cx="4787900" cy="2533054"/>
          </a:xfrm>
          <a:prstGeom prst="rect">
            <a:avLst/>
          </a:prstGeom>
          <a:noFill/>
        </p:spPr>
        <p:txBody>
          <a:bodyPr wrap="square" lIns="0" tIns="0" rIns="0" bIns="0">
            <a:normAutofit/>
          </a:bodyPr>
          <a:lstStyle/>
          <a:p>
            <a:pPr algn="l">
              <a:lnSpc>
                <a:spcPct val="126000"/>
              </a:lnSpc>
            </a:pPr>
            <a:r>
              <a:rPr sz="1425">
                <a:solidFill>
                  <a:srgbClr val="FFFFFF"/>
                </a:solidFill>
                <a:latin typeface="Quicksand"/>
              </a:rPr>
              <a:t>Dentro das categorias de alto nível, refine a organização criando subpastas que podem ser temáticas (por exemplo, por disciplina como 'Matemática', 'Português') ou temporais (por exemplo, por ano '2024', '2023'). Esta granularidade é essencial para evitar o acúmulo de arquivos em uma única pasta, facilitando a localização de documentos específicos. Por exemplo, dentro da pasta 'Escola', ter uma pasta '2024' e, dentro dela, 'Matemática' torna a recuperação de trabalhos muito mais eficiente.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14bcb561-189d-4f11-b994-c69e00e096d7.png"/>
          <p:cNvPicPr>
            <a:picLocks noChangeAspect="1"/>
          </p:cNvPicPr>
          <p:nvPr/>
        </p:nvPicPr>
        <p:blipFill>
          <a:blip r:embed="rId2"/>
          <a:stretch>
            <a:fillRect/>
          </a:stretch>
        </p:blipFill>
        <p:spPr>
          <a:xfrm>
            <a:off x="1276350" y="2706985"/>
            <a:ext cx="7867649" cy="914400"/>
          </a:xfrm>
          <a:prstGeom prst="rect">
            <a:avLst/>
          </a:prstGeom>
        </p:spPr>
      </p:pic>
      <p:pic>
        <p:nvPicPr>
          <p:cNvPr id="3" name="Picture 2" descr="14bcb561-189d-4f11-b994-c69e00e096d7.png"/>
          <p:cNvPicPr>
            <a:picLocks noChangeAspect="1"/>
          </p:cNvPicPr>
          <p:nvPr/>
        </p:nvPicPr>
        <p:blipFill>
          <a:blip r:embed="rId2"/>
          <a:stretch>
            <a:fillRect/>
          </a:stretch>
        </p:blipFill>
        <p:spPr>
          <a:xfrm>
            <a:off x="9144000" y="2706985"/>
            <a:ext cx="7867649" cy="914400"/>
          </a:xfrm>
          <a:prstGeom prst="rect">
            <a:avLst/>
          </a:prstGeom>
        </p:spPr>
      </p:pic>
      <p:sp>
        <p:nvSpPr>
          <p:cNvPr id="5" name="TextBox 4"/>
          <p:cNvSpPr txBox="1"/>
          <p:nvPr/>
        </p:nvSpPr>
        <p:spPr>
          <a:xfrm>
            <a:off x="1276350" y="1276350"/>
            <a:ext cx="15735299" cy="859135"/>
          </a:xfrm>
          <a:prstGeom prst="rect">
            <a:avLst/>
          </a:prstGeom>
          <a:noFill/>
        </p:spPr>
        <p:txBody>
          <a:bodyPr wrap="square" lIns="0" tIns="0" rIns="0" bIns="0">
            <a:normAutofit/>
          </a:bodyPr>
          <a:lstStyle/>
          <a:p>
            <a:pPr algn="ctr">
              <a:lnSpc>
                <a:spcPct val="99000"/>
              </a:lnSpc>
            </a:pPr>
            <a:r>
              <a:rPr sz="6150" b="1">
                <a:solidFill>
                  <a:srgbClr val="FFFFFF"/>
                </a:solidFill>
                <a:latin typeface="Quicksand Bold"/>
              </a:rPr>
              <a:t>Hierarquia e Organização de Arquivos</a:t>
            </a:r>
          </a:p>
        </p:txBody>
      </p:sp>
      <p:sp>
        <p:nvSpPr>
          <p:cNvPr id="6" name="TextBox 5"/>
          <p:cNvSpPr txBox="1"/>
          <p:nvPr/>
        </p:nvSpPr>
        <p:spPr>
          <a:xfrm>
            <a:off x="4924424" y="2973685"/>
            <a:ext cx="571500" cy="380999"/>
          </a:xfrm>
          <a:prstGeom prst="rect">
            <a:avLst/>
          </a:prstGeom>
          <a:noFill/>
        </p:spPr>
        <p:txBody>
          <a:bodyPr wrap="square" lIns="0" tIns="0" rIns="0" bIns="0">
            <a:normAutofit/>
          </a:bodyPr>
          <a:lstStyle/>
          <a:p>
            <a:pPr algn="ctr">
              <a:lnSpc>
                <a:spcPct val="90000"/>
              </a:lnSpc>
            </a:pPr>
            <a:r>
              <a:rPr sz="3000" b="1">
                <a:solidFill>
                  <a:srgbClr val="FFFFFF"/>
                </a:solidFill>
                <a:latin typeface="Quicksand Bold"/>
              </a:rPr>
              <a:t>4</a:t>
            </a:r>
          </a:p>
        </p:txBody>
      </p:sp>
      <p:sp>
        <p:nvSpPr>
          <p:cNvPr id="7" name="TextBox 6"/>
          <p:cNvSpPr txBox="1"/>
          <p:nvPr/>
        </p:nvSpPr>
        <p:spPr>
          <a:xfrm>
            <a:off x="12792074" y="2973685"/>
            <a:ext cx="571500" cy="380999"/>
          </a:xfrm>
          <a:prstGeom prst="rect">
            <a:avLst/>
          </a:prstGeom>
          <a:noFill/>
        </p:spPr>
        <p:txBody>
          <a:bodyPr wrap="square" lIns="0" tIns="0" rIns="0" bIns="0">
            <a:normAutofit/>
          </a:bodyPr>
          <a:lstStyle/>
          <a:p>
            <a:pPr algn="ctr">
              <a:lnSpc>
                <a:spcPct val="90000"/>
              </a:lnSpc>
            </a:pPr>
            <a:r>
              <a:rPr sz="3000" b="1">
                <a:solidFill>
                  <a:srgbClr val="FFFFFF"/>
                </a:solidFill>
                <a:latin typeface="Quicksand Bold"/>
              </a:rPr>
              <a:t>5</a:t>
            </a:r>
          </a:p>
        </p:txBody>
      </p:sp>
      <p:sp>
        <p:nvSpPr>
          <p:cNvPr id="8" name="TextBox 7"/>
          <p:cNvSpPr txBox="1"/>
          <p:nvPr/>
        </p:nvSpPr>
        <p:spPr>
          <a:xfrm>
            <a:off x="1504950" y="4002385"/>
            <a:ext cx="7410449" cy="303807"/>
          </a:xfrm>
          <a:prstGeom prst="rect">
            <a:avLst/>
          </a:prstGeom>
          <a:noFill/>
        </p:spPr>
        <p:txBody>
          <a:bodyPr wrap="square" lIns="0" tIns="0" rIns="0" bIns="0">
            <a:normAutofit/>
          </a:bodyPr>
          <a:lstStyle/>
          <a:p>
            <a:pPr algn="l">
              <a:lnSpc>
                <a:spcPct val="99000"/>
              </a:lnSpc>
            </a:pPr>
            <a:r>
              <a:rPr sz="2175" b="1">
                <a:solidFill>
                  <a:srgbClr val="FFFFFF"/>
                </a:solidFill>
                <a:latin typeface="Quicksand Bold"/>
              </a:rPr>
              <a:t>Padronizar Nomes de Arquivos</a:t>
            </a:r>
          </a:p>
        </p:txBody>
      </p:sp>
      <p:sp>
        <p:nvSpPr>
          <p:cNvPr id="9" name="TextBox 8"/>
          <p:cNvSpPr txBox="1"/>
          <p:nvPr/>
        </p:nvSpPr>
        <p:spPr>
          <a:xfrm>
            <a:off x="9372600" y="4002385"/>
            <a:ext cx="7410449" cy="303807"/>
          </a:xfrm>
          <a:prstGeom prst="rect">
            <a:avLst/>
          </a:prstGeom>
          <a:noFill/>
        </p:spPr>
        <p:txBody>
          <a:bodyPr wrap="square" lIns="0" tIns="0" rIns="0" bIns="0">
            <a:normAutofit/>
          </a:bodyPr>
          <a:lstStyle/>
          <a:p>
            <a:pPr algn="l">
              <a:lnSpc>
                <a:spcPct val="99000"/>
              </a:lnSpc>
            </a:pPr>
            <a:r>
              <a:rPr sz="2175" b="1">
                <a:solidFill>
                  <a:srgbClr val="FFFFFF"/>
                </a:solidFill>
                <a:latin typeface="Quicksand Bold"/>
              </a:rPr>
              <a:t>Compreender o Caminho do Arquivo (Path)</a:t>
            </a:r>
          </a:p>
        </p:txBody>
      </p:sp>
      <p:sp>
        <p:nvSpPr>
          <p:cNvPr id="10" name="TextBox 9"/>
          <p:cNvSpPr txBox="1"/>
          <p:nvPr/>
        </p:nvSpPr>
        <p:spPr>
          <a:xfrm>
            <a:off x="1504950" y="4496693"/>
            <a:ext cx="7410449" cy="1773138"/>
          </a:xfrm>
          <a:prstGeom prst="rect">
            <a:avLst/>
          </a:prstGeom>
          <a:noFill/>
        </p:spPr>
        <p:txBody>
          <a:bodyPr wrap="square" lIns="0" tIns="0" rIns="0" bIns="0">
            <a:normAutofit/>
          </a:bodyPr>
          <a:lstStyle/>
          <a:p>
            <a:pPr algn="l">
              <a:lnSpc>
                <a:spcPct val="126000"/>
              </a:lnSpc>
            </a:pPr>
            <a:r>
              <a:rPr sz="1425">
                <a:solidFill>
                  <a:srgbClr val="FFFFFF"/>
                </a:solidFill>
                <a:latin typeface="Quicksand"/>
              </a:rPr>
              <a:t>A padronização dos nomes de arquivos é uma prática profissional que elimina a ambiguidade e agiliza a busca. Evite nomes genéricos como 'trabalho1.doc' ou 'final.pdf'. Adote um formato consistente que inclua informações relevantes como data, nome do projeto ou documento e versão. Por exemplo, 'AAAAMMDD_NomeDoProjeto_vXX', onde 'AAAA' é o ano, 'MM' o mês, 'DD' o dia, e 'vXX' a versão, como '20240315_RelatorioFinal_v02.docx'. Isso ajuda a manter a ordem cronológica e a rastrear as revisões.</a:t>
            </a:r>
          </a:p>
        </p:txBody>
      </p:sp>
      <p:sp>
        <p:nvSpPr>
          <p:cNvPr id="11" name="TextBox 10"/>
          <p:cNvSpPr txBox="1"/>
          <p:nvPr/>
        </p:nvSpPr>
        <p:spPr>
          <a:xfrm>
            <a:off x="9372600" y="4496693"/>
            <a:ext cx="7410449" cy="2026443"/>
          </a:xfrm>
          <a:prstGeom prst="rect">
            <a:avLst/>
          </a:prstGeom>
          <a:noFill/>
        </p:spPr>
        <p:txBody>
          <a:bodyPr wrap="square" lIns="0" tIns="0" rIns="0" bIns="0">
            <a:normAutofit/>
          </a:bodyPr>
          <a:lstStyle/>
          <a:p>
            <a:pPr algn="l">
              <a:lnSpc>
                <a:spcPct val="126000"/>
              </a:lnSpc>
            </a:pPr>
            <a:r>
              <a:rPr sz="1425">
                <a:solidFill>
                  <a:srgbClr val="FFFFFF"/>
                </a:solidFill>
                <a:latin typeface="Quicksand"/>
              </a:rPr>
              <a:t>Cada arquivo em um sistema operacional possui um 'caminho' (path) único que descreve sua localização exata a partir do diretório raiz. Por exemplo, 'C:\Documentos\Escola\Redacao.docx' ou '/home/usuario/Projetos/Desenvolvimento/index.html'. Compreender o conceito de caminho é fundamental para a navegação eficiente e para referenciar arquivos em programação ou scripts. Ele representa o 'endereço' completo do arquivo e é o que o sistema utiliza para acessá-lo diretamente, garantindo que você possa sempre encontrar e manipular seus dados com precisão.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371600" y="4423171"/>
          <a:ext cx="15544797" cy="3787140"/>
        </p:xfrm>
        <a:graphic>
          <a:graphicData uri="http://schemas.openxmlformats.org/drawingml/2006/table">
            <a:tbl>
              <a:tblPr firstRow="1" bandRow="1">
                <a:tableStyleId>{5C22544A-7EE6-4342-B048-85BDC9FD1C3A}</a:tableStyleId>
              </a:tblPr>
              <a:tblGrid>
                <a:gridCol w="5181599">
                  <a:extLst>
                    <a:ext uri="{9D8B030D-6E8A-4147-A177-3AD203B41FA5}">
                      <a16:colId xmlns:a16="http://schemas.microsoft.com/office/drawing/2014/main" val="20000"/>
                    </a:ext>
                  </a:extLst>
                </a:gridCol>
                <a:gridCol w="5181599">
                  <a:extLst>
                    <a:ext uri="{9D8B030D-6E8A-4147-A177-3AD203B41FA5}">
                      <a16:colId xmlns:a16="http://schemas.microsoft.com/office/drawing/2014/main" val="20001"/>
                    </a:ext>
                  </a:extLst>
                </a:gridCol>
                <a:gridCol w="5181599">
                  <a:extLst>
                    <a:ext uri="{9D8B030D-6E8A-4147-A177-3AD203B41FA5}">
                      <a16:colId xmlns:a16="http://schemas.microsoft.com/office/drawing/2014/main" val="20002"/>
                    </a:ext>
                  </a:extLst>
                </a:gridCol>
              </a:tblGrid>
              <a:tr h="541020">
                <a:tc>
                  <a:txBody>
                    <a:bodyPr/>
                    <a:lstStyle/>
                    <a:p>
                      <a:pPr algn="ctr"/>
                      <a:r>
                        <a:rPr sz="2100" b="1">
                          <a:solidFill>
                            <a:srgbClr val="FFFFFF"/>
                          </a:solidFill>
                          <a:latin typeface="Quicksand Bold"/>
                        </a:rPr>
                        <a:t>Extensão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0063B"/>
                    </a:solidFill>
                  </a:tcPr>
                </a:tc>
                <a:tc>
                  <a:txBody>
                    <a:bodyPr/>
                    <a:lstStyle/>
                    <a:p>
                      <a:pPr algn="ctr"/>
                      <a:r>
                        <a:rPr sz="2100" b="1">
                          <a:solidFill>
                            <a:srgbClr val="FFFFFF"/>
                          </a:solidFill>
                          <a:latin typeface="Quicksand Bold"/>
                        </a:rPr>
                        <a:t>Conteúdo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0063B"/>
                    </a:solidFill>
                  </a:tcPr>
                </a:tc>
                <a:tc>
                  <a:txBody>
                    <a:bodyPr/>
                    <a:lstStyle/>
                    <a:p>
                      <a:pPr algn="ctr"/>
                      <a:r>
                        <a:rPr sz="2100" b="1">
                          <a:solidFill>
                            <a:srgbClr val="FFFFFF"/>
                          </a:solidFill>
                          <a:latin typeface="Quicksand Bold"/>
                        </a:rPr>
                        <a:t>Uso Comum</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0063B"/>
                    </a:solidFill>
                  </a:tcPr>
                </a:tc>
                <a:extLst>
                  <a:ext uri="{0D108BD9-81ED-4DB2-BD59-A6C34878D82A}">
                    <a16:rowId xmlns:a16="http://schemas.microsoft.com/office/drawing/2014/main" val="10000"/>
                  </a:ext>
                </a:extLst>
              </a:tr>
              <a:tr h="541020">
                <a:tc>
                  <a:txBody>
                    <a:bodyPr/>
                    <a:lstStyle/>
                    <a:p>
                      <a:pPr algn="l"/>
                      <a:r>
                        <a:rPr sz="1650">
                          <a:solidFill>
                            <a:srgbClr val="FFFFFF"/>
                          </a:solidFill>
                          <a:latin typeface="Quicksand"/>
                        </a:rPr>
                        <a:t>.docx / .odt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Documento de Texto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Trabalhos acadêmicos, relatórios.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1"/>
                  </a:ext>
                </a:extLst>
              </a:tr>
              <a:tr h="541020">
                <a:tc>
                  <a:txBody>
                    <a:bodyPr/>
                    <a:lstStyle/>
                    <a:p>
                      <a:pPr algn="l"/>
                      <a:r>
                        <a:rPr sz="1650">
                          <a:solidFill>
                            <a:srgbClr val="FFFFFF"/>
                          </a:solidFill>
                          <a:latin typeface="Quicksand"/>
                        </a:rPr>
                        <a:t>.xlsx / .ods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Planilha Eletrônica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Cálculos, orçamentos, análise de dados.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2"/>
                  </a:ext>
                </a:extLst>
              </a:tr>
              <a:tr h="541020">
                <a:tc>
                  <a:txBody>
                    <a:bodyPr/>
                    <a:lstStyle/>
                    <a:p>
                      <a:pPr algn="l"/>
                      <a:r>
                        <a:rPr sz="1650">
                          <a:solidFill>
                            <a:srgbClr val="FFFFFF"/>
                          </a:solidFill>
                          <a:latin typeface="Quicksand"/>
                        </a:rPr>
                        <a:t>.pptx / .odp</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Apresentação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Slides para palestras e aulas.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3"/>
                  </a:ext>
                </a:extLst>
              </a:tr>
              <a:tr h="541020">
                <a:tc>
                  <a:txBody>
                    <a:bodyPr/>
                    <a:lstStyle/>
                    <a:p>
                      <a:pPr algn="l"/>
                      <a:r>
                        <a:rPr sz="1650">
                          <a:solidFill>
                            <a:srgbClr val="FFFFFF"/>
                          </a:solidFill>
                          <a:latin typeface="Quicksand"/>
                        </a:rPr>
                        <a:t>.pdf</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Documento Portátil</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Distribuição de documentos finalizados.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4"/>
                  </a:ext>
                </a:extLst>
              </a:tr>
              <a:tr h="541020">
                <a:tc>
                  <a:txBody>
                    <a:bodyPr/>
                    <a:lstStyle/>
                    <a:p>
                      <a:pPr algn="l"/>
                      <a:r>
                        <a:rPr sz="1650">
                          <a:solidFill>
                            <a:srgbClr val="FFFFFF"/>
                          </a:solidFill>
                          <a:latin typeface="Quicksand"/>
                        </a:rPr>
                        <a:t>.zip / .rar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Arquivo Compactado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Agrupamento e redução de tamanho para envio.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5"/>
                  </a:ext>
                </a:extLst>
              </a:tr>
              <a:tr h="541020">
                <a:tc>
                  <a:txBody>
                    <a:bodyPr/>
                    <a:lstStyle/>
                    <a:p>
                      <a:pPr algn="l"/>
                      <a:r>
                        <a:rPr sz="1650">
                          <a:solidFill>
                            <a:srgbClr val="FFFFFF"/>
                          </a:solidFill>
                          <a:latin typeface="Quicksand"/>
                        </a:rPr>
                        <a:t>.csv</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Valores Separados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650">
                          <a:solidFill>
                            <a:srgbClr val="FFFFFF"/>
                          </a:solidFill>
                          <a:latin typeface="Quicksand"/>
                        </a:rPr>
                        <a:t>Intercâmbio de dados puros entre softwares.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6"/>
                  </a:ext>
                </a:extLst>
              </a:tr>
            </a:tbl>
          </a:graphicData>
        </a:graphic>
      </p:graphicFrame>
      <p:sp>
        <p:nvSpPr>
          <p:cNvPr id="4" name="TextBox 3"/>
          <p:cNvSpPr txBox="1"/>
          <p:nvPr/>
        </p:nvSpPr>
        <p:spPr>
          <a:xfrm>
            <a:off x="1371600" y="1695449"/>
            <a:ext cx="15544800" cy="838200"/>
          </a:xfrm>
          <a:prstGeom prst="rect">
            <a:avLst/>
          </a:prstGeom>
          <a:noFill/>
        </p:spPr>
        <p:txBody>
          <a:bodyPr wrap="square" lIns="0" tIns="0" rIns="0" bIns="0">
            <a:normAutofit/>
          </a:bodyPr>
          <a:lstStyle/>
          <a:p>
            <a:pPr algn="l">
              <a:lnSpc>
                <a:spcPct val="99000"/>
              </a:lnSpc>
            </a:pPr>
            <a:r>
              <a:rPr sz="6000" b="1">
                <a:solidFill>
                  <a:srgbClr val="FFFFFF"/>
                </a:solidFill>
                <a:latin typeface="Quicksand Bold"/>
              </a:rPr>
              <a:t>Extensões e Formatos</a:t>
            </a:r>
          </a:p>
        </p:txBody>
      </p:sp>
      <p:sp>
        <p:nvSpPr>
          <p:cNvPr id="5" name="TextBox 4"/>
          <p:cNvSpPr txBox="1"/>
          <p:nvPr/>
        </p:nvSpPr>
        <p:spPr>
          <a:xfrm>
            <a:off x="1371600" y="2838450"/>
            <a:ext cx="15544800" cy="1279921"/>
          </a:xfrm>
          <a:prstGeom prst="rect">
            <a:avLst/>
          </a:prstGeom>
          <a:noFill/>
        </p:spPr>
        <p:txBody>
          <a:bodyPr wrap="square" lIns="0" tIns="0" rIns="0" bIns="0">
            <a:normAutofit/>
          </a:bodyPr>
          <a:lstStyle/>
          <a:p>
            <a:pPr algn="l">
              <a:lnSpc>
                <a:spcPct val="126000"/>
              </a:lnSpc>
            </a:pPr>
            <a:r>
              <a:rPr sz="2400">
                <a:solidFill>
                  <a:srgbClr val="FFFFFF"/>
                </a:solidFill>
                <a:latin typeface="Quicksand"/>
              </a:rPr>
              <a:t>A extensão do arquivo indica ao Sistema Operacional (SO) qual programa deve ser usado para abrir um determinado arquivo, sendo vital conhecer as extensões para garantir a compatibilidade e o uso correto dos documentos.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0487b086-58a1-4c95-a586-0af3c6ff9099.png"/>
          <p:cNvPicPr>
            <a:picLocks noChangeAspect="1"/>
          </p:cNvPicPr>
          <p:nvPr/>
        </p:nvPicPr>
        <p:blipFill>
          <a:blip r:embed="rId2"/>
          <a:stretch>
            <a:fillRect/>
          </a:stretch>
        </p:blipFill>
        <p:spPr>
          <a:xfrm>
            <a:off x="1285875" y="1638299"/>
            <a:ext cx="700087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Arquitetura do sistema de gerenciamento de dados e metadados.</a:t>
            </a:r>
          </a:p>
        </p:txBody>
      </p:sp>
      <p:sp>
        <p:nvSpPr>
          <p:cNvPr id="5" name="TextBox 4"/>
          <p:cNvSpPr txBox="1"/>
          <p:nvPr/>
        </p:nvSpPr>
        <p:spPr>
          <a:xfrm>
            <a:off x="9639300" y="1790700"/>
            <a:ext cx="7362824" cy="1718270"/>
          </a:xfrm>
          <a:prstGeom prst="rect">
            <a:avLst/>
          </a:prstGeom>
          <a:noFill/>
        </p:spPr>
        <p:txBody>
          <a:bodyPr wrap="square" lIns="0" tIns="0" rIns="0" bIns="0">
            <a:normAutofit/>
          </a:bodyPr>
          <a:lstStyle/>
          <a:p>
            <a:pPr algn="l">
              <a:lnSpc>
                <a:spcPct val="99000"/>
              </a:lnSpc>
            </a:pPr>
            <a:r>
              <a:rPr sz="6150" b="1">
                <a:solidFill>
                  <a:srgbClr val="FFFFFF"/>
                </a:solidFill>
                <a:latin typeface="Quicksand Bold"/>
              </a:rPr>
              <a:t>O Poder dos Metadados</a:t>
            </a:r>
          </a:p>
        </p:txBody>
      </p:sp>
      <p:sp>
        <p:nvSpPr>
          <p:cNvPr id="6" name="TextBox 5"/>
          <p:cNvSpPr txBox="1"/>
          <p:nvPr/>
        </p:nvSpPr>
        <p:spPr>
          <a:xfrm>
            <a:off x="9639300" y="3813770"/>
            <a:ext cx="7362824" cy="4639865"/>
          </a:xfrm>
          <a:prstGeom prst="rect">
            <a:avLst/>
          </a:prstGeom>
          <a:noFill/>
        </p:spPr>
        <p:txBody>
          <a:bodyPr wrap="square" lIns="0" tIns="0" rIns="0" bIns="0">
            <a:normAutofit/>
          </a:bodyPr>
          <a:lstStyle/>
          <a:p>
            <a:pPr algn="l">
              <a:buChar char="•"/>
            </a:pPr>
            <a:r>
              <a:rPr sz="2175">
                <a:latin typeface="Quicksand"/>
              </a:rPr>
              <a:t>  </a:t>
            </a:r>
            <a:r>
              <a:rPr sz="2175" b="1">
                <a:solidFill>
                  <a:srgbClr val="FFFFFF"/>
                </a:solidFill>
                <a:latin typeface="Quicksand Bold"/>
              </a:rPr>
              <a:t>Dados sobre dados</a:t>
            </a:r>
            <a:r>
              <a:rPr sz="2175">
                <a:solidFill>
                  <a:srgbClr val="FFFFFF"/>
                </a:solidFill>
                <a:latin typeface="Quicksand"/>
              </a:rPr>
              <a:t>: Metadados são informações que descrevem outros dados, ou seja, o sistema armazena detalhes sobre os arquivos, mas que não estão visíveis no seu conteúdo principal, auxiliando na gestão.</a:t>
            </a:r>
          </a:p>
          <a:p>
            <a:pPr algn="l">
              <a:lnSpc>
                <a:spcPct val="126000"/>
              </a:lnSpc>
              <a:spcBef>
                <a:spcPts val="1359"/>
              </a:spcBef>
              <a:buChar char="•"/>
            </a:pPr>
            <a:r>
              <a:rPr sz="2175">
                <a:latin typeface="Quicksand"/>
              </a:rPr>
              <a:t>  </a:t>
            </a:r>
            <a:r>
              <a:rPr sz="2175" b="1">
                <a:solidFill>
                  <a:srgbClr val="FFFFFF"/>
                </a:solidFill>
                <a:latin typeface="Quicksand Bold"/>
              </a:rPr>
              <a:t>Rastreamento de Origem</a:t>
            </a:r>
            <a:r>
              <a:rPr sz="2175">
                <a:solidFill>
                  <a:srgbClr val="FFFFFF"/>
                </a:solidFill>
                <a:latin typeface="Quicksand"/>
              </a:rPr>
              <a:t>: Eles incluem propriedades como a data de criação do arquivo, quem foi o autor original e a data da última modificação, fornecendo um histórico essencial.</a:t>
            </a:r>
          </a:p>
          <a:p>
            <a:pPr algn="l">
              <a:lnSpc>
                <a:spcPct val="126000"/>
              </a:lnSpc>
              <a:spcBef>
                <a:spcPts val="1359"/>
              </a:spcBef>
              <a:buChar char="•"/>
            </a:pPr>
            <a:r>
              <a:rPr sz="2175">
                <a:latin typeface="Quicksand"/>
              </a:rPr>
              <a:t>  </a:t>
            </a:r>
            <a:r>
              <a:rPr sz="2175" b="1">
                <a:solidFill>
                  <a:srgbClr val="FFFFFF"/>
                </a:solidFill>
                <a:latin typeface="Quicksand Bold"/>
              </a:rPr>
              <a:t>Especificações Técnicas</a:t>
            </a:r>
            <a:r>
              <a:rPr sz="2175">
                <a:solidFill>
                  <a:srgbClr val="FFFFFF"/>
                </a:solidFill>
                <a:latin typeface="Quicksand"/>
              </a:rPr>
              <a:t>: Em mídias como imagens, os metadados registram dimensões (largura, altura) e resolução (DPI), fundamentais para a sua exibição e uso adequado.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0487b086-58a1-4c95-a586-0af3c6ff9099.png"/>
          <p:cNvPicPr>
            <a:picLocks noChangeAspect="1"/>
          </p:cNvPicPr>
          <p:nvPr/>
        </p:nvPicPr>
        <p:blipFill>
          <a:blip r:embed="rId2"/>
          <a:stretch>
            <a:fillRect/>
          </a:stretch>
        </p:blipFill>
        <p:spPr>
          <a:xfrm>
            <a:off x="1285875" y="1638299"/>
            <a:ext cx="700087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Arquitetura do sistema de gerenciamento de dados e metadados.</a:t>
            </a:r>
          </a:p>
        </p:txBody>
      </p:sp>
      <p:sp>
        <p:nvSpPr>
          <p:cNvPr id="5" name="TextBox 4"/>
          <p:cNvSpPr txBox="1"/>
          <p:nvPr/>
        </p:nvSpPr>
        <p:spPr>
          <a:xfrm>
            <a:off x="9639300" y="1790700"/>
            <a:ext cx="7362824" cy="1718270"/>
          </a:xfrm>
          <a:prstGeom prst="rect">
            <a:avLst/>
          </a:prstGeom>
          <a:noFill/>
        </p:spPr>
        <p:txBody>
          <a:bodyPr wrap="square" lIns="0" tIns="0" rIns="0" bIns="0">
            <a:normAutofit/>
          </a:bodyPr>
          <a:lstStyle/>
          <a:p>
            <a:pPr algn="l">
              <a:lnSpc>
                <a:spcPct val="99000"/>
              </a:lnSpc>
            </a:pPr>
            <a:r>
              <a:rPr sz="6150" b="1">
                <a:solidFill>
                  <a:srgbClr val="FFFFFF"/>
                </a:solidFill>
                <a:latin typeface="Quicksand Bold"/>
              </a:rPr>
              <a:t>O Poder dos Metadados</a:t>
            </a:r>
          </a:p>
        </p:txBody>
      </p:sp>
      <p:sp>
        <p:nvSpPr>
          <p:cNvPr id="6" name="TextBox 5"/>
          <p:cNvSpPr txBox="1"/>
          <p:nvPr/>
        </p:nvSpPr>
        <p:spPr>
          <a:xfrm>
            <a:off x="9639300" y="3813770"/>
            <a:ext cx="7362824" cy="3479899"/>
          </a:xfrm>
          <a:prstGeom prst="rect">
            <a:avLst/>
          </a:prstGeom>
          <a:noFill/>
        </p:spPr>
        <p:txBody>
          <a:bodyPr wrap="square" lIns="0" tIns="0" rIns="0" bIns="0">
            <a:normAutofit/>
          </a:bodyPr>
          <a:lstStyle/>
          <a:p>
            <a:pPr algn="l">
              <a:buChar char="•"/>
            </a:pPr>
            <a:r>
              <a:rPr sz="2175">
                <a:latin typeface="Quicksand"/>
              </a:rPr>
              <a:t>  </a:t>
            </a:r>
            <a:r>
              <a:rPr sz="2175" b="1">
                <a:solidFill>
                  <a:srgbClr val="FFFFFF"/>
                </a:solidFill>
                <a:latin typeface="Quicksand Bold"/>
              </a:rPr>
              <a:t>Contexto Geográfico</a:t>
            </a:r>
            <a:r>
              <a:rPr sz="2175">
                <a:solidFill>
                  <a:srgbClr val="FFFFFF"/>
                </a:solidFill>
                <a:latin typeface="Quicksand"/>
              </a:rPr>
              <a:t>: A geolocalização, frequentemente em coordenadas GPS, é um metadado comum em fotos tiradas com smartphones, revelando onde a imagem foi capturada.</a:t>
            </a:r>
          </a:p>
          <a:p>
            <a:pPr algn="l">
              <a:lnSpc>
                <a:spcPct val="126000"/>
              </a:lnSpc>
              <a:spcBef>
                <a:spcPts val="1359"/>
              </a:spcBef>
              <a:buChar char="•"/>
            </a:pPr>
            <a:r>
              <a:rPr sz="2175">
                <a:latin typeface="Quicksand"/>
              </a:rPr>
              <a:t>  </a:t>
            </a:r>
            <a:r>
              <a:rPr sz="2175" b="1">
                <a:solidFill>
                  <a:srgbClr val="FFFFFF"/>
                </a:solidFill>
                <a:latin typeface="Quicksand Bold"/>
              </a:rPr>
              <a:t>Auditoria de Alterações</a:t>
            </a:r>
            <a:r>
              <a:rPr sz="2175">
                <a:solidFill>
                  <a:srgbClr val="FFFFFF"/>
                </a:solidFill>
                <a:latin typeface="Quicksand"/>
              </a:rPr>
              <a:t>: Documentos armazenados na nuvem utilizam metadados para registrar um histórico completo de edição, detalhando quem fez quais alterações e quando, crucial para colaboração e segurança.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0487b086-58a1-4c95-a586-0af3c6ff9099.png"/>
          <p:cNvPicPr>
            <a:picLocks noChangeAspect="1"/>
          </p:cNvPicPr>
          <p:nvPr/>
        </p:nvPicPr>
        <p:blipFill>
          <a:blip r:embed="rId2"/>
          <a:stretch>
            <a:fillRect/>
          </a:stretch>
        </p:blipFill>
        <p:spPr>
          <a:xfrm>
            <a:off x="1285875" y="1638299"/>
            <a:ext cx="7000875" cy="7000875"/>
          </a:xfrm>
          <a:prstGeom prst="rect">
            <a:avLst/>
          </a:prstGeom>
        </p:spPr>
      </p:pic>
      <p:sp>
        <p:nvSpPr>
          <p:cNvPr id="4" name="TextBox 3"/>
          <p:cNvSpPr txBox="1"/>
          <p:nvPr/>
        </p:nvSpPr>
        <p:spPr>
          <a:xfrm>
            <a:off x="1285875" y="8829675"/>
            <a:ext cx="7367587" cy="746199"/>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Arquitetura do sistema de gerenciamento de dados e metadados.</a:t>
            </a:r>
          </a:p>
        </p:txBody>
      </p:sp>
      <p:sp>
        <p:nvSpPr>
          <p:cNvPr id="5" name="TextBox 4"/>
          <p:cNvSpPr txBox="1"/>
          <p:nvPr/>
        </p:nvSpPr>
        <p:spPr>
          <a:xfrm>
            <a:off x="9639300" y="1790700"/>
            <a:ext cx="7362824" cy="1717904"/>
          </a:xfrm>
          <a:prstGeom prst="rect">
            <a:avLst/>
          </a:prstGeom>
          <a:noFill/>
        </p:spPr>
        <p:txBody>
          <a:bodyPr wrap="square" lIns="0" tIns="0" rIns="0" bIns="0">
            <a:normAutofit/>
          </a:bodyPr>
          <a:lstStyle/>
          <a:p>
            <a:pPr algn="l">
              <a:lnSpc>
                <a:spcPct val="99000"/>
              </a:lnSpc>
            </a:pPr>
            <a:r>
              <a:rPr sz="6150" b="1">
                <a:solidFill>
                  <a:srgbClr val="FFFFFF"/>
                </a:solidFill>
                <a:latin typeface="Quicksand Bold"/>
              </a:rPr>
              <a:t>O Poder dos Metadados</a:t>
            </a:r>
          </a:p>
        </p:txBody>
      </p:sp>
      <p:sp>
        <p:nvSpPr>
          <p:cNvPr id="6" name="TextBox 5"/>
          <p:cNvSpPr txBox="1"/>
          <p:nvPr/>
        </p:nvSpPr>
        <p:spPr>
          <a:xfrm>
            <a:off x="9639300" y="3813770"/>
            <a:ext cx="7362824" cy="1932009"/>
          </a:xfrm>
          <a:prstGeom prst="rect">
            <a:avLst/>
          </a:prstGeom>
          <a:noFill/>
        </p:spPr>
        <p:txBody>
          <a:bodyPr wrap="square" lIns="0" tIns="0" rIns="0" bIns="0">
            <a:normAutofit/>
          </a:bodyPr>
          <a:lstStyle/>
          <a:p>
            <a:pPr algn="l">
              <a:buChar char="•"/>
            </a:pPr>
            <a:r>
              <a:rPr sz="2175">
                <a:latin typeface="Quicksand"/>
              </a:rPr>
              <a:t>  </a:t>
            </a:r>
            <a:r>
              <a:rPr sz="2175" b="1">
                <a:solidFill>
                  <a:srgbClr val="FFFFFF"/>
                </a:solidFill>
                <a:latin typeface="Quicksand Bold"/>
              </a:rPr>
              <a:t>Otimização de Busca</a:t>
            </a:r>
            <a:r>
              <a:rPr sz="2175">
                <a:solidFill>
                  <a:srgbClr val="FFFFFF"/>
                </a:solidFill>
                <a:latin typeface="Quicksand"/>
              </a:rPr>
              <a:t>: Facilitam a organização automática e permitem buscas eficientes por filtros (como "arquivos modificados na última semana"), aprimorando a usabilidade e a localização de informações em gerenciadores de arquivos.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695449"/>
            <a:ext cx="7429500" cy="670520"/>
          </a:xfrm>
          <a:prstGeom prst="rect">
            <a:avLst/>
          </a:prstGeom>
          <a:noFill/>
        </p:spPr>
        <p:txBody>
          <a:bodyPr wrap="square" lIns="0" tIns="0" rIns="0" bIns="0">
            <a:normAutofit/>
          </a:bodyPr>
          <a:lstStyle/>
          <a:p>
            <a:pPr algn="l">
              <a:lnSpc>
                <a:spcPct val="99000"/>
              </a:lnSpc>
            </a:pPr>
            <a:r>
              <a:rPr sz="4800" b="1">
                <a:solidFill>
                  <a:srgbClr val="FFFFFF"/>
                </a:solidFill>
                <a:latin typeface="Quicksand Bold"/>
              </a:rPr>
              <a:t>Microsoft 365</a:t>
            </a:r>
          </a:p>
        </p:txBody>
      </p:sp>
      <p:sp>
        <p:nvSpPr>
          <p:cNvPr id="4" name="TextBox 3"/>
          <p:cNvSpPr txBox="1"/>
          <p:nvPr/>
        </p:nvSpPr>
        <p:spPr>
          <a:xfrm>
            <a:off x="9639300" y="1695449"/>
            <a:ext cx="7429500" cy="670520"/>
          </a:xfrm>
          <a:prstGeom prst="rect">
            <a:avLst/>
          </a:prstGeom>
          <a:noFill/>
        </p:spPr>
        <p:txBody>
          <a:bodyPr wrap="square" lIns="0" tIns="0" rIns="0" bIns="0">
            <a:normAutofit/>
          </a:bodyPr>
          <a:lstStyle/>
          <a:p>
            <a:pPr algn="l">
              <a:lnSpc>
                <a:spcPct val="99000"/>
              </a:lnSpc>
            </a:pPr>
            <a:r>
              <a:rPr sz="4800" b="1">
                <a:solidFill>
                  <a:srgbClr val="FFFFFF"/>
                </a:solidFill>
                <a:latin typeface="Quicksand Bold"/>
              </a:rPr>
              <a:t>Google Workspace</a:t>
            </a:r>
          </a:p>
        </p:txBody>
      </p:sp>
      <p:sp>
        <p:nvSpPr>
          <p:cNvPr id="5" name="TextBox 4"/>
          <p:cNvSpPr txBox="1"/>
          <p:nvPr/>
        </p:nvSpPr>
        <p:spPr>
          <a:xfrm>
            <a:off x="1276350" y="2670770"/>
            <a:ext cx="7429500" cy="5573812"/>
          </a:xfrm>
          <a:prstGeom prst="rect">
            <a:avLst/>
          </a:prstGeom>
          <a:noFill/>
        </p:spPr>
        <p:txBody>
          <a:bodyPr wrap="square" lIns="0" tIns="0" rIns="0" bIns="0">
            <a:normAutofit/>
          </a:bodyPr>
          <a:lstStyle/>
          <a:p>
            <a:pPr algn="l">
              <a:lnSpc>
                <a:spcPct val="126000"/>
              </a:lnSpc>
            </a:pPr>
            <a:r>
              <a:rPr sz="2850">
                <a:solidFill>
                  <a:srgbClr val="FFFFFF"/>
                </a:solidFill>
                <a:latin typeface="Quicksand"/>
              </a:rPr>
              <a:t>Este ecossistema, também conhecido como </a:t>
            </a:r>
            <a:r>
              <a:rPr sz="2850" b="1">
                <a:solidFill>
                  <a:srgbClr val="FFFFFF"/>
                </a:solidFill>
                <a:latin typeface="Quicksand Bold"/>
              </a:rPr>
              <a:t>Microsoft Office</a:t>
            </a:r>
            <a:r>
              <a:rPr sz="2850">
                <a:solidFill>
                  <a:srgbClr val="FFFFFF"/>
                </a:solidFill>
                <a:latin typeface="Quicksand"/>
              </a:rPr>
              <a:t>, oferece ferramentas como </a:t>
            </a:r>
            <a:r>
              <a:rPr sz="2850" b="1">
                <a:solidFill>
                  <a:srgbClr val="FFFFFF"/>
                </a:solidFill>
                <a:latin typeface="Quicksand Bold"/>
              </a:rPr>
              <a:t>Word</a:t>
            </a:r>
            <a:r>
              <a:rPr sz="2850">
                <a:solidFill>
                  <a:srgbClr val="FFFFFF"/>
                </a:solidFill>
                <a:latin typeface="Quicksand"/>
              </a:rPr>
              <a:t>, </a:t>
            </a:r>
            <a:r>
              <a:rPr sz="2850" b="1">
                <a:solidFill>
                  <a:srgbClr val="FFFFFF"/>
                </a:solidFill>
                <a:latin typeface="Quicksand Bold"/>
              </a:rPr>
              <a:t>Excel</a:t>
            </a:r>
            <a:r>
              <a:rPr sz="2850">
                <a:solidFill>
                  <a:srgbClr val="FFFFFF"/>
                </a:solidFill>
                <a:latin typeface="Quicksand"/>
              </a:rPr>
              <a:t>, </a:t>
            </a:r>
            <a:r>
              <a:rPr sz="2850" b="1">
                <a:solidFill>
                  <a:srgbClr val="FFFFFF"/>
                </a:solidFill>
                <a:latin typeface="Quicksand Bold"/>
              </a:rPr>
              <a:t>PowerPoint</a:t>
            </a:r>
            <a:r>
              <a:rPr sz="2850">
                <a:solidFill>
                  <a:srgbClr val="FFFFFF"/>
                </a:solidFill>
                <a:latin typeface="Quicksand"/>
              </a:rPr>
              <a:t> e </a:t>
            </a:r>
            <a:r>
              <a:rPr sz="2850" b="1">
                <a:solidFill>
                  <a:srgbClr val="FFFFFF"/>
                </a:solidFill>
                <a:latin typeface="Quicksand Bold"/>
              </a:rPr>
              <a:t>OneDrive</a:t>
            </a:r>
            <a:r>
              <a:rPr sz="2850">
                <a:solidFill>
                  <a:srgbClr val="FFFFFF"/>
                </a:solidFill>
                <a:latin typeface="Quicksand"/>
              </a:rPr>
              <a:t>. Sua principal vantagem reside nos </a:t>
            </a:r>
            <a:r>
              <a:rPr sz="2850" i="1">
                <a:solidFill>
                  <a:srgbClr val="FFFFFF"/>
                </a:solidFill>
                <a:latin typeface="Quicksand"/>
              </a:rPr>
              <a:t>recursos avançados</a:t>
            </a:r>
            <a:r>
              <a:rPr sz="2850">
                <a:solidFill>
                  <a:srgbClr val="FFFFFF"/>
                </a:solidFill>
                <a:latin typeface="Quicksand"/>
              </a:rPr>
              <a:t> e na capacidade de operar </a:t>
            </a:r>
            <a:r>
              <a:rPr sz="2850" i="1">
                <a:solidFill>
                  <a:srgbClr val="FFFFFF"/>
                </a:solidFill>
                <a:latin typeface="Quicksand"/>
              </a:rPr>
              <a:t>offline</a:t>
            </a:r>
            <a:r>
              <a:rPr sz="2850">
                <a:solidFill>
                  <a:srgbClr val="FFFFFF"/>
                </a:solidFill>
                <a:latin typeface="Quicksand"/>
              </a:rPr>
              <a:t>, sendo o padrão absoluto em setores críticos como o financeiro e jurídico. O foco do Microsoft 365 é a </a:t>
            </a:r>
            <a:r>
              <a:rPr sz="2850" b="1">
                <a:solidFill>
                  <a:srgbClr val="FFFFFF"/>
                </a:solidFill>
                <a:latin typeface="Quicksand Bold"/>
              </a:rPr>
              <a:t>robustez</a:t>
            </a:r>
            <a:r>
              <a:rPr sz="2850">
                <a:solidFill>
                  <a:srgbClr val="FFFFFF"/>
                </a:solidFill>
                <a:latin typeface="Quicksand"/>
              </a:rPr>
              <a:t> e o processamento local de dados pesados, ideal para tarefas que exigem funcionalidades específicas e complexas.</a:t>
            </a:r>
          </a:p>
        </p:txBody>
      </p:sp>
      <p:sp>
        <p:nvSpPr>
          <p:cNvPr id="6" name="TextBox 5"/>
          <p:cNvSpPr txBox="1"/>
          <p:nvPr/>
        </p:nvSpPr>
        <p:spPr>
          <a:xfrm>
            <a:off x="9639300" y="2670770"/>
            <a:ext cx="7429500" cy="5067101"/>
          </a:xfrm>
          <a:prstGeom prst="rect">
            <a:avLst/>
          </a:prstGeom>
          <a:noFill/>
        </p:spPr>
        <p:txBody>
          <a:bodyPr wrap="square" lIns="0" tIns="0" rIns="0" bIns="0">
            <a:normAutofit/>
          </a:bodyPr>
          <a:lstStyle/>
          <a:p>
            <a:pPr algn="l">
              <a:lnSpc>
                <a:spcPct val="126000"/>
              </a:lnSpc>
            </a:pPr>
            <a:r>
              <a:rPr sz="2850">
                <a:solidFill>
                  <a:srgbClr val="FFFFFF"/>
                </a:solidFill>
                <a:latin typeface="Quicksand"/>
              </a:rPr>
              <a:t>Anteriormente chamado G Suite, este ecossistema inclui </a:t>
            </a:r>
            <a:r>
              <a:rPr sz="2850" b="1">
                <a:solidFill>
                  <a:srgbClr val="FFFFFF"/>
                </a:solidFill>
                <a:latin typeface="Quicksand Bold"/>
              </a:rPr>
              <a:t>Docs</a:t>
            </a:r>
            <a:r>
              <a:rPr sz="2850">
                <a:solidFill>
                  <a:srgbClr val="FFFFFF"/>
                </a:solidFill>
                <a:latin typeface="Quicksand"/>
              </a:rPr>
              <a:t>, </a:t>
            </a:r>
            <a:r>
              <a:rPr sz="2850" b="1">
                <a:solidFill>
                  <a:srgbClr val="FFFFFF"/>
                </a:solidFill>
                <a:latin typeface="Quicksand Bold"/>
              </a:rPr>
              <a:t>Sheets</a:t>
            </a:r>
            <a:r>
              <a:rPr sz="2850">
                <a:solidFill>
                  <a:srgbClr val="FFFFFF"/>
                </a:solidFill>
                <a:latin typeface="Quicksand"/>
              </a:rPr>
              <a:t>, </a:t>
            </a:r>
            <a:r>
              <a:rPr sz="2850" b="1">
                <a:solidFill>
                  <a:srgbClr val="FFFFFF"/>
                </a:solidFill>
                <a:latin typeface="Quicksand Bold"/>
              </a:rPr>
              <a:t>Slides</a:t>
            </a:r>
            <a:r>
              <a:rPr sz="2850">
                <a:solidFill>
                  <a:srgbClr val="FFFFFF"/>
                </a:solidFill>
                <a:latin typeface="Quicksand"/>
              </a:rPr>
              <a:t> e </a:t>
            </a:r>
            <a:r>
              <a:rPr sz="2850" b="1">
                <a:solidFill>
                  <a:srgbClr val="FFFFFF"/>
                </a:solidFill>
                <a:latin typeface="Quicksand Bold"/>
              </a:rPr>
              <a:t>Drive</a:t>
            </a:r>
            <a:r>
              <a:rPr sz="2850">
                <a:solidFill>
                  <a:srgbClr val="FFFFFF"/>
                </a:solidFill>
                <a:latin typeface="Quicksand"/>
              </a:rPr>
              <a:t>. Sua grande vantagem é ter nascido </a:t>
            </a:r>
            <a:r>
              <a:rPr sz="2850" i="1">
                <a:solidFill>
                  <a:srgbClr val="FFFFFF"/>
                </a:solidFill>
                <a:latin typeface="Quicksand"/>
              </a:rPr>
              <a:t>na nuvem</a:t>
            </a:r>
            <a:r>
              <a:rPr sz="2850">
                <a:solidFill>
                  <a:srgbClr val="FFFFFF"/>
                </a:solidFill>
                <a:latin typeface="Quicksand"/>
              </a:rPr>
              <a:t>, o que o torna excelente para a </a:t>
            </a:r>
            <a:r>
              <a:rPr sz="2850" b="1">
                <a:solidFill>
                  <a:srgbClr val="FFFFFF"/>
                </a:solidFill>
                <a:latin typeface="Quicksand Bold"/>
              </a:rPr>
              <a:t>colaboração simultânea</a:t>
            </a:r>
            <a:r>
              <a:rPr sz="2850">
                <a:solidFill>
                  <a:srgbClr val="FFFFFF"/>
                </a:solidFill>
                <a:latin typeface="Quicksand"/>
              </a:rPr>
              <a:t> e uma integração fluida com outros serviços web. O Google Workspace foca na </a:t>
            </a:r>
            <a:r>
              <a:rPr sz="2850" b="1">
                <a:solidFill>
                  <a:srgbClr val="FFFFFF"/>
                </a:solidFill>
                <a:latin typeface="Quicksand Bold"/>
              </a:rPr>
              <a:t>agilidade</a:t>
            </a:r>
            <a:r>
              <a:rPr sz="2850">
                <a:solidFill>
                  <a:srgbClr val="FFFFFF"/>
                </a:solidFill>
                <a:latin typeface="Quicksand"/>
              </a:rPr>
              <a:t>, simplicidade de uso e no compartilhamento rápido de arquivos, sendo muito utilizado para trabalho em equipe e acesso remoto.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276350"/>
            <a:ext cx="7200900" cy="1562100"/>
          </a:xfrm>
          <a:prstGeom prst="rect">
            <a:avLst/>
          </a:prstGeom>
          <a:noFill/>
        </p:spPr>
        <p:txBody>
          <a:bodyPr wrap="square" lIns="0" tIns="0" rIns="0" bIns="0">
            <a:normAutofit/>
          </a:bodyPr>
          <a:lstStyle/>
          <a:p>
            <a:pPr algn="l">
              <a:lnSpc>
                <a:spcPct val="90000"/>
              </a:lnSpc>
            </a:pPr>
            <a:r>
              <a:rPr sz="6150" b="1">
                <a:solidFill>
                  <a:srgbClr val="FFFFFF"/>
                </a:solidFill>
                <a:latin typeface="Quicksand Bold"/>
              </a:rPr>
              <a:t>Processamento de Texto Eficiente</a:t>
            </a:r>
          </a:p>
        </p:txBody>
      </p:sp>
      <p:sp>
        <p:nvSpPr>
          <p:cNvPr id="4" name="TextBox 3"/>
          <p:cNvSpPr txBox="1"/>
          <p:nvPr/>
        </p:nvSpPr>
        <p:spPr>
          <a:xfrm>
            <a:off x="9144000" y="2010866"/>
            <a:ext cx="7867649" cy="548580"/>
          </a:xfrm>
          <a:prstGeom prst="rect">
            <a:avLst/>
          </a:prstGeom>
          <a:noFill/>
        </p:spPr>
        <p:txBody>
          <a:bodyPr wrap="square" lIns="0" tIns="0" rIns="0" bIns="0">
            <a:normAutofit/>
          </a:bodyPr>
          <a:lstStyle/>
          <a:p>
            <a:pPr algn="l">
              <a:lnSpc>
                <a:spcPct val="108000"/>
              </a:lnSpc>
            </a:pPr>
            <a:r>
              <a:rPr sz="3600" b="1">
                <a:solidFill>
                  <a:srgbClr val="FFFFFF"/>
                </a:solidFill>
                <a:latin typeface="Quicksand Bold"/>
              </a:rPr>
              <a:t>Hierarquia com Estilos</a:t>
            </a:r>
          </a:p>
        </p:txBody>
      </p:sp>
      <p:sp>
        <p:nvSpPr>
          <p:cNvPr id="5" name="TextBox 4"/>
          <p:cNvSpPr txBox="1"/>
          <p:nvPr/>
        </p:nvSpPr>
        <p:spPr>
          <a:xfrm>
            <a:off x="9144000" y="2702321"/>
            <a:ext cx="7867649" cy="5573812"/>
          </a:xfrm>
          <a:prstGeom prst="rect">
            <a:avLst/>
          </a:prstGeom>
          <a:noFill/>
        </p:spPr>
        <p:txBody>
          <a:bodyPr wrap="square" lIns="0" tIns="0" rIns="0" bIns="0">
            <a:normAutofit/>
          </a:bodyPr>
          <a:lstStyle/>
          <a:p>
            <a:pPr algn="l">
              <a:lnSpc>
                <a:spcPct val="126000"/>
              </a:lnSpc>
            </a:pPr>
            <a:r>
              <a:rPr sz="2850">
                <a:solidFill>
                  <a:srgbClr val="FFFFFF"/>
                </a:solidFill>
                <a:latin typeface="Quicksand"/>
              </a:rPr>
              <a:t>Em vez de formatar títulos manualmente, use os </a:t>
            </a:r>
            <a:r>
              <a:rPr sz="2850" b="1">
                <a:solidFill>
                  <a:srgbClr val="FFFFFF"/>
                </a:solidFill>
                <a:latin typeface="Quicksand Bold"/>
              </a:rPr>
              <a:t>Estilos de Título</a:t>
            </a:r>
            <a:r>
              <a:rPr sz="2850">
                <a:solidFill>
                  <a:srgbClr val="FFFFFF"/>
                </a:solidFill>
                <a:latin typeface="Quicksand"/>
              </a:rPr>
              <a:t> predefinidos (Título 1, Título 2, Título 3, etc.) nos softwares como Word ou Google Docs. Essa prática organiza o conteúdo em uma estrutura lógica, permitindo que o programa gere automaticamente um </a:t>
            </a:r>
            <a:r>
              <a:rPr sz="2850" b="1">
                <a:solidFill>
                  <a:srgbClr val="FFFFFF"/>
                </a:solidFill>
                <a:latin typeface="Quicksand Bold"/>
              </a:rPr>
              <a:t>Sumário</a:t>
            </a:r>
            <a:r>
              <a:rPr sz="2850">
                <a:solidFill>
                  <a:srgbClr val="FFFFFF"/>
                </a:solidFill>
                <a:latin typeface="Quicksand"/>
              </a:rPr>
              <a:t> interativo. Isso não só economiza tempo, mas também torna o documento mais fácil de navegar, especialmente em trabalhos acadêmicos longos, melhorando a </a:t>
            </a:r>
            <a:r>
              <a:rPr sz="2850" i="1">
                <a:solidFill>
                  <a:srgbClr val="FFFFFF"/>
                </a:solidFill>
                <a:latin typeface="Quicksand"/>
              </a:rPr>
              <a:t>legibilidade</a:t>
            </a:r>
            <a:r>
              <a:rPr sz="2850">
                <a:solidFill>
                  <a:srgbClr val="FFFFFF"/>
                </a:solidFill>
                <a:latin typeface="Quicksand"/>
              </a:rPr>
              <a:t> e a </a:t>
            </a:r>
            <a:r>
              <a:rPr sz="2850" i="1">
                <a:solidFill>
                  <a:srgbClr val="FFFFFF"/>
                </a:solidFill>
                <a:latin typeface="Quicksand"/>
              </a:rPr>
              <a:t>acessibilidade</a:t>
            </a:r>
            <a:r>
              <a:rPr sz="2850">
                <a:solidFill>
                  <a:srgbClr val="FFFFFF"/>
                </a:solidFill>
                <a:latin typeface="Quicksand"/>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276350"/>
            <a:ext cx="7200900" cy="1562100"/>
          </a:xfrm>
          <a:prstGeom prst="rect">
            <a:avLst/>
          </a:prstGeom>
          <a:noFill/>
        </p:spPr>
        <p:txBody>
          <a:bodyPr wrap="square" lIns="0" tIns="0" rIns="0" bIns="0">
            <a:normAutofit/>
          </a:bodyPr>
          <a:lstStyle/>
          <a:p>
            <a:pPr algn="l">
              <a:lnSpc>
                <a:spcPct val="90000"/>
              </a:lnSpc>
            </a:pPr>
            <a:r>
              <a:rPr sz="6150" b="1">
                <a:solidFill>
                  <a:srgbClr val="FFFFFF"/>
                </a:solidFill>
                <a:latin typeface="Quicksand Bold"/>
              </a:rPr>
              <a:t>Processamento de Texto Eficiente</a:t>
            </a:r>
          </a:p>
        </p:txBody>
      </p:sp>
      <p:sp>
        <p:nvSpPr>
          <p:cNvPr id="4" name="TextBox 3"/>
          <p:cNvSpPr txBox="1"/>
          <p:nvPr/>
        </p:nvSpPr>
        <p:spPr>
          <a:xfrm>
            <a:off x="9144000" y="2010866"/>
            <a:ext cx="7867649" cy="548580"/>
          </a:xfrm>
          <a:prstGeom prst="rect">
            <a:avLst/>
          </a:prstGeom>
          <a:noFill/>
        </p:spPr>
        <p:txBody>
          <a:bodyPr wrap="square" lIns="0" tIns="0" rIns="0" bIns="0">
            <a:normAutofit/>
          </a:bodyPr>
          <a:lstStyle/>
          <a:p>
            <a:pPr algn="l">
              <a:lnSpc>
                <a:spcPct val="108000"/>
              </a:lnSpc>
            </a:pPr>
            <a:r>
              <a:rPr sz="3600" b="1">
                <a:solidFill>
                  <a:srgbClr val="FFFFFF"/>
                </a:solidFill>
                <a:latin typeface="Quicksand Bold"/>
              </a:rPr>
              <a:t>Controle de Quebras</a:t>
            </a:r>
          </a:p>
        </p:txBody>
      </p:sp>
      <p:sp>
        <p:nvSpPr>
          <p:cNvPr id="5" name="TextBox 4"/>
          <p:cNvSpPr txBox="1"/>
          <p:nvPr/>
        </p:nvSpPr>
        <p:spPr>
          <a:xfrm>
            <a:off x="9144000" y="2702321"/>
            <a:ext cx="7867649" cy="5573812"/>
          </a:xfrm>
          <a:prstGeom prst="rect">
            <a:avLst/>
          </a:prstGeom>
          <a:noFill/>
        </p:spPr>
        <p:txBody>
          <a:bodyPr wrap="square" lIns="0" tIns="0" rIns="0" bIns="0">
            <a:normAutofit/>
          </a:bodyPr>
          <a:lstStyle/>
          <a:p>
            <a:pPr algn="l">
              <a:lnSpc>
                <a:spcPct val="126000"/>
              </a:lnSpc>
            </a:pPr>
            <a:r>
              <a:rPr sz="2850">
                <a:solidFill>
                  <a:srgbClr val="FFFFFF"/>
                </a:solidFill>
                <a:latin typeface="Quicksand"/>
              </a:rPr>
              <a:t>Evite pressionar 'Enter' repetidamente para iniciar um novo tópico em uma nova página. Em vez disso, utilize as </a:t>
            </a:r>
            <a:r>
              <a:rPr sz="2850" b="1">
                <a:solidFill>
                  <a:srgbClr val="FFFFFF"/>
                </a:solidFill>
                <a:latin typeface="Quicksand Bold"/>
              </a:rPr>
              <a:t>Quebras de Página</a:t>
            </a:r>
            <a:r>
              <a:rPr sz="2850">
                <a:solidFill>
                  <a:srgbClr val="FFFFFF"/>
                </a:solidFill>
                <a:latin typeface="Quicksand"/>
              </a:rPr>
              <a:t> ou </a:t>
            </a:r>
            <a:r>
              <a:rPr sz="2850" b="1">
                <a:solidFill>
                  <a:srgbClr val="FFFFFF"/>
                </a:solidFill>
                <a:latin typeface="Quicksand Bold"/>
              </a:rPr>
              <a:t>Quebras de Seção</a:t>
            </a:r>
            <a:r>
              <a:rPr sz="2850">
                <a:solidFill>
                  <a:srgbClr val="FFFFFF"/>
                </a:solidFill>
                <a:latin typeface="Quicksand"/>
              </a:rPr>
              <a:t>. Essas funcionalidades garantem que o layout do seu documento permaneça </a:t>
            </a:r>
            <a:r>
              <a:rPr sz="2850" i="1">
                <a:solidFill>
                  <a:srgbClr val="FFFFFF"/>
                </a:solidFill>
                <a:latin typeface="Quicksand"/>
              </a:rPr>
              <a:t>estável</a:t>
            </a:r>
            <a:r>
              <a:rPr sz="2850">
                <a:solidFill>
                  <a:srgbClr val="FFFFFF"/>
                </a:solidFill>
                <a:latin typeface="Quicksand"/>
              </a:rPr>
              <a:t>. Mesmo que você adicione ou remova texto em páginas anteriores, a estrutura do seu documento se ajustará automaticamente, mantendo o conteúdo da próxima página no local correto sem desorganização.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276350"/>
            <a:ext cx="7200900" cy="1562100"/>
          </a:xfrm>
          <a:prstGeom prst="rect">
            <a:avLst/>
          </a:prstGeom>
          <a:noFill/>
        </p:spPr>
        <p:txBody>
          <a:bodyPr wrap="square" lIns="0" tIns="0" rIns="0" bIns="0">
            <a:normAutofit/>
          </a:bodyPr>
          <a:lstStyle/>
          <a:p>
            <a:pPr algn="l">
              <a:lnSpc>
                <a:spcPct val="90000"/>
              </a:lnSpc>
            </a:pPr>
            <a:r>
              <a:rPr sz="6150" b="1">
                <a:solidFill>
                  <a:srgbClr val="FFFFFF"/>
                </a:solidFill>
                <a:latin typeface="Quicksand Bold"/>
              </a:rPr>
              <a:t>Processamento de Texto Eficiente</a:t>
            </a:r>
          </a:p>
        </p:txBody>
      </p:sp>
      <p:sp>
        <p:nvSpPr>
          <p:cNvPr id="4" name="TextBox 3"/>
          <p:cNvSpPr txBox="1"/>
          <p:nvPr/>
        </p:nvSpPr>
        <p:spPr>
          <a:xfrm>
            <a:off x="9144000" y="2010866"/>
            <a:ext cx="7867649" cy="548580"/>
          </a:xfrm>
          <a:prstGeom prst="rect">
            <a:avLst/>
          </a:prstGeom>
          <a:noFill/>
        </p:spPr>
        <p:txBody>
          <a:bodyPr wrap="square" lIns="0" tIns="0" rIns="0" bIns="0">
            <a:normAutofit/>
          </a:bodyPr>
          <a:lstStyle/>
          <a:p>
            <a:pPr algn="l">
              <a:lnSpc>
                <a:spcPct val="108000"/>
              </a:lnSpc>
            </a:pPr>
            <a:r>
              <a:rPr sz="3600" b="1">
                <a:solidFill>
                  <a:srgbClr val="FFFFFF"/>
                </a:solidFill>
                <a:latin typeface="Quicksand Bold"/>
              </a:rPr>
              <a:t>Gerenciamento de Referências</a:t>
            </a:r>
          </a:p>
        </p:txBody>
      </p:sp>
      <p:sp>
        <p:nvSpPr>
          <p:cNvPr id="5" name="TextBox 4"/>
          <p:cNvSpPr txBox="1"/>
          <p:nvPr/>
        </p:nvSpPr>
        <p:spPr>
          <a:xfrm>
            <a:off x="9144000" y="2702321"/>
            <a:ext cx="7867649" cy="5573812"/>
          </a:xfrm>
          <a:prstGeom prst="rect">
            <a:avLst/>
          </a:prstGeom>
          <a:noFill/>
        </p:spPr>
        <p:txBody>
          <a:bodyPr wrap="square" lIns="0" tIns="0" rIns="0" bIns="0">
            <a:normAutofit/>
          </a:bodyPr>
          <a:lstStyle/>
          <a:p>
            <a:pPr algn="l">
              <a:lnSpc>
                <a:spcPct val="126000"/>
              </a:lnSpc>
            </a:pPr>
            <a:r>
              <a:rPr sz="2850">
                <a:solidFill>
                  <a:srgbClr val="FFFFFF"/>
                </a:solidFill>
                <a:latin typeface="Quicksand"/>
              </a:rPr>
              <a:t>Para garantir a </a:t>
            </a:r>
            <a:r>
              <a:rPr sz="2850" b="1">
                <a:solidFill>
                  <a:srgbClr val="FFFFFF"/>
                </a:solidFill>
                <a:latin typeface="Quicksand Bold"/>
              </a:rPr>
              <a:t>rigor acadêmico</a:t>
            </a:r>
            <a:r>
              <a:rPr sz="2850">
                <a:solidFill>
                  <a:srgbClr val="FFFFFF"/>
                </a:solidFill>
                <a:latin typeface="Quicksand"/>
              </a:rPr>
              <a:t> e evitar o retrabalho, utilize as ferramentas de bibliografia integradas ao software. Elas permitem gerenciar suas fontes, citações e referências bibliográficas de forma padronizada, seja no formato </a:t>
            </a:r>
            <a:r>
              <a:rPr sz="2850" b="1">
                <a:solidFill>
                  <a:srgbClr val="FFFFFF"/>
                </a:solidFill>
                <a:latin typeface="Quicksand Bold"/>
              </a:rPr>
              <a:t>ABNT</a:t>
            </a:r>
            <a:r>
              <a:rPr sz="2850">
                <a:solidFill>
                  <a:srgbClr val="FFFFFF"/>
                </a:solidFill>
                <a:latin typeface="Quicksand"/>
              </a:rPr>
              <a:t> (Associação Brasileira de Normas Técnicas) ou </a:t>
            </a:r>
            <a:r>
              <a:rPr sz="2850" b="1">
                <a:solidFill>
                  <a:srgbClr val="FFFFFF"/>
                </a:solidFill>
                <a:latin typeface="Quicksand Bold"/>
              </a:rPr>
              <a:t>APA</a:t>
            </a:r>
            <a:r>
              <a:rPr sz="2850">
                <a:solidFill>
                  <a:srgbClr val="FFFFFF"/>
                </a:solidFill>
                <a:latin typeface="Quicksand"/>
              </a:rPr>
              <a:t> (American Psychological Association). Isso automatiza a criação da lista de referências, assegurando consistência e precisão nas suas citações.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807853bc-6536-4f4d-a077-bf1f3a68cdf8.jpg"/>
          <p:cNvPicPr>
            <a:picLocks noChangeAspect="1"/>
          </p:cNvPicPr>
          <p:nvPr/>
        </p:nvPicPr>
        <p:blipFill>
          <a:blip r:embed="rId2"/>
          <a:stretch>
            <a:fillRect/>
          </a:stretch>
        </p:blipFill>
        <p:spPr>
          <a:xfrm>
            <a:off x="1285875" y="1638299"/>
            <a:ext cx="700087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Ilustração de negócios digitais: conectividade, transações, design e dados.</a:t>
            </a:r>
          </a:p>
        </p:txBody>
      </p:sp>
      <p:sp>
        <p:nvSpPr>
          <p:cNvPr id="5" name="TextBox 4"/>
          <p:cNvSpPr txBox="1"/>
          <p:nvPr/>
        </p:nvSpPr>
        <p:spPr>
          <a:xfrm>
            <a:off x="9639300" y="1790700"/>
            <a:ext cx="7362824" cy="1466849"/>
          </a:xfrm>
          <a:prstGeom prst="rect">
            <a:avLst/>
          </a:prstGeom>
          <a:noFill/>
        </p:spPr>
        <p:txBody>
          <a:bodyPr wrap="square" lIns="0" tIns="0" rIns="0" bIns="0">
            <a:normAutofit/>
          </a:bodyPr>
          <a:lstStyle/>
          <a:p>
            <a:pPr algn="l">
              <a:lnSpc>
                <a:spcPct val="99000"/>
              </a:lnSpc>
            </a:pPr>
            <a:r>
              <a:rPr sz="5250" b="1">
                <a:solidFill>
                  <a:srgbClr val="FFFFFF"/>
                </a:solidFill>
                <a:latin typeface="Quicksand Bold"/>
              </a:rPr>
              <a:t>Acessibilidade em Documentos Digitais</a:t>
            </a:r>
          </a:p>
        </p:txBody>
      </p:sp>
      <p:sp>
        <p:nvSpPr>
          <p:cNvPr id="6" name="TextBox 5"/>
          <p:cNvSpPr txBox="1"/>
          <p:nvPr/>
        </p:nvSpPr>
        <p:spPr>
          <a:xfrm>
            <a:off x="9639300" y="3562349"/>
            <a:ext cx="7362824" cy="5026521"/>
          </a:xfrm>
          <a:prstGeom prst="rect">
            <a:avLst/>
          </a:prstGeom>
          <a:noFill/>
        </p:spPr>
        <p:txBody>
          <a:bodyPr wrap="square" lIns="0" tIns="0" rIns="0" bIns="0">
            <a:normAutofit/>
          </a:bodyPr>
          <a:lstStyle/>
          <a:p>
            <a:pPr algn="l">
              <a:buChar char="•"/>
            </a:pPr>
            <a:r>
              <a:rPr sz="2175">
                <a:latin typeface="Quicksand"/>
              </a:rPr>
              <a:t>  </a:t>
            </a:r>
            <a:r>
              <a:rPr sz="2175" b="1">
                <a:solidFill>
                  <a:srgbClr val="FFFFFF"/>
                </a:solidFill>
                <a:latin typeface="Quicksand Bold"/>
              </a:rPr>
              <a:t>Texto Alternativo</a:t>
            </a:r>
            <a:r>
              <a:rPr sz="2175">
                <a:solidFill>
                  <a:srgbClr val="FFFFFF"/>
                </a:solidFill>
                <a:latin typeface="Quicksand"/>
              </a:rPr>
              <a:t> (Alt Text) é crucial; ele descreve imagens para leitores de tela, garantindo que usuários com deficiência visual compreendam o conteúdo não textual, um princípio essencial de inclusão digital.</a:t>
            </a:r>
          </a:p>
          <a:p>
            <a:pPr algn="l">
              <a:lnSpc>
                <a:spcPct val="126000"/>
              </a:lnSpc>
              <a:spcBef>
                <a:spcPts val="1359"/>
              </a:spcBef>
              <a:buChar char="•"/>
            </a:pPr>
            <a:r>
              <a:rPr sz="2175">
                <a:latin typeface="Quicksand"/>
              </a:rPr>
              <a:t>  </a:t>
            </a:r>
            <a:r>
              <a:rPr sz="2175">
                <a:solidFill>
                  <a:srgbClr val="FFFFFF"/>
                </a:solidFill>
                <a:latin typeface="Quicksand"/>
              </a:rPr>
              <a:t>A correta </a:t>
            </a:r>
            <a:r>
              <a:rPr sz="2175" b="1">
                <a:solidFill>
                  <a:srgbClr val="FFFFFF"/>
                </a:solidFill>
                <a:latin typeface="Quicksand Bold"/>
              </a:rPr>
              <a:t>Hierarquia de Cabeçalhos</a:t>
            </a:r>
            <a:r>
              <a:rPr sz="2175">
                <a:solidFill>
                  <a:srgbClr val="FFFFFF"/>
                </a:solidFill>
                <a:latin typeface="Quicksand"/>
              </a:rPr>
              <a:t> (como H1, H2, H3) organiza o conteúdo e facilita a navegação para softwares de assistência, permitindo que todos acessem a estrutura lógica do documento.</a:t>
            </a:r>
          </a:p>
          <a:p>
            <a:pPr algn="l">
              <a:lnSpc>
                <a:spcPct val="126000"/>
              </a:lnSpc>
              <a:spcBef>
                <a:spcPts val="1359"/>
              </a:spcBef>
              <a:buChar char="•"/>
            </a:pPr>
            <a:r>
              <a:rPr sz="2175">
                <a:latin typeface="Quicksand"/>
              </a:rPr>
              <a:t>  </a:t>
            </a:r>
            <a:r>
              <a:rPr sz="2175">
                <a:solidFill>
                  <a:srgbClr val="FFFFFF"/>
                </a:solidFill>
                <a:latin typeface="Quicksand"/>
              </a:rPr>
              <a:t>Garanta um bom </a:t>
            </a:r>
            <a:r>
              <a:rPr sz="2175" b="1">
                <a:solidFill>
                  <a:srgbClr val="FFFFFF"/>
                </a:solidFill>
                <a:latin typeface="Quicksand Bold"/>
              </a:rPr>
              <a:t>Contraste de Cores</a:t>
            </a:r>
            <a:r>
              <a:rPr sz="2175">
                <a:solidFill>
                  <a:srgbClr val="FFFFFF"/>
                </a:solidFill>
                <a:latin typeface="Quicksand"/>
              </a:rPr>
              <a:t> entre o texto e o fundo; isso é fundamental para a legibilidade, especialmente para pessoas com baixa visão ou daltonismo, tornando o conteúdo acessível a um público mais amplo.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807853bc-6536-4f4d-a077-bf1f3a68cdf8.jpg"/>
          <p:cNvPicPr>
            <a:picLocks noChangeAspect="1"/>
          </p:cNvPicPr>
          <p:nvPr/>
        </p:nvPicPr>
        <p:blipFill>
          <a:blip r:embed="rId2"/>
          <a:stretch>
            <a:fillRect/>
          </a:stretch>
        </p:blipFill>
        <p:spPr>
          <a:xfrm>
            <a:off x="1285875" y="1638299"/>
            <a:ext cx="700087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Ilustração de negócios digitais: conectividade, transações, design e dados.</a:t>
            </a:r>
          </a:p>
        </p:txBody>
      </p:sp>
      <p:sp>
        <p:nvSpPr>
          <p:cNvPr id="5" name="TextBox 4"/>
          <p:cNvSpPr txBox="1"/>
          <p:nvPr/>
        </p:nvSpPr>
        <p:spPr>
          <a:xfrm>
            <a:off x="9639300" y="1790700"/>
            <a:ext cx="7362824" cy="1466849"/>
          </a:xfrm>
          <a:prstGeom prst="rect">
            <a:avLst/>
          </a:prstGeom>
          <a:noFill/>
        </p:spPr>
        <p:txBody>
          <a:bodyPr wrap="square" lIns="0" tIns="0" rIns="0" bIns="0">
            <a:normAutofit/>
          </a:bodyPr>
          <a:lstStyle/>
          <a:p>
            <a:pPr algn="l">
              <a:lnSpc>
                <a:spcPct val="99000"/>
              </a:lnSpc>
            </a:pPr>
            <a:r>
              <a:rPr sz="5250" b="1">
                <a:solidFill>
                  <a:srgbClr val="FFFFFF"/>
                </a:solidFill>
                <a:latin typeface="Quicksand Bold"/>
              </a:rPr>
              <a:t>Acessibilidade em Documentos Digitais</a:t>
            </a:r>
          </a:p>
        </p:txBody>
      </p:sp>
      <p:sp>
        <p:nvSpPr>
          <p:cNvPr id="6" name="TextBox 5"/>
          <p:cNvSpPr txBox="1"/>
          <p:nvPr/>
        </p:nvSpPr>
        <p:spPr>
          <a:xfrm>
            <a:off x="9639300" y="3562349"/>
            <a:ext cx="7362824" cy="1546621"/>
          </a:xfrm>
          <a:prstGeom prst="rect">
            <a:avLst/>
          </a:prstGeom>
          <a:noFill/>
        </p:spPr>
        <p:txBody>
          <a:bodyPr wrap="square" lIns="0" tIns="0" rIns="0" bIns="0">
            <a:normAutofit/>
          </a:bodyPr>
          <a:lstStyle/>
          <a:p>
            <a:pPr algn="l">
              <a:buChar char="•"/>
            </a:pPr>
            <a:r>
              <a:rPr sz="2175">
                <a:latin typeface="Quicksand"/>
              </a:rPr>
              <a:t>  </a:t>
            </a:r>
            <a:r>
              <a:rPr sz="2175">
                <a:solidFill>
                  <a:srgbClr val="FFFFFF"/>
                </a:solidFill>
                <a:latin typeface="Quicksand"/>
              </a:rPr>
              <a:t>Utilize </a:t>
            </a:r>
            <a:r>
              <a:rPr sz="2175" b="1">
                <a:solidFill>
                  <a:srgbClr val="FFFFFF"/>
                </a:solidFill>
                <a:latin typeface="Quicksand Bold"/>
              </a:rPr>
              <a:t>Fontes Legíveis</a:t>
            </a:r>
            <a:r>
              <a:rPr sz="2175">
                <a:solidFill>
                  <a:srgbClr val="FFFFFF"/>
                </a:solidFill>
                <a:latin typeface="Quicksand"/>
              </a:rPr>
              <a:t>, preferindo tipografias sem serifa como Arial ou Roboto, que minimizam o cansaço visual e são mais claras, inclusive para leitores com dislexia, promovendo uma experiência de leitura inclusiva.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c9357665-f10e-47e4-b077-5b97ec864aa5.jpg"/>
          <p:cNvPicPr>
            <a:picLocks noChangeAspect="1"/>
          </p:cNvPicPr>
          <p:nvPr/>
        </p:nvPicPr>
        <p:blipFill>
          <a:blip r:embed="rId2"/>
          <a:stretch>
            <a:fillRect/>
          </a:stretch>
        </p:blipFill>
        <p:spPr>
          <a:xfrm>
            <a:off x="9648824" y="1850649"/>
            <a:ext cx="7867649" cy="6585700"/>
          </a:xfrm>
          <a:prstGeom prst="rect">
            <a:avLst/>
          </a:prstGeom>
        </p:spPr>
      </p:pic>
      <p:sp>
        <p:nvSpPr>
          <p:cNvPr id="4" name="TextBox 3"/>
          <p:cNvSpPr txBox="1"/>
          <p:nvPr/>
        </p:nvSpPr>
        <p:spPr>
          <a:xfrm>
            <a:off x="1285875" y="1276350"/>
            <a:ext cx="7905749" cy="754360"/>
          </a:xfrm>
          <a:prstGeom prst="rect">
            <a:avLst/>
          </a:prstGeom>
          <a:noFill/>
        </p:spPr>
        <p:txBody>
          <a:bodyPr wrap="square" lIns="0" tIns="0" rIns="0" bIns="0">
            <a:normAutofit/>
          </a:bodyPr>
          <a:lstStyle/>
          <a:p>
            <a:pPr algn="l">
              <a:lnSpc>
                <a:spcPct val="99000"/>
              </a:lnSpc>
            </a:pPr>
            <a:r>
              <a:rPr sz="5400" b="1">
                <a:solidFill>
                  <a:srgbClr val="FFFFFF"/>
                </a:solidFill>
                <a:latin typeface="Quicksand Bold"/>
              </a:rPr>
              <a:t>O Poder das Planilhas</a:t>
            </a:r>
          </a:p>
        </p:txBody>
      </p:sp>
      <p:sp>
        <p:nvSpPr>
          <p:cNvPr id="5" name="TextBox 4"/>
          <p:cNvSpPr txBox="1"/>
          <p:nvPr/>
        </p:nvSpPr>
        <p:spPr>
          <a:xfrm>
            <a:off x="1285875" y="2335510"/>
            <a:ext cx="7905749" cy="5786834"/>
          </a:xfrm>
          <a:prstGeom prst="rect">
            <a:avLst/>
          </a:prstGeom>
          <a:noFill/>
        </p:spPr>
        <p:txBody>
          <a:bodyPr wrap="square" lIns="0" tIns="0" rIns="0" bIns="0">
            <a:normAutofit/>
          </a:bodyPr>
          <a:lstStyle/>
          <a:p>
            <a:pPr algn="l">
              <a:lnSpc>
                <a:spcPct val="126000"/>
              </a:lnSpc>
            </a:pPr>
            <a:r>
              <a:rPr sz="2325">
                <a:solidFill>
                  <a:srgbClr val="FFFFFF"/>
                </a:solidFill>
                <a:latin typeface="Quicksand"/>
              </a:rPr>
              <a:t>Saímos do mundo das palavras para o universo dos dados, onde </a:t>
            </a:r>
            <a:r>
              <a:rPr sz="2325" b="1">
                <a:solidFill>
                  <a:srgbClr val="FFFFFF"/>
                </a:solidFill>
                <a:latin typeface="Quicksand Bold"/>
              </a:rPr>
              <a:t>planilhas</a:t>
            </a:r>
            <a:r>
              <a:rPr sz="2325">
                <a:solidFill>
                  <a:srgbClr val="FFFFFF"/>
                </a:solidFill>
                <a:latin typeface="Quicksand"/>
              </a:rPr>
              <a:t> como Excel e Google Sheets são muito mais que tabelas simples; elas funcionam como motores de cálculo e bancos de dados relacionais simplificados. A base de toda planilha é a </a:t>
            </a:r>
            <a:r>
              <a:rPr sz="2325" b="1">
                <a:solidFill>
                  <a:srgbClr val="FFFFFF"/>
                </a:solidFill>
                <a:latin typeface="Quicksand Bold"/>
              </a:rPr>
              <a:t>Célula</a:t>
            </a:r>
            <a:r>
              <a:rPr sz="2325">
                <a:solidFill>
                  <a:srgbClr val="FFFFFF"/>
                </a:solidFill>
                <a:latin typeface="Quicksand"/>
              </a:rPr>
              <a:t>, definida pela interseção de uma Coluna (identificada por letras) e uma Linha (identificada por números). A capacidade de entender e usar as </a:t>
            </a:r>
            <a:r>
              <a:rPr sz="2325" i="1">
                <a:solidFill>
                  <a:srgbClr val="FFFFFF"/>
                </a:solidFill>
                <a:latin typeface="Quicksand"/>
              </a:rPr>
              <a:t>referências de células</a:t>
            </a:r>
            <a:r>
              <a:rPr sz="2325">
                <a:solidFill>
                  <a:srgbClr val="FFFFFF"/>
                </a:solidFill>
                <a:latin typeface="Quicksand"/>
              </a:rPr>
              <a:t> é crucial, pois permite automatizar processos: ao alterar um valor em uma célula, todas as fórmulas dependentes dela são atualizadas instantaneamente. Essa </a:t>
            </a:r>
            <a:r>
              <a:rPr sz="2325" b="1">
                <a:solidFill>
                  <a:srgbClr val="FFFFFF"/>
                </a:solidFill>
                <a:latin typeface="Quicksand Bold"/>
              </a:rPr>
              <a:t>reatividade</a:t>
            </a:r>
            <a:r>
              <a:rPr sz="2325">
                <a:solidFill>
                  <a:srgbClr val="FFFFFF"/>
                </a:solidFill>
                <a:latin typeface="Quicksand"/>
              </a:rPr>
              <a:t> faz das planilhas ferramentas indispensáveis na gestão financeira, científica e administrativa, transformando informação em inteligência prática.</a:t>
            </a:r>
          </a:p>
        </p:txBody>
      </p:sp>
      <p:sp>
        <p:nvSpPr>
          <p:cNvPr id="6" name="TextBox 5"/>
          <p:cNvSpPr txBox="1"/>
          <p:nvPr/>
        </p:nvSpPr>
        <p:spPr>
          <a:xfrm>
            <a:off x="9648824" y="8493500"/>
            <a:ext cx="7867649" cy="214312"/>
          </a:xfrm>
          <a:prstGeom prst="rect">
            <a:avLst/>
          </a:prstGeom>
          <a:noFill/>
        </p:spPr>
        <p:txBody>
          <a:bodyPr wrap="square" lIns="0" tIns="0" rIns="0" bIns="0">
            <a:normAutofit/>
          </a:bodyPr>
          <a:lstStyle/>
          <a:p>
            <a:pPr algn="l">
              <a:lnSpc>
                <a:spcPct val="112500"/>
              </a:lnSpc>
            </a:pPr>
            <a:r>
              <a:rPr sz="1350">
                <a:solidFill>
                  <a:srgbClr val="FFFFFF"/>
                </a:solidFill>
                <a:latin typeface="Quicksand"/>
              </a:rPr>
              <a:t>Planilhas: análise de dados com gráficos e relatórios visuais.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2" name="Rounded Rectangle 1"/>
          <p:cNvSpPr/>
          <p:nvPr/>
        </p:nvSpPr>
        <p:spPr>
          <a:xfrm>
            <a:off x="1276350" y="3383279"/>
            <a:ext cx="15735299" cy="3886200"/>
          </a:xfrm>
          <a:prstGeom prst="roundRect">
            <a:avLst>
              <a:gd name="adj" fmla="val 1568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943100" y="3017520"/>
            <a:ext cx="4221857" cy="731519"/>
          </a:xfrm>
          <a:prstGeom prst="roundRect">
            <a:avLst>
              <a:gd name="adj" fmla="val 41666"/>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39410db8-7125-4742-b0a3-237b27ca6ae7.png"/>
          <p:cNvPicPr>
            <a:picLocks noChangeAspect="1"/>
          </p:cNvPicPr>
          <p:nvPr/>
        </p:nvPicPr>
        <p:blipFill>
          <a:blip r:embed="rId2"/>
          <a:stretch>
            <a:fillRect/>
          </a:stretch>
        </p:blipFill>
        <p:spPr>
          <a:xfrm>
            <a:off x="11687175" y="419100"/>
            <a:ext cx="6600825" cy="9867900"/>
          </a:xfrm>
          <a:prstGeom prst="rect">
            <a:avLst/>
          </a:prstGeom>
        </p:spPr>
      </p:pic>
      <p:pic>
        <p:nvPicPr>
          <p:cNvPr id="5" name="Picture 4" descr="2827fc99-2f3c-4911-84d5-5123d133be14.png"/>
          <p:cNvPicPr>
            <a:picLocks noChangeAspect="1"/>
          </p:cNvPicPr>
          <p:nvPr/>
        </p:nvPicPr>
        <p:blipFill>
          <a:blip r:embed="rId3"/>
          <a:stretch>
            <a:fillRect/>
          </a:stretch>
        </p:blipFill>
        <p:spPr>
          <a:xfrm>
            <a:off x="2171700" y="3230880"/>
            <a:ext cx="304800" cy="304800"/>
          </a:xfrm>
          <a:prstGeom prst="rect">
            <a:avLst/>
          </a:prstGeom>
        </p:spPr>
      </p:pic>
      <p:sp>
        <p:nvSpPr>
          <p:cNvPr id="7" name="TextBox 6"/>
          <p:cNvSpPr txBox="1"/>
          <p:nvPr/>
        </p:nvSpPr>
        <p:spPr>
          <a:xfrm>
            <a:off x="2628900" y="3150870"/>
            <a:ext cx="3402707" cy="426719"/>
          </a:xfrm>
          <a:prstGeom prst="rect">
            <a:avLst/>
          </a:prstGeom>
          <a:noFill/>
        </p:spPr>
        <p:txBody>
          <a:bodyPr wrap="square" lIns="0" tIns="0" rIns="0" bIns="0">
            <a:normAutofit/>
          </a:bodyPr>
          <a:lstStyle/>
          <a:p>
            <a:pPr algn="l">
              <a:lnSpc>
                <a:spcPct val="126000"/>
              </a:lnSpc>
            </a:pPr>
            <a:r>
              <a:rPr sz="2400" b="1">
                <a:solidFill>
                  <a:srgbClr val="0F1519"/>
                </a:solidFill>
                <a:latin typeface="Quicksand Bold"/>
              </a:rPr>
              <a:t>Demonstração Guiada</a:t>
            </a:r>
          </a:p>
        </p:txBody>
      </p:sp>
      <mc:AlternateContent xmlns:mc="http://schemas.openxmlformats.org/markup-compatibility/2006">
        <mc:Choice xmlns:a14="http://schemas.microsoft.com/office/drawing/2010/main" Requires="a14">
          <p:sp>
            <p:nvSpPr>
              <p:cNvPr id="8" name="TextBox 7"/>
              <p:cNvSpPr txBox="1"/>
              <p:nvPr/>
            </p:nvSpPr>
            <p:spPr>
              <a:xfrm>
                <a:off x="1885950" y="3992879"/>
                <a:ext cx="14516100" cy="2667000"/>
              </a:xfrm>
              <a:prstGeom prst="rect">
                <a:avLst/>
              </a:prstGeom>
              <a:noFill/>
            </p:spPr>
            <p:txBody>
              <a:bodyPr wrap="square" lIns="0" tIns="0" rIns="0" bIns="0">
                <a:normAutofit/>
              </a:bodyPr>
              <a:lstStyle/>
              <a:p>
                <a:pPr algn="l">
                  <a:lnSpc>
                    <a:spcPct val="126000"/>
                  </a:lnSpc>
                </a:pPr>
                <a:r>
                  <a:rPr sz="3000">
                    <a:solidFill>
                      <a:srgbClr val="0F1519"/>
                    </a:solidFill>
                    <a:latin typeface="Quicksand"/>
                  </a:rPr>
                  <a:t>Demonstraremos a </a:t>
                </a:r>
                <a:r>
                  <a:rPr sz="3000" b="1">
                    <a:solidFill>
                      <a:srgbClr val="0F1519"/>
                    </a:solidFill>
                    <a:latin typeface="Quicksand Bold"/>
                  </a:rPr>
                  <a:t>Lógica de Fórmulas</a:t>
                </a:r>
                <a:r>
                  <a:rPr sz="3000">
                    <a:solidFill>
                      <a:srgbClr val="0F1519"/>
                    </a:solidFill>
                    <a:latin typeface="Quicksand"/>
                  </a:rPr>
                  <a:t> em planilhas, explicando como construir e usar expressões que permitem ao software processar instruções e realizar cálculos complexos. Toda fórmula começa obrigatoriamente com o sinal de igualdade (</a:t>
                </a:r>
                <a14:m>
                  <m:oMath xmlns:m="http://schemas.openxmlformats.org/officeDocument/2006/math">
                    <m:r>
                      <a:rPr sz="2700">
                        <a:solidFill>
                          <a:srgbClr val="0F1519"/>
                        </a:solidFill>
                        <a:latin typeface="Cambria Math" panose="02040503050406030204" pitchFamily="18" charset="0"/>
                      </a:rPr>
                      <m:t>=</m:t>
                    </m:r>
                  </m:oMath>
                </a14:m>
                <a:r>
                  <a:rPr sz="3000">
                    <a:solidFill>
                      <a:srgbClr val="0F1519"/>
                    </a:solidFill>
                    <a:latin typeface="Quicksand"/>
                  </a:rPr>
                  <a:t>), que indica ao programa que o conteúdo da célula não é apenas texto ou número, mas uma instrução a ser executada.</a:t>
                </a:r>
              </a:p>
            </p:txBody>
          </p:sp>
        </mc:Choice>
        <mc:Fallback>
          <p:sp>
            <p:nvSpPr>
              <p:cNvPr id="8" name="TextBox 7"/>
              <p:cNvSpPr txBox="1">
                <a:spLocks noRot="1" noChangeAspect="1" noMove="1" noResize="1" noEditPoints="1" noAdjustHandles="1" noChangeArrowheads="1" noChangeShapeType="1" noTextEdit="1"/>
              </p:cNvSpPr>
              <p:nvPr/>
            </p:nvSpPr>
            <p:spPr>
              <a:xfrm>
                <a:off x="1885950" y="3992879"/>
                <a:ext cx="14516100" cy="2667000"/>
              </a:xfrm>
              <a:prstGeom prst="rect">
                <a:avLst/>
              </a:prstGeom>
              <a:blipFill>
                <a:blip r:embed="rId4"/>
                <a:stretch>
                  <a:fillRect l="-1595" t="-2059" r="-1092" b="-14874"/>
                </a:stretch>
              </a:blipFill>
            </p:spPr>
            <p:txBody>
              <a:bodyPr/>
              <a:lstStyle/>
              <a:p>
                <a:r>
                  <a:rPr lang="pt-BR">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2" name="Rounded Rectangle 1"/>
          <p:cNvSpPr/>
          <p:nvPr/>
        </p:nvSpPr>
        <p:spPr>
          <a:xfrm>
            <a:off x="1276350" y="1775936"/>
            <a:ext cx="15735299" cy="7100887"/>
          </a:xfrm>
          <a:prstGeom prst="roundRect">
            <a:avLst>
              <a:gd name="adj" fmla="val 858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943100" y="1410176"/>
            <a:ext cx="4221857" cy="731519"/>
          </a:xfrm>
          <a:prstGeom prst="roundRect">
            <a:avLst>
              <a:gd name="adj" fmla="val 41666"/>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733550" y="2385536"/>
            <a:ext cx="857250" cy="857250"/>
          </a:xfrm>
          <a:prstGeom prst="roundRect">
            <a:avLst>
              <a:gd name="adj" fmla="val 3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733550" y="4473098"/>
            <a:ext cx="857250" cy="857250"/>
          </a:xfrm>
          <a:prstGeom prst="roundRect">
            <a:avLst>
              <a:gd name="adj" fmla="val 3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733550" y="6560661"/>
            <a:ext cx="857250" cy="857250"/>
          </a:xfrm>
          <a:prstGeom prst="roundRect">
            <a:avLst>
              <a:gd name="adj" fmla="val 3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39410db8-7125-4742-b0a3-237b27ca6ae7.png"/>
          <p:cNvPicPr>
            <a:picLocks noChangeAspect="1"/>
          </p:cNvPicPr>
          <p:nvPr/>
        </p:nvPicPr>
        <p:blipFill>
          <a:blip r:embed="rId2"/>
          <a:stretch>
            <a:fillRect/>
          </a:stretch>
        </p:blipFill>
        <p:spPr>
          <a:xfrm>
            <a:off x="11687175" y="419100"/>
            <a:ext cx="6600825" cy="9867900"/>
          </a:xfrm>
          <a:prstGeom prst="rect">
            <a:avLst/>
          </a:prstGeom>
        </p:spPr>
      </p:pic>
      <p:pic>
        <p:nvPicPr>
          <p:cNvPr id="8" name="Picture 7" descr="2827fc99-2f3c-4911-84d5-5123d133be14.png"/>
          <p:cNvPicPr>
            <a:picLocks noChangeAspect="1"/>
          </p:cNvPicPr>
          <p:nvPr/>
        </p:nvPicPr>
        <p:blipFill>
          <a:blip r:embed="rId3"/>
          <a:stretch>
            <a:fillRect/>
          </a:stretch>
        </p:blipFill>
        <p:spPr>
          <a:xfrm>
            <a:off x="2171700" y="1623536"/>
            <a:ext cx="304800" cy="304800"/>
          </a:xfrm>
          <a:prstGeom prst="rect">
            <a:avLst/>
          </a:prstGeom>
        </p:spPr>
      </p:pic>
      <p:sp>
        <p:nvSpPr>
          <p:cNvPr id="10" name="TextBox 9"/>
          <p:cNvSpPr txBox="1"/>
          <p:nvPr/>
        </p:nvSpPr>
        <p:spPr>
          <a:xfrm>
            <a:off x="2628900" y="1543526"/>
            <a:ext cx="3402707" cy="426719"/>
          </a:xfrm>
          <a:prstGeom prst="rect">
            <a:avLst/>
          </a:prstGeom>
          <a:noFill/>
        </p:spPr>
        <p:txBody>
          <a:bodyPr wrap="square" lIns="0" tIns="0" rIns="0" bIns="0">
            <a:normAutofit/>
          </a:bodyPr>
          <a:lstStyle/>
          <a:p>
            <a:pPr algn="l">
              <a:lnSpc>
                <a:spcPct val="126000"/>
              </a:lnSpc>
            </a:pPr>
            <a:r>
              <a:rPr sz="2400" b="1">
                <a:solidFill>
                  <a:srgbClr val="0F1519"/>
                </a:solidFill>
                <a:latin typeface="Quicksand Bold"/>
              </a:rPr>
              <a:t>Demonstração Guiada</a:t>
            </a:r>
          </a:p>
        </p:txBody>
      </p:sp>
      <p:sp>
        <p:nvSpPr>
          <p:cNvPr id="11" name="TextBox 10"/>
          <p:cNvSpPr txBox="1"/>
          <p:nvPr/>
        </p:nvSpPr>
        <p:spPr>
          <a:xfrm>
            <a:off x="2140942" y="2661761"/>
            <a:ext cx="232965" cy="304800"/>
          </a:xfrm>
          <a:prstGeom prst="rect">
            <a:avLst/>
          </a:prstGeom>
          <a:noFill/>
        </p:spPr>
        <p:txBody>
          <a:bodyPr wrap="square" lIns="0" tIns="0" rIns="0" bIns="0">
            <a:normAutofit/>
          </a:bodyPr>
          <a:lstStyle/>
          <a:p>
            <a:pPr algn="l">
              <a:lnSpc>
                <a:spcPct val="90000"/>
              </a:lnSpc>
            </a:pPr>
            <a:r>
              <a:rPr sz="2400" b="1">
                <a:solidFill>
                  <a:srgbClr val="111827"/>
                </a:solidFill>
                <a:latin typeface="Quicksand Bold"/>
              </a:rPr>
              <a:t>1</a:t>
            </a:r>
          </a:p>
        </p:txBody>
      </p:sp>
      <mc:AlternateContent xmlns:mc="http://schemas.openxmlformats.org/markup-compatibility/2006">
        <mc:Choice xmlns:a14="http://schemas.microsoft.com/office/drawing/2010/main" Requires="a14">
          <p:sp>
            <p:nvSpPr>
              <p:cNvPr id="12" name="TextBox 11"/>
              <p:cNvSpPr txBox="1"/>
              <p:nvPr/>
            </p:nvSpPr>
            <p:spPr>
              <a:xfrm>
                <a:off x="2743200" y="2385536"/>
                <a:ext cx="13811250" cy="1706562"/>
              </a:xfrm>
              <a:prstGeom prst="rect">
                <a:avLst/>
              </a:prstGeom>
              <a:noFill/>
            </p:spPr>
            <p:txBody>
              <a:bodyPr wrap="square" lIns="0" tIns="0" rIns="0" bIns="0">
                <a:normAutofit/>
              </a:bodyPr>
              <a:lstStyle/>
              <a:p>
                <a:pPr algn="l">
                  <a:lnSpc>
                    <a:spcPct val="126000"/>
                  </a:lnSpc>
                </a:pPr>
                <a:r>
                  <a:rPr sz="2400">
                    <a:solidFill>
                      <a:srgbClr val="0F1519"/>
                    </a:solidFill>
                    <a:latin typeface="Quicksand"/>
                  </a:rPr>
                  <a:t>Comece sempre com o sinal de igual (</a:t>
                </a:r>
                <a14:m>
                  <m:oMath xmlns:m="http://schemas.openxmlformats.org/officeDocument/2006/math">
                    <m:r>
                      <a:rPr sz="2160">
                        <a:solidFill>
                          <a:srgbClr val="0F1519"/>
                        </a:solidFill>
                        <a:latin typeface="Cambria Math" panose="02040503050406030204" pitchFamily="18" charset="0"/>
                      </a:rPr>
                      <m:t>=</m:t>
                    </m:r>
                  </m:oMath>
                </a14:m>
                <a:r>
                  <a:rPr sz="2400">
                    <a:solidFill>
                      <a:srgbClr val="0F1519"/>
                    </a:solidFill>
                    <a:latin typeface="Quicksand"/>
                  </a:rPr>
                  <a:t>). Isso é fundamental, pois qualquer coisa digitada sem ele será interpretada como texto ou um valor numérico fixo, e não como uma instrução que o software precisa calcular ou avaliar. O </a:t>
                </a:r>
                <a14:m>
                  <m:oMath xmlns:m="http://schemas.openxmlformats.org/officeDocument/2006/math">
                    <m:r>
                      <a:rPr sz="2160">
                        <a:solidFill>
                          <a:srgbClr val="0F1519"/>
                        </a:solidFill>
                        <a:latin typeface="Cambria Math" panose="02040503050406030204" pitchFamily="18" charset="0"/>
                      </a:rPr>
                      <m:t>=</m:t>
                    </m:r>
                  </m:oMath>
                </a14:m>
                <a:r>
                  <a:rPr sz="2400">
                    <a:solidFill>
                      <a:srgbClr val="0F1519"/>
                    </a:solidFill>
                    <a:latin typeface="Quicksand"/>
                  </a:rPr>
                  <a:t> 'avisa' o programa para preparar-se para uma operação.</a:t>
                </a:r>
              </a:p>
            </p:txBody>
          </p:sp>
        </mc:Choice>
        <mc:Fallback>
          <p:sp>
            <p:nvSpPr>
              <p:cNvPr id="12" name="TextBox 11"/>
              <p:cNvSpPr txBox="1">
                <a:spLocks noRot="1" noChangeAspect="1" noMove="1" noResize="1" noEditPoints="1" noAdjustHandles="1" noChangeArrowheads="1" noChangeShapeType="1" noTextEdit="1"/>
              </p:cNvSpPr>
              <p:nvPr/>
            </p:nvSpPr>
            <p:spPr>
              <a:xfrm>
                <a:off x="2743200" y="2385536"/>
                <a:ext cx="13811250" cy="1706562"/>
              </a:xfrm>
              <a:prstGeom prst="rect">
                <a:avLst/>
              </a:prstGeom>
              <a:blipFill>
                <a:blip r:embed="rId4"/>
                <a:stretch>
                  <a:fillRect l="-1324" t="-2143" b="-16786"/>
                </a:stretch>
              </a:blipFill>
            </p:spPr>
            <p:txBody>
              <a:bodyPr/>
              <a:lstStyle/>
              <a:p>
                <a:r>
                  <a:rPr lang="pt-BR">
                    <a:noFill/>
                  </a:rPr>
                  <a:t> </a:t>
                </a:r>
              </a:p>
            </p:txBody>
          </p:sp>
        </mc:Fallback>
      </mc:AlternateContent>
      <p:sp>
        <p:nvSpPr>
          <p:cNvPr id="13" name="TextBox 12"/>
          <p:cNvSpPr txBox="1"/>
          <p:nvPr/>
        </p:nvSpPr>
        <p:spPr>
          <a:xfrm>
            <a:off x="2113557" y="4749323"/>
            <a:ext cx="287734" cy="304800"/>
          </a:xfrm>
          <a:prstGeom prst="rect">
            <a:avLst/>
          </a:prstGeom>
          <a:noFill/>
        </p:spPr>
        <p:txBody>
          <a:bodyPr wrap="square" lIns="0" tIns="0" rIns="0" bIns="0">
            <a:normAutofit/>
          </a:bodyPr>
          <a:lstStyle/>
          <a:p>
            <a:pPr algn="l">
              <a:lnSpc>
                <a:spcPct val="90000"/>
              </a:lnSpc>
            </a:pPr>
            <a:r>
              <a:rPr sz="2400" b="1">
                <a:solidFill>
                  <a:srgbClr val="111827"/>
                </a:solidFill>
                <a:latin typeface="Quicksand Bold"/>
              </a:rPr>
              <a:t>2</a:t>
            </a:r>
          </a:p>
        </p:txBody>
      </p:sp>
      <mc:AlternateContent xmlns:mc="http://schemas.openxmlformats.org/markup-compatibility/2006">
        <mc:Choice xmlns:a14="http://schemas.microsoft.com/office/drawing/2010/main" Requires="a14">
          <p:sp>
            <p:nvSpPr>
              <p:cNvPr id="14" name="TextBox 13"/>
              <p:cNvSpPr txBox="1"/>
              <p:nvPr/>
            </p:nvSpPr>
            <p:spPr>
              <a:xfrm>
                <a:off x="2743200" y="4473098"/>
                <a:ext cx="13811250" cy="1706562"/>
              </a:xfrm>
              <a:prstGeom prst="rect">
                <a:avLst/>
              </a:prstGeom>
              <a:noFill/>
            </p:spPr>
            <p:txBody>
              <a:bodyPr wrap="square" lIns="0" tIns="0" rIns="0" bIns="0">
                <a:normAutofit/>
              </a:bodyPr>
              <a:lstStyle/>
              <a:p>
                <a:pPr algn="l">
                  <a:lnSpc>
                    <a:spcPct val="126000"/>
                  </a:lnSpc>
                </a:pPr>
                <a:r>
                  <a:rPr sz="2400">
                    <a:solidFill>
                      <a:srgbClr val="0F1519"/>
                    </a:solidFill>
                    <a:latin typeface="Quicksand"/>
                  </a:rPr>
                  <a:t>Compreenda a </a:t>
                </a:r>
                <a:r>
                  <a:rPr sz="2400" b="1">
                    <a:solidFill>
                      <a:srgbClr val="0F1519"/>
                    </a:solidFill>
                    <a:latin typeface="Quicksand Bold"/>
                  </a:rPr>
                  <a:t>Sintaxe Geral</a:t>
                </a:r>
                <a:r>
                  <a:rPr sz="2400">
                    <a:solidFill>
                      <a:srgbClr val="0F1519"/>
                    </a:solidFill>
                    <a:latin typeface="Quicksand"/>
                  </a:rPr>
                  <a:t> das funções: </a:t>
                </a:r>
                <a14:m>
                  <m:oMath xmlns:m="http://schemas.openxmlformats.org/officeDocument/2006/math">
                    <m:r>
                      <a:rPr sz="2160">
                        <a:solidFill>
                          <a:srgbClr val="0F1519"/>
                        </a:solidFill>
                        <a:latin typeface="Cambria Math" panose="02040503050406030204" pitchFamily="18" charset="0"/>
                      </a:rPr>
                      <m:t>=</m:t>
                    </m:r>
                    <m:r>
                      <m:rPr>
                        <m:nor/>
                      </m:rPr>
                      <a:rPr sz="2160">
                        <a:solidFill>
                          <a:srgbClr val="0F1519"/>
                        </a:solidFill>
                      </a:rPr>
                      <m:t>FUN</m:t>
                    </m:r>
                    <m:r>
                      <m:rPr>
                        <m:nor/>
                      </m:rPr>
                      <a:rPr sz="2160">
                        <a:solidFill>
                          <a:srgbClr val="0F1519"/>
                        </a:solidFill>
                      </a:rPr>
                      <m:t>ÇÃ</m:t>
                    </m:r>
                    <m:r>
                      <m:rPr>
                        <m:nor/>
                      </m:rPr>
                      <a:rPr sz="2160">
                        <a:solidFill>
                          <a:srgbClr val="0F1519"/>
                        </a:solidFill>
                      </a:rPr>
                      <m:t>O</m:t>
                    </m:r>
                    <m:r>
                      <a:rPr sz="2160">
                        <a:solidFill>
                          <a:srgbClr val="0F1519"/>
                        </a:solidFill>
                        <a:latin typeface="Cambria Math" panose="02040503050406030204" pitchFamily="18" charset="0"/>
                      </a:rPr>
                      <m:t>(</m:t>
                    </m:r>
                    <m:r>
                      <m:rPr>
                        <m:nor/>
                      </m:rPr>
                      <a:rPr sz="2160">
                        <a:solidFill>
                          <a:srgbClr val="0F1519"/>
                        </a:solidFill>
                      </a:rPr>
                      <m:t>argumento</m:t>
                    </m:r>
                    <m:r>
                      <m:rPr>
                        <m:nor/>
                      </m:rPr>
                      <a:rPr sz="2160">
                        <a:solidFill>
                          <a:srgbClr val="0F1519"/>
                        </a:solidFill>
                      </a:rPr>
                      <m:t>1</m:t>
                    </m:r>
                    <m:r>
                      <a:rPr sz="2160">
                        <a:solidFill>
                          <a:srgbClr val="0F1519"/>
                        </a:solidFill>
                        <a:latin typeface="Cambria Math" panose="02040503050406030204" pitchFamily="18" charset="0"/>
                      </a:rPr>
                      <m:t>;</m:t>
                    </m:r>
                    <m:r>
                      <m:rPr>
                        <m:nor/>
                      </m:rPr>
                      <a:rPr sz="2160">
                        <a:solidFill>
                          <a:srgbClr val="0F1519"/>
                        </a:solidFill>
                      </a:rPr>
                      <m:t>argumento</m:t>
                    </m:r>
                    <m:r>
                      <m:rPr>
                        <m:nor/>
                      </m:rPr>
                      <a:rPr sz="2160">
                        <a:solidFill>
                          <a:srgbClr val="0F1519"/>
                        </a:solidFill>
                      </a:rPr>
                      <m:t>2</m:t>
                    </m:r>
                    <m:r>
                      <a:rPr sz="2160">
                        <a:solidFill>
                          <a:srgbClr val="0F1519"/>
                        </a:solidFill>
                        <a:latin typeface="Cambria Math" panose="02040503050406030204" pitchFamily="18" charset="0"/>
                      </a:rPr>
                      <m:t>)</m:t>
                    </m:r>
                  </m:oMath>
                </a14:m>
                <a:r>
                  <a:rPr sz="2400">
                    <a:solidFill>
                      <a:srgbClr val="0F1519"/>
                    </a:solidFill>
                    <a:latin typeface="Quicksand"/>
                  </a:rPr>
                  <a:t>. Uma função é um comando pré-definido (como SOMA, MÉDIA, SE) que executa uma tarefa específica. Os </a:t>
                </a:r>
                <a:r>
                  <a:rPr sz="2400" i="1">
                    <a:solidFill>
                      <a:srgbClr val="0F1519"/>
                    </a:solidFill>
                    <a:latin typeface="Quicksand"/>
                  </a:rPr>
                  <a:t>argumentos</a:t>
                </a:r>
                <a:r>
                  <a:rPr sz="2400">
                    <a:solidFill>
                      <a:srgbClr val="0F1519"/>
                    </a:solidFill>
                    <a:latin typeface="Quicksand"/>
                  </a:rPr>
                  <a:t> são os dados ou referências de células que a função utilizará para sua operação, separados por ponto e vírgula (</a:t>
                </a:r>
                <a14:m>
                  <m:oMath xmlns:m="http://schemas.openxmlformats.org/officeDocument/2006/math">
                    <m:r>
                      <a:rPr sz="2160">
                        <a:solidFill>
                          <a:srgbClr val="0F1519"/>
                        </a:solidFill>
                        <a:latin typeface="Cambria Math" panose="02040503050406030204" pitchFamily="18" charset="0"/>
                      </a:rPr>
                      <m:t>;</m:t>
                    </m:r>
                  </m:oMath>
                </a14:m>
                <a:r>
                  <a:rPr sz="2400">
                    <a:solidFill>
                      <a:srgbClr val="0F1519"/>
                    </a:solidFill>
                    <a:latin typeface="Quicksand"/>
                  </a:rPr>
                  <a:t>).</a:t>
                </a:r>
              </a:p>
            </p:txBody>
          </p:sp>
        </mc:Choice>
        <mc:Fallback>
          <p:sp>
            <p:nvSpPr>
              <p:cNvPr id="14" name="TextBox 13"/>
              <p:cNvSpPr txBox="1">
                <a:spLocks noRot="1" noChangeAspect="1" noMove="1" noResize="1" noEditPoints="1" noAdjustHandles="1" noChangeArrowheads="1" noChangeShapeType="1" noTextEdit="1"/>
              </p:cNvSpPr>
              <p:nvPr/>
            </p:nvSpPr>
            <p:spPr>
              <a:xfrm>
                <a:off x="2743200" y="4473098"/>
                <a:ext cx="13811250" cy="1706562"/>
              </a:xfrm>
              <a:prstGeom prst="rect">
                <a:avLst/>
              </a:prstGeom>
              <a:blipFill>
                <a:blip r:embed="rId5"/>
                <a:stretch>
                  <a:fillRect l="-1324" t="-2500" b="-16429"/>
                </a:stretch>
              </a:blipFill>
            </p:spPr>
            <p:txBody>
              <a:bodyPr/>
              <a:lstStyle/>
              <a:p>
                <a:r>
                  <a:rPr lang="pt-BR">
                    <a:noFill/>
                  </a:rPr>
                  <a:t> </a:t>
                </a:r>
              </a:p>
            </p:txBody>
          </p:sp>
        </mc:Fallback>
      </mc:AlternateContent>
      <p:sp>
        <p:nvSpPr>
          <p:cNvPr id="15" name="TextBox 14"/>
          <p:cNvSpPr txBox="1"/>
          <p:nvPr/>
        </p:nvSpPr>
        <p:spPr>
          <a:xfrm>
            <a:off x="2118419" y="6836886"/>
            <a:ext cx="278010" cy="304800"/>
          </a:xfrm>
          <a:prstGeom prst="rect">
            <a:avLst/>
          </a:prstGeom>
          <a:noFill/>
        </p:spPr>
        <p:txBody>
          <a:bodyPr wrap="square" lIns="0" tIns="0" rIns="0" bIns="0">
            <a:normAutofit/>
          </a:bodyPr>
          <a:lstStyle/>
          <a:p>
            <a:pPr algn="l">
              <a:lnSpc>
                <a:spcPct val="90000"/>
              </a:lnSpc>
            </a:pPr>
            <a:r>
              <a:rPr sz="2400" b="1">
                <a:solidFill>
                  <a:srgbClr val="111827"/>
                </a:solidFill>
                <a:latin typeface="Quicksand Bold"/>
              </a:rPr>
              <a:t>3</a:t>
            </a:r>
          </a:p>
        </p:txBody>
      </p:sp>
      <mc:AlternateContent xmlns:mc="http://schemas.openxmlformats.org/markup-compatibility/2006">
        <mc:Choice xmlns:a14="http://schemas.microsoft.com/office/drawing/2010/main" Requires="a14">
          <p:sp>
            <p:nvSpPr>
              <p:cNvPr id="16" name="TextBox 15"/>
              <p:cNvSpPr txBox="1"/>
              <p:nvPr/>
            </p:nvSpPr>
            <p:spPr>
              <a:xfrm>
                <a:off x="2743200" y="6560661"/>
                <a:ext cx="13811250" cy="1706562"/>
              </a:xfrm>
              <a:prstGeom prst="rect">
                <a:avLst/>
              </a:prstGeom>
              <a:noFill/>
            </p:spPr>
            <p:txBody>
              <a:bodyPr wrap="square" lIns="0" tIns="0" rIns="0" bIns="0">
                <a:normAutofit/>
              </a:bodyPr>
              <a:lstStyle/>
              <a:p>
                <a:pPr algn="l">
                  <a:lnSpc>
                    <a:spcPct val="126000"/>
                  </a:lnSpc>
                </a:pPr>
                <a:r>
                  <a:rPr sz="2400">
                    <a:solidFill>
                      <a:srgbClr val="0F1519"/>
                    </a:solidFill>
                    <a:latin typeface="Quicksand"/>
                  </a:rPr>
                  <a:t>Observe o </a:t>
                </a:r>
                <a:r>
                  <a:rPr sz="2400" b="1">
                    <a:solidFill>
                      <a:srgbClr val="0F1519"/>
                    </a:solidFill>
                    <a:latin typeface="Quicksand Bold"/>
                  </a:rPr>
                  <a:t>Exemplo Prático de Soma</a:t>
                </a:r>
                <a:r>
                  <a:rPr sz="2400">
                    <a:solidFill>
                      <a:srgbClr val="0F1519"/>
                    </a:solidFill>
                    <a:latin typeface="Quicksand"/>
                  </a:rPr>
                  <a:t>: </a:t>
                </a:r>
                <a14:m>
                  <m:oMath xmlns:m="http://schemas.openxmlformats.org/officeDocument/2006/math">
                    <m:r>
                      <a:rPr sz="2160">
                        <a:solidFill>
                          <a:srgbClr val="0F1519"/>
                        </a:solidFill>
                        <a:latin typeface="Cambria Math" panose="02040503050406030204" pitchFamily="18" charset="0"/>
                      </a:rPr>
                      <m:t>=</m:t>
                    </m:r>
                    <m:r>
                      <m:rPr>
                        <m:nor/>
                      </m:rPr>
                      <a:rPr sz="2160">
                        <a:solidFill>
                          <a:srgbClr val="0F1519"/>
                        </a:solidFill>
                      </a:rPr>
                      <m:t>SOMA</m:t>
                    </m:r>
                    <m:r>
                      <a:rPr sz="2160">
                        <a:solidFill>
                          <a:srgbClr val="0F1519"/>
                        </a:solidFill>
                        <a:latin typeface="Cambria Math" panose="02040503050406030204" pitchFamily="18" charset="0"/>
                      </a:rPr>
                      <m:t>(</m:t>
                    </m:r>
                    <m:r>
                      <a:rPr sz="2160">
                        <a:solidFill>
                          <a:srgbClr val="0F1519"/>
                        </a:solidFill>
                        <a:latin typeface="Cambria Math" panose="02040503050406030204" pitchFamily="18" charset="0"/>
                      </a:rPr>
                      <m:t>𝐴</m:t>
                    </m:r>
                    <m:r>
                      <a:rPr sz="2160">
                        <a:solidFill>
                          <a:srgbClr val="0F1519"/>
                        </a:solidFill>
                        <a:latin typeface="Cambria Math" panose="02040503050406030204" pitchFamily="18" charset="0"/>
                      </a:rPr>
                      <m:t>1:</m:t>
                    </m:r>
                    <m:r>
                      <a:rPr sz="2160">
                        <a:solidFill>
                          <a:srgbClr val="0F1519"/>
                        </a:solidFill>
                        <a:latin typeface="Cambria Math" panose="02040503050406030204" pitchFamily="18" charset="0"/>
                      </a:rPr>
                      <m:t>𝐴</m:t>
                    </m:r>
                    <m:r>
                      <a:rPr sz="2160">
                        <a:solidFill>
                          <a:srgbClr val="0F1519"/>
                        </a:solidFill>
                        <a:latin typeface="Cambria Math" panose="02040503050406030204" pitchFamily="18" charset="0"/>
                      </a:rPr>
                      <m:t>10)</m:t>
                    </m:r>
                  </m:oMath>
                </a14:m>
                <a:r>
                  <a:rPr sz="2400">
                    <a:solidFill>
                      <a:srgbClr val="0F1519"/>
                    </a:solidFill>
                    <a:latin typeface="Quicksand"/>
                  </a:rPr>
                  <a:t>. Aqui, a função SOMA é utilizada para somar todos os valores contidos nas células do intervalo de A1 até A10. O intervalo </a:t>
                </a:r>
                <a14:m>
                  <m:oMath xmlns:m="http://schemas.openxmlformats.org/officeDocument/2006/math">
                    <m:r>
                      <a:rPr sz="2160">
                        <a:solidFill>
                          <a:srgbClr val="0F1519"/>
                        </a:solidFill>
                        <a:latin typeface="Cambria Math" panose="02040503050406030204" pitchFamily="18" charset="0"/>
                      </a:rPr>
                      <m:t>𝐴</m:t>
                    </m:r>
                    <m:r>
                      <a:rPr sz="2160">
                        <a:solidFill>
                          <a:srgbClr val="0F1519"/>
                        </a:solidFill>
                        <a:latin typeface="Cambria Math" panose="02040503050406030204" pitchFamily="18" charset="0"/>
                      </a:rPr>
                      <m:t>1:</m:t>
                    </m:r>
                    <m:r>
                      <a:rPr sz="2160">
                        <a:solidFill>
                          <a:srgbClr val="0F1519"/>
                        </a:solidFill>
                        <a:latin typeface="Cambria Math" panose="02040503050406030204" pitchFamily="18" charset="0"/>
                      </a:rPr>
                      <m:t>𝐴</m:t>
                    </m:r>
                    <m:r>
                      <a:rPr sz="2160">
                        <a:solidFill>
                          <a:srgbClr val="0F1519"/>
                        </a:solidFill>
                        <a:latin typeface="Cambria Math" panose="02040503050406030204" pitchFamily="18" charset="0"/>
                      </a:rPr>
                      <m:t>10</m:t>
                    </m:r>
                  </m:oMath>
                </a14:m>
                <a:r>
                  <a:rPr sz="2400">
                    <a:solidFill>
                      <a:srgbClr val="0F1519"/>
                    </a:solidFill>
                    <a:latin typeface="Quicksand"/>
                  </a:rPr>
                  <a:t> é o argumento que indica quais células devem ser incluídas na soma, economizando o trabalho de selecionar uma a uma.</a:t>
                </a:r>
              </a:p>
            </p:txBody>
          </p:sp>
        </mc:Choice>
        <mc:Fallback>
          <p:sp>
            <p:nvSpPr>
              <p:cNvPr id="16" name="TextBox 15"/>
              <p:cNvSpPr txBox="1">
                <a:spLocks noRot="1" noChangeAspect="1" noMove="1" noResize="1" noEditPoints="1" noAdjustHandles="1" noChangeArrowheads="1" noChangeShapeType="1" noTextEdit="1"/>
              </p:cNvSpPr>
              <p:nvPr/>
            </p:nvSpPr>
            <p:spPr>
              <a:xfrm>
                <a:off x="2743200" y="6560661"/>
                <a:ext cx="13811250" cy="1706562"/>
              </a:xfrm>
              <a:prstGeom prst="rect">
                <a:avLst/>
              </a:prstGeom>
              <a:blipFill>
                <a:blip r:embed="rId6"/>
                <a:stretch>
                  <a:fillRect l="-1324" t="-2143" b="-16786"/>
                </a:stretch>
              </a:blipFill>
            </p:spPr>
            <p:txBody>
              <a:bodyPr/>
              <a:lstStyle/>
              <a:p>
                <a:r>
                  <a:rPr lang="pt-BR">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2" name="Rounded Rectangle 1"/>
          <p:cNvSpPr/>
          <p:nvPr/>
        </p:nvSpPr>
        <p:spPr>
          <a:xfrm>
            <a:off x="1276350" y="2393076"/>
            <a:ext cx="15735299" cy="5866606"/>
          </a:xfrm>
          <a:prstGeom prst="roundRect">
            <a:avLst>
              <a:gd name="adj" fmla="val 1039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943100" y="2027316"/>
            <a:ext cx="4221857" cy="731519"/>
          </a:xfrm>
          <a:prstGeom prst="roundRect">
            <a:avLst>
              <a:gd name="adj" fmla="val 41666"/>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733550" y="3002676"/>
            <a:ext cx="857250" cy="857250"/>
          </a:xfrm>
          <a:prstGeom prst="roundRect">
            <a:avLst>
              <a:gd name="adj" fmla="val 3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733550" y="5516880"/>
            <a:ext cx="857250" cy="857250"/>
          </a:xfrm>
          <a:prstGeom prst="roundRect">
            <a:avLst>
              <a:gd name="adj" fmla="val 3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39410db8-7125-4742-b0a3-237b27ca6ae7.png"/>
          <p:cNvPicPr>
            <a:picLocks noChangeAspect="1"/>
          </p:cNvPicPr>
          <p:nvPr/>
        </p:nvPicPr>
        <p:blipFill>
          <a:blip r:embed="rId2"/>
          <a:stretch>
            <a:fillRect/>
          </a:stretch>
        </p:blipFill>
        <p:spPr>
          <a:xfrm>
            <a:off x="11687175" y="419100"/>
            <a:ext cx="6600825" cy="9867900"/>
          </a:xfrm>
          <a:prstGeom prst="rect">
            <a:avLst/>
          </a:prstGeom>
        </p:spPr>
      </p:pic>
      <p:pic>
        <p:nvPicPr>
          <p:cNvPr id="7" name="Picture 6" descr="2827fc99-2f3c-4911-84d5-5123d133be14.png"/>
          <p:cNvPicPr>
            <a:picLocks noChangeAspect="1"/>
          </p:cNvPicPr>
          <p:nvPr/>
        </p:nvPicPr>
        <p:blipFill>
          <a:blip r:embed="rId3"/>
          <a:stretch>
            <a:fillRect/>
          </a:stretch>
        </p:blipFill>
        <p:spPr>
          <a:xfrm>
            <a:off x="2171700" y="2240676"/>
            <a:ext cx="304800" cy="304800"/>
          </a:xfrm>
          <a:prstGeom prst="rect">
            <a:avLst/>
          </a:prstGeom>
        </p:spPr>
      </p:pic>
      <p:sp>
        <p:nvSpPr>
          <p:cNvPr id="9" name="TextBox 8"/>
          <p:cNvSpPr txBox="1"/>
          <p:nvPr/>
        </p:nvSpPr>
        <p:spPr>
          <a:xfrm>
            <a:off x="2628900" y="2160666"/>
            <a:ext cx="3402707" cy="426719"/>
          </a:xfrm>
          <a:prstGeom prst="rect">
            <a:avLst/>
          </a:prstGeom>
          <a:noFill/>
        </p:spPr>
        <p:txBody>
          <a:bodyPr wrap="square" lIns="0" tIns="0" rIns="0" bIns="0">
            <a:normAutofit/>
          </a:bodyPr>
          <a:lstStyle/>
          <a:p>
            <a:pPr algn="l">
              <a:lnSpc>
                <a:spcPct val="126000"/>
              </a:lnSpc>
            </a:pPr>
            <a:r>
              <a:rPr sz="2400" b="1">
                <a:solidFill>
                  <a:srgbClr val="0F1519"/>
                </a:solidFill>
                <a:latin typeface="Quicksand Bold"/>
              </a:rPr>
              <a:t>Demonstração Guiada</a:t>
            </a:r>
          </a:p>
        </p:txBody>
      </p:sp>
      <p:sp>
        <p:nvSpPr>
          <p:cNvPr id="10" name="TextBox 9"/>
          <p:cNvSpPr txBox="1"/>
          <p:nvPr/>
        </p:nvSpPr>
        <p:spPr>
          <a:xfrm>
            <a:off x="2110630" y="3278901"/>
            <a:ext cx="293588" cy="304800"/>
          </a:xfrm>
          <a:prstGeom prst="rect">
            <a:avLst/>
          </a:prstGeom>
          <a:noFill/>
        </p:spPr>
        <p:txBody>
          <a:bodyPr wrap="square" lIns="0" tIns="0" rIns="0" bIns="0">
            <a:normAutofit/>
          </a:bodyPr>
          <a:lstStyle/>
          <a:p>
            <a:pPr algn="l">
              <a:lnSpc>
                <a:spcPct val="90000"/>
              </a:lnSpc>
            </a:pPr>
            <a:r>
              <a:rPr sz="2400" b="1">
                <a:solidFill>
                  <a:srgbClr val="111827"/>
                </a:solidFill>
                <a:latin typeface="Quicksand Bold"/>
              </a:rPr>
              <a:t>4</a:t>
            </a:r>
          </a:p>
        </p:txBody>
      </p:sp>
      <mc:AlternateContent xmlns:mc="http://schemas.openxmlformats.org/markup-compatibility/2006">
        <mc:Choice xmlns:a14="http://schemas.microsoft.com/office/drawing/2010/main" Requires="a14">
          <p:sp>
            <p:nvSpPr>
              <p:cNvPr id="11" name="TextBox 10"/>
              <p:cNvSpPr txBox="1"/>
              <p:nvPr/>
            </p:nvSpPr>
            <p:spPr>
              <a:xfrm>
                <a:off x="2743200" y="3002676"/>
                <a:ext cx="13811250" cy="2133203"/>
              </a:xfrm>
              <a:prstGeom prst="rect">
                <a:avLst/>
              </a:prstGeom>
              <a:noFill/>
            </p:spPr>
            <p:txBody>
              <a:bodyPr wrap="square" lIns="0" tIns="0" rIns="0" bIns="0">
                <a:normAutofit/>
              </a:bodyPr>
              <a:lstStyle/>
              <a:p>
                <a:pPr algn="l">
                  <a:lnSpc>
                    <a:spcPct val="126000"/>
                  </a:lnSpc>
                </a:pPr>
                <a:r>
                  <a:rPr sz="2400">
                    <a:solidFill>
                      <a:srgbClr val="0F1519"/>
                    </a:solidFill>
                    <a:latin typeface="Quicksand"/>
                  </a:rPr>
                  <a:t>Analise o </a:t>
                </a:r>
                <a:r>
                  <a:rPr sz="2400" b="1">
                    <a:solidFill>
                      <a:srgbClr val="0F1519"/>
                    </a:solidFill>
                    <a:latin typeface="Quicksand Bold"/>
                  </a:rPr>
                  <a:t>Exemplo Prático de Lógica (SE)</a:t>
                </a:r>
                <a:r>
                  <a:rPr sz="2400">
                    <a:solidFill>
                      <a:srgbClr val="0F1519"/>
                    </a:solidFill>
                    <a:latin typeface="Quicksand"/>
                  </a:rPr>
                  <a:t>: </a:t>
                </a:r>
                <a14:m>
                  <m:oMath xmlns:m="http://schemas.openxmlformats.org/officeDocument/2006/math">
                    <m:r>
                      <a:rPr sz="2160">
                        <a:solidFill>
                          <a:srgbClr val="0F1519"/>
                        </a:solidFill>
                        <a:latin typeface="Cambria Math" panose="02040503050406030204" pitchFamily="18" charset="0"/>
                      </a:rPr>
                      <m:t>=</m:t>
                    </m:r>
                    <m:r>
                      <m:rPr>
                        <m:nor/>
                      </m:rPr>
                      <a:rPr sz="2160">
                        <a:solidFill>
                          <a:srgbClr val="0F1519"/>
                        </a:solidFill>
                      </a:rPr>
                      <m:t>SE</m:t>
                    </m:r>
                    <m:r>
                      <a:rPr sz="2160">
                        <a:solidFill>
                          <a:srgbClr val="0F1519"/>
                        </a:solidFill>
                        <a:latin typeface="Cambria Math" panose="02040503050406030204" pitchFamily="18" charset="0"/>
                      </a:rPr>
                      <m:t>(</m:t>
                    </m:r>
                    <m:r>
                      <a:rPr sz="2160">
                        <a:solidFill>
                          <a:srgbClr val="0F1519"/>
                        </a:solidFill>
                        <a:latin typeface="Cambria Math" panose="02040503050406030204" pitchFamily="18" charset="0"/>
                      </a:rPr>
                      <m:t>𝐵</m:t>
                    </m:r>
                    <m:r>
                      <a:rPr sz="2160">
                        <a:solidFill>
                          <a:srgbClr val="0F1519"/>
                        </a:solidFill>
                        <a:latin typeface="Cambria Math" panose="02040503050406030204" pitchFamily="18" charset="0"/>
                      </a:rPr>
                      <m:t>2&gt;=7;</m:t>
                    </m:r>
                  </m:oMath>
                </a14:m>
                <a:r>
                  <a:rPr sz="2400">
                    <a:solidFill>
                      <a:srgbClr val="0F1519"/>
                    </a:solidFill>
                    <a:latin typeface="Quicksand"/>
                  </a:rPr>
                  <a:t>. A função SE (If, em inglês) é uma função lógica que verifica uma condição. Se a condição (neste caso, se o valor da célula B2 é maior ou igual a 7) for verdadeira, o primeiro valor (Aprovado) é exibido; caso contrário, o segundo valor (Reprovado) é mostrado. Isso é essencial para decisões automatizadas.</a:t>
                </a:r>
              </a:p>
            </p:txBody>
          </p:sp>
        </mc:Choice>
        <mc:Fallback>
          <p:sp>
            <p:nvSpPr>
              <p:cNvPr id="11" name="TextBox 10"/>
              <p:cNvSpPr txBox="1">
                <a:spLocks noRot="1" noChangeAspect="1" noMove="1" noResize="1" noEditPoints="1" noAdjustHandles="1" noChangeArrowheads="1" noChangeShapeType="1" noTextEdit="1"/>
              </p:cNvSpPr>
              <p:nvPr/>
            </p:nvSpPr>
            <p:spPr>
              <a:xfrm>
                <a:off x="2743200" y="3002676"/>
                <a:ext cx="13811250" cy="2133203"/>
              </a:xfrm>
              <a:prstGeom prst="rect">
                <a:avLst/>
              </a:prstGeom>
              <a:blipFill>
                <a:blip r:embed="rId4"/>
                <a:stretch>
                  <a:fillRect l="-1324" t="-2006" r="-1059"/>
                </a:stretch>
              </a:blipFill>
            </p:spPr>
            <p:txBody>
              <a:bodyPr/>
              <a:lstStyle/>
              <a:p>
                <a:r>
                  <a:rPr lang="pt-BR">
                    <a:noFill/>
                  </a:rPr>
                  <a:t> </a:t>
                </a:r>
              </a:p>
            </p:txBody>
          </p:sp>
        </mc:Fallback>
      </mc:AlternateContent>
      <p:sp>
        <p:nvSpPr>
          <p:cNvPr id="12" name="TextBox 11"/>
          <p:cNvSpPr txBox="1"/>
          <p:nvPr/>
        </p:nvSpPr>
        <p:spPr>
          <a:xfrm>
            <a:off x="2112466" y="5793105"/>
            <a:ext cx="289917" cy="304800"/>
          </a:xfrm>
          <a:prstGeom prst="rect">
            <a:avLst/>
          </a:prstGeom>
          <a:noFill/>
        </p:spPr>
        <p:txBody>
          <a:bodyPr wrap="square" lIns="0" tIns="0" rIns="0" bIns="0">
            <a:normAutofit/>
          </a:bodyPr>
          <a:lstStyle/>
          <a:p>
            <a:pPr algn="l">
              <a:lnSpc>
                <a:spcPct val="90000"/>
              </a:lnSpc>
            </a:pPr>
            <a:r>
              <a:rPr sz="2400" b="1">
                <a:solidFill>
                  <a:srgbClr val="111827"/>
                </a:solidFill>
                <a:latin typeface="Quicksand Bold"/>
              </a:rPr>
              <a:t>5</a:t>
            </a:r>
          </a:p>
        </p:txBody>
      </p:sp>
      <mc:AlternateContent xmlns:mc="http://schemas.openxmlformats.org/markup-compatibility/2006">
        <mc:Choice xmlns:a14="http://schemas.microsoft.com/office/drawing/2010/main" Requires="a14">
          <p:sp>
            <p:nvSpPr>
              <p:cNvPr id="13" name="TextBox 12"/>
              <p:cNvSpPr txBox="1"/>
              <p:nvPr/>
            </p:nvSpPr>
            <p:spPr>
              <a:xfrm>
                <a:off x="2743200" y="5516880"/>
                <a:ext cx="13811250" cy="2133203"/>
              </a:xfrm>
              <a:prstGeom prst="rect">
                <a:avLst/>
              </a:prstGeom>
              <a:noFill/>
            </p:spPr>
            <p:txBody>
              <a:bodyPr wrap="square" lIns="0" tIns="0" rIns="0" bIns="0">
                <a:normAutofit/>
              </a:bodyPr>
              <a:lstStyle/>
              <a:p>
                <a:pPr algn="l">
                  <a:lnSpc>
                    <a:spcPct val="126000"/>
                  </a:lnSpc>
                </a:pPr>
                <a:r>
                  <a:rPr sz="2400">
                    <a:solidFill>
                      <a:srgbClr val="0F1519"/>
                    </a:solidFill>
                    <a:latin typeface="Quicksand"/>
                  </a:rPr>
                  <a:t>Utilize os </a:t>
                </a:r>
                <a:r>
                  <a:rPr sz="2400" b="1">
                    <a:solidFill>
                      <a:srgbClr val="0F1519"/>
                    </a:solidFill>
                    <a:latin typeface="Quicksand Bold"/>
                  </a:rPr>
                  <a:t>Operadores</a:t>
                </a:r>
                <a:r>
                  <a:rPr sz="2400">
                    <a:solidFill>
                      <a:srgbClr val="0F1519"/>
                    </a:solidFill>
                    <a:latin typeface="Quicksand"/>
                  </a:rPr>
                  <a:t> aritméticos: </a:t>
                </a:r>
                <a14:m>
                  <m:oMath xmlns:m="http://schemas.openxmlformats.org/officeDocument/2006/math">
                    <m:r>
                      <a:rPr sz="2160">
                        <a:solidFill>
                          <a:srgbClr val="0F1519"/>
                        </a:solidFill>
                        <a:latin typeface="Cambria Math" panose="02040503050406030204" pitchFamily="18" charset="0"/>
                      </a:rPr>
                      <m:t>+,−,&lt;</m:t>
                    </m:r>
                    <m:r>
                      <a:rPr sz="2160">
                        <a:solidFill>
                          <a:srgbClr val="0F1519"/>
                        </a:solidFill>
                        <a:latin typeface="Cambria Math" panose="02040503050406030204" pitchFamily="18" charset="0"/>
                      </a:rPr>
                      <m:t>𝑒𝑚</m:t>
                    </m:r>
                    <m:r>
                      <a:rPr sz="2160">
                        <a:solidFill>
                          <a:srgbClr val="0F1519"/>
                        </a:solidFill>
                        <a:latin typeface="Cambria Math" panose="02040503050406030204" pitchFamily="18" charset="0"/>
                      </a:rPr>
                      <m:t>&gt;,/</m:t>
                    </m:r>
                  </m:oMath>
                </a14:m>
                <a:r>
                  <a:rPr sz="2400">
                    <a:solidFill>
                      <a:srgbClr val="0F1519"/>
                    </a:solidFill>
                    <a:latin typeface="Quicksand"/>
                  </a:rPr>
                  <a:t> para adição, subtração, multiplicação e divisão, respectivamente, e  para potenciação. Esses operadores permitem construir expressões matemáticas diretamente nas células. Por exemplo, </a:t>
                </a:r>
                <a14:m>
                  <m:oMath xmlns:m="http://schemas.openxmlformats.org/officeDocument/2006/math">
                    <m:r>
                      <a:rPr sz="2160">
                        <a:solidFill>
                          <a:srgbClr val="0F1519"/>
                        </a:solidFill>
                        <a:latin typeface="Cambria Math" panose="02040503050406030204" pitchFamily="18" charset="0"/>
                      </a:rPr>
                      <m:t>=</m:t>
                    </m:r>
                    <m:r>
                      <a:rPr sz="2160">
                        <a:solidFill>
                          <a:srgbClr val="0F1519"/>
                        </a:solidFill>
                        <a:latin typeface="Cambria Math" panose="02040503050406030204" pitchFamily="18" charset="0"/>
                      </a:rPr>
                      <m:t>𝐴</m:t>
                    </m:r>
                    <m:r>
                      <a:rPr sz="2160">
                        <a:solidFill>
                          <a:srgbClr val="0F1519"/>
                        </a:solidFill>
                        <a:latin typeface="Cambria Math" panose="02040503050406030204" pitchFamily="18" charset="0"/>
                      </a:rPr>
                      <m:t>1&lt;/</m:t>
                    </m:r>
                    <m:r>
                      <a:rPr sz="2160">
                        <a:solidFill>
                          <a:srgbClr val="0F1519"/>
                        </a:solidFill>
                        <a:latin typeface="Cambria Math" panose="02040503050406030204" pitchFamily="18" charset="0"/>
                      </a:rPr>
                      <m:t>𝑒𝑚</m:t>
                    </m:r>
                    <m:r>
                      <a:rPr sz="2160">
                        <a:solidFill>
                          <a:srgbClr val="0F1519"/>
                        </a:solidFill>
                        <a:latin typeface="Cambria Math" panose="02040503050406030204" pitchFamily="18" charset="0"/>
                      </a:rPr>
                      <m:t>&gt;</m:t>
                    </m:r>
                    <m:r>
                      <a:rPr sz="2160">
                        <a:solidFill>
                          <a:srgbClr val="0F1519"/>
                        </a:solidFill>
                        <a:latin typeface="Cambria Math" panose="02040503050406030204" pitchFamily="18" charset="0"/>
                      </a:rPr>
                      <m:t>𝐵</m:t>
                    </m:r>
                    <m:r>
                      <a:rPr sz="2160">
                        <a:solidFill>
                          <a:srgbClr val="0F1519"/>
                        </a:solidFill>
                        <a:latin typeface="Cambria Math" panose="02040503050406030204" pitchFamily="18" charset="0"/>
                      </a:rPr>
                      <m:t>1</m:t>
                    </m:r>
                  </m:oMath>
                </a14:m>
                <a:r>
                  <a:rPr sz="2400">
                    <a:solidFill>
                      <a:srgbClr val="0F1519"/>
                    </a:solidFill>
                    <a:latin typeface="Quicksand"/>
                  </a:rPr>
                  <a:t> multiplica o conteúdo de A1 por B1, e </a:t>
                </a:r>
                <a14:m>
                  <m:oMath xmlns:m="http://schemas.openxmlformats.org/officeDocument/2006/math">
                    <m:r>
                      <a:rPr sz="2160">
                        <a:solidFill>
                          <a:srgbClr val="0F1519"/>
                        </a:solidFill>
                        <a:latin typeface="Cambria Math" panose="02040503050406030204" pitchFamily="18" charset="0"/>
                      </a:rPr>
                      <m:t>=</m:t>
                    </m:r>
                    <m:r>
                      <a:rPr sz="2160">
                        <a:solidFill>
                          <a:srgbClr val="0F1519"/>
                        </a:solidFill>
                        <a:latin typeface="Cambria Math" panose="02040503050406030204" pitchFamily="18" charset="0"/>
                      </a:rPr>
                      <m:t>𝐶</m:t>
                    </m:r>
                    <m:sSup>
                      <m:sSupPr>
                        <m:ctrlPr>
                          <a:rPr sz="2160" i="1">
                            <a:solidFill>
                              <a:srgbClr val="0F1519"/>
                            </a:solidFill>
                            <a:latin typeface="Cambria Math" panose="02040503050406030204" pitchFamily="18" charset="0"/>
                          </a:rPr>
                        </m:ctrlPr>
                      </m:sSupPr>
                      <m:e>
                        <m:r>
                          <a:rPr sz="2160">
                            <a:solidFill>
                              <a:srgbClr val="0F1519"/>
                            </a:solidFill>
                            <a:latin typeface="Cambria Math" panose="02040503050406030204" pitchFamily="18" charset="0"/>
                          </a:rPr>
                          <m:t>1</m:t>
                        </m:r>
                      </m:e>
                      <m:sup>
                        <m:r>
                          <a:rPr sz="2160">
                            <a:solidFill>
                              <a:srgbClr val="0F1519"/>
                            </a:solidFill>
                            <a:latin typeface="Cambria Math" panose="02040503050406030204" pitchFamily="18" charset="0"/>
                          </a:rPr>
                          <m:t>2</m:t>
                        </m:r>
                      </m:sup>
                    </m:sSup>
                  </m:oMath>
                </a14:m>
                <a:r>
                  <a:rPr sz="2400">
                    <a:solidFill>
                      <a:srgbClr val="0F1519"/>
                    </a:solidFill>
                    <a:latin typeface="Quicksand"/>
                  </a:rPr>
                  <a:t> eleva o valor de C1 ao quadrado, sendo a base para qualquer cálculo numérico em planilhas.</a:t>
                </a:r>
              </a:p>
            </p:txBody>
          </p:sp>
        </mc:Choice>
        <mc:Fallback>
          <p:sp>
            <p:nvSpPr>
              <p:cNvPr id="13" name="TextBox 12"/>
              <p:cNvSpPr txBox="1">
                <a:spLocks noRot="1" noChangeAspect="1" noMove="1" noResize="1" noEditPoints="1" noAdjustHandles="1" noChangeArrowheads="1" noChangeShapeType="1" noTextEdit="1"/>
              </p:cNvSpPr>
              <p:nvPr/>
            </p:nvSpPr>
            <p:spPr>
              <a:xfrm>
                <a:off x="2743200" y="5516880"/>
                <a:ext cx="13811250" cy="2133203"/>
              </a:xfrm>
              <a:prstGeom prst="rect">
                <a:avLst/>
              </a:prstGeom>
              <a:blipFill>
                <a:blip r:embed="rId5"/>
                <a:stretch>
                  <a:fillRect l="-1324" t="-1714" b="-14571"/>
                </a:stretch>
              </a:blipFill>
            </p:spPr>
            <p:txBody>
              <a:bodyPr/>
              <a:lstStyle/>
              <a:p>
                <a:r>
                  <a:rPr lang="pt-BR">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ea5cf1b7-12f1-4514-82ca-b27e1e1e70cc.png"/>
          <p:cNvPicPr>
            <a:picLocks noChangeAspect="1"/>
          </p:cNvPicPr>
          <p:nvPr/>
        </p:nvPicPr>
        <p:blipFill>
          <a:blip r:embed="rId2"/>
          <a:stretch>
            <a:fillRect/>
          </a:stretch>
        </p:blipFill>
        <p:spPr>
          <a:xfrm>
            <a:off x="1676400" y="1638299"/>
            <a:ext cx="621982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Configuração de Tabela Dinâmica para organizar e agregar dados.</a:t>
            </a:r>
          </a:p>
        </p:txBody>
      </p:sp>
      <p:sp>
        <p:nvSpPr>
          <p:cNvPr id="5" name="TextBox 4"/>
          <p:cNvSpPr txBox="1"/>
          <p:nvPr/>
        </p:nvSpPr>
        <p:spPr>
          <a:xfrm>
            <a:off x="9639300" y="1790700"/>
            <a:ext cx="7362824" cy="2577405"/>
          </a:xfrm>
          <a:prstGeom prst="rect">
            <a:avLst/>
          </a:prstGeom>
          <a:noFill/>
        </p:spPr>
        <p:txBody>
          <a:bodyPr wrap="square" lIns="0" tIns="0" rIns="0" bIns="0">
            <a:normAutofit/>
          </a:bodyPr>
          <a:lstStyle/>
          <a:p>
            <a:pPr algn="l">
              <a:lnSpc>
                <a:spcPct val="99000"/>
              </a:lnSpc>
            </a:pPr>
            <a:r>
              <a:rPr sz="6150" b="1">
                <a:solidFill>
                  <a:srgbClr val="FFFFFF"/>
                </a:solidFill>
                <a:latin typeface="Quicksand Bold"/>
              </a:rPr>
              <a:t>Organização de Dados para Planilhas</a:t>
            </a:r>
          </a:p>
        </p:txBody>
      </p:sp>
      <p:sp>
        <p:nvSpPr>
          <p:cNvPr id="6" name="TextBox 5"/>
          <p:cNvSpPr txBox="1"/>
          <p:nvPr/>
        </p:nvSpPr>
        <p:spPr>
          <a:xfrm>
            <a:off x="9639300" y="4672905"/>
            <a:ext cx="7362824" cy="3479899"/>
          </a:xfrm>
          <a:prstGeom prst="rect">
            <a:avLst/>
          </a:prstGeom>
          <a:noFill/>
        </p:spPr>
        <p:txBody>
          <a:bodyPr wrap="square" lIns="0" tIns="0" rIns="0" bIns="0">
            <a:normAutofit/>
          </a:bodyPr>
          <a:lstStyle/>
          <a:p>
            <a:pPr algn="l">
              <a:buChar char="•"/>
            </a:pPr>
            <a:r>
              <a:rPr sz="2175">
                <a:latin typeface="Quicksand"/>
              </a:rPr>
              <a:t>  </a:t>
            </a:r>
            <a:r>
              <a:rPr sz="2175" b="1">
                <a:solidFill>
                  <a:srgbClr val="FFFFFF"/>
                </a:solidFill>
                <a:latin typeface="Quicksand Bold"/>
              </a:rPr>
              <a:t>Cabeçalhos Claros</a:t>
            </a:r>
            <a:r>
              <a:rPr sz="2175">
                <a:solidFill>
                  <a:srgbClr val="FFFFFF"/>
                </a:solidFill>
                <a:latin typeface="Quicksand"/>
              </a:rPr>
              <a:t>: É fundamental que a primeira linha da sua planilha contenha nomes descritivos e únicos para cada coluna, como 'Nome do Aluno', 'Data de Entrega' ou 'Valor Final', facilitando a identificação e o uso dos dados.</a:t>
            </a:r>
          </a:p>
          <a:p>
            <a:pPr algn="l">
              <a:lnSpc>
                <a:spcPct val="126000"/>
              </a:lnSpc>
              <a:spcBef>
                <a:spcPts val="1359"/>
              </a:spcBef>
              <a:buChar char="•"/>
            </a:pPr>
            <a:r>
              <a:rPr sz="2175">
                <a:latin typeface="Quicksand"/>
              </a:rPr>
              <a:t>  </a:t>
            </a:r>
            <a:r>
              <a:rPr sz="2175" b="1">
                <a:solidFill>
                  <a:srgbClr val="FFFFFF"/>
                </a:solidFill>
                <a:latin typeface="Quicksand Bold"/>
              </a:rPr>
              <a:t>Consistência de Tipos</a:t>
            </a:r>
            <a:r>
              <a:rPr sz="2175">
                <a:solidFill>
                  <a:srgbClr val="FFFFFF"/>
                </a:solidFill>
                <a:latin typeface="Quicksand"/>
              </a:rPr>
              <a:t>: Mantenha a homogeneidade nos tipos de dados dentro de cada coluna; por exemplo, uma coluna dedicada a números não deve conter texto, pois isso pode inviabilizar cálculos e a aplicação de fórmulas.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ea5cf1b7-12f1-4514-82ca-b27e1e1e70cc.png"/>
          <p:cNvPicPr>
            <a:picLocks noChangeAspect="1"/>
          </p:cNvPicPr>
          <p:nvPr/>
        </p:nvPicPr>
        <p:blipFill>
          <a:blip r:embed="rId2"/>
          <a:stretch>
            <a:fillRect/>
          </a:stretch>
        </p:blipFill>
        <p:spPr>
          <a:xfrm>
            <a:off x="1676400" y="1638299"/>
            <a:ext cx="621982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Configuração de Tabela Dinâmica para organizar e agregar dados.</a:t>
            </a:r>
          </a:p>
        </p:txBody>
      </p:sp>
      <p:sp>
        <p:nvSpPr>
          <p:cNvPr id="5" name="TextBox 4"/>
          <p:cNvSpPr txBox="1"/>
          <p:nvPr/>
        </p:nvSpPr>
        <p:spPr>
          <a:xfrm>
            <a:off x="9639300" y="1790700"/>
            <a:ext cx="7362824" cy="2577405"/>
          </a:xfrm>
          <a:prstGeom prst="rect">
            <a:avLst/>
          </a:prstGeom>
          <a:noFill/>
        </p:spPr>
        <p:txBody>
          <a:bodyPr wrap="square" lIns="0" tIns="0" rIns="0" bIns="0">
            <a:normAutofit/>
          </a:bodyPr>
          <a:lstStyle/>
          <a:p>
            <a:pPr algn="l">
              <a:lnSpc>
                <a:spcPct val="99000"/>
              </a:lnSpc>
            </a:pPr>
            <a:r>
              <a:rPr sz="6150" b="1">
                <a:solidFill>
                  <a:srgbClr val="FFFFFF"/>
                </a:solidFill>
                <a:latin typeface="Quicksand Bold"/>
              </a:rPr>
              <a:t>Organização de Dados para Planilhas</a:t>
            </a:r>
          </a:p>
        </p:txBody>
      </p:sp>
      <p:sp>
        <p:nvSpPr>
          <p:cNvPr id="6" name="TextBox 5"/>
          <p:cNvSpPr txBox="1"/>
          <p:nvPr/>
        </p:nvSpPr>
        <p:spPr>
          <a:xfrm>
            <a:off x="9639300" y="4672905"/>
            <a:ext cx="7362824" cy="3866554"/>
          </a:xfrm>
          <a:prstGeom prst="rect">
            <a:avLst/>
          </a:prstGeom>
          <a:noFill/>
        </p:spPr>
        <p:txBody>
          <a:bodyPr wrap="square" lIns="0" tIns="0" rIns="0" bIns="0">
            <a:normAutofit/>
          </a:bodyPr>
          <a:lstStyle/>
          <a:p>
            <a:pPr algn="l">
              <a:buChar char="•"/>
            </a:pPr>
            <a:r>
              <a:rPr sz="2175">
                <a:latin typeface="Quicksand"/>
              </a:rPr>
              <a:t>  </a:t>
            </a:r>
            <a:r>
              <a:rPr sz="2175" b="1">
                <a:solidFill>
                  <a:srgbClr val="FFFFFF"/>
                </a:solidFill>
                <a:latin typeface="Quicksand Bold"/>
              </a:rPr>
              <a:t>Filtros e Classificação</a:t>
            </a:r>
            <a:r>
              <a:rPr sz="2175">
                <a:solidFill>
                  <a:srgbClr val="FFFFFF"/>
                </a:solidFill>
                <a:latin typeface="Quicksand"/>
              </a:rPr>
              <a:t>: Utilize as funcionalidades de filtro para examinar rapidamente subconjuntos específicos de seus dados e a classificação para organizá-los em ordens ascendente ou descendente, sem alterar a estrutura original da planilha.</a:t>
            </a:r>
          </a:p>
          <a:p>
            <a:pPr algn="l">
              <a:lnSpc>
                <a:spcPct val="126000"/>
              </a:lnSpc>
              <a:spcBef>
                <a:spcPts val="1359"/>
              </a:spcBef>
              <a:buChar char="•"/>
            </a:pPr>
            <a:r>
              <a:rPr sz="2175">
                <a:latin typeface="Quicksand"/>
              </a:rPr>
              <a:t>  </a:t>
            </a:r>
            <a:r>
              <a:rPr sz="2175" b="1">
                <a:solidFill>
                  <a:srgbClr val="FFFFFF"/>
                </a:solidFill>
                <a:latin typeface="Quicksand Bold"/>
              </a:rPr>
              <a:t>Validação de Dados</a:t>
            </a:r>
            <a:r>
              <a:rPr sz="2175">
                <a:solidFill>
                  <a:srgbClr val="FFFFFF"/>
                </a:solidFill>
                <a:latin typeface="Quicksand"/>
              </a:rPr>
              <a:t>: Implemente regras de validação para restringir os valores que podem ser inseridos em células específicas, como permitir apenas números inteiros em uma coluna de 'Quantidade' ou datas válidas, prevenindo erros de digitação e inconsistências.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ea5cf1b7-12f1-4514-82ca-b27e1e1e70cc.png"/>
          <p:cNvPicPr>
            <a:picLocks noChangeAspect="1"/>
          </p:cNvPicPr>
          <p:nvPr/>
        </p:nvPicPr>
        <p:blipFill>
          <a:blip r:embed="rId2"/>
          <a:stretch>
            <a:fillRect/>
          </a:stretch>
        </p:blipFill>
        <p:spPr>
          <a:xfrm>
            <a:off x="1676400" y="1638299"/>
            <a:ext cx="621982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Configuração de Tabela Dinâmica para organizar e agregar dados.</a:t>
            </a:r>
          </a:p>
        </p:txBody>
      </p:sp>
      <p:sp>
        <p:nvSpPr>
          <p:cNvPr id="5" name="TextBox 4"/>
          <p:cNvSpPr txBox="1"/>
          <p:nvPr/>
        </p:nvSpPr>
        <p:spPr>
          <a:xfrm>
            <a:off x="9639300" y="1790700"/>
            <a:ext cx="7362824" cy="2577405"/>
          </a:xfrm>
          <a:prstGeom prst="rect">
            <a:avLst/>
          </a:prstGeom>
          <a:noFill/>
        </p:spPr>
        <p:txBody>
          <a:bodyPr wrap="square" lIns="0" tIns="0" rIns="0" bIns="0">
            <a:normAutofit/>
          </a:bodyPr>
          <a:lstStyle/>
          <a:p>
            <a:pPr algn="l">
              <a:lnSpc>
                <a:spcPct val="99000"/>
              </a:lnSpc>
            </a:pPr>
            <a:r>
              <a:rPr sz="6150" b="1">
                <a:solidFill>
                  <a:srgbClr val="FFFFFF"/>
                </a:solidFill>
                <a:latin typeface="Quicksand Bold"/>
              </a:rPr>
              <a:t>Organização de Dados para Planilhas</a:t>
            </a:r>
          </a:p>
        </p:txBody>
      </p:sp>
      <p:sp>
        <p:nvSpPr>
          <p:cNvPr id="6" name="TextBox 5"/>
          <p:cNvSpPr txBox="1"/>
          <p:nvPr/>
        </p:nvSpPr>
        <p:spPr>
          <a:xfrm>
            <a:off x="9639300" y="4672905"/>
            <a:ext cx="7362824" cy="1933277"/>
          </a:xfrm>
          <a:prstGeom prst="rect">
            <a:avLst/>
          </a:prstGeom>
          <a:noFill/>
        </p:spPr>
        <p:txBody>
          <a:bodyPr wrap="square" lIns="0" tIns="0" rIns="0" bIns="0">
            <a:normAutofit/>
          </a:bodyPr>
          <a:lstStyle/>
          <a:p>
            <a:pPr algn="l">
              <a:buChar char="•"/>
            </a:pPr>
            <a:r>
              <a:rPr sz="2175">
                <a:latin typeface="Quicksand"/>
              </a:rPr>
              <a:t>  </a:t>
            </a:r>
            <a:r>
              <a:rPr sz="2175" b="1">
                <a:solidFill>
                  <a:srgbClr val="FFFFFF"/>
                </a:solidFill>
                <a:latin typeface="Quicksand Bold"/>
              </a:rPr>
              <a:t>Congelamento de Painéis</a:t>
            </a:r>
            <a:r>
              <a:rPr sz="2175">
                <a:solidFill>
                  <a:srgbClr val="FFFFFF"/>
                </a:solidFill>
                <a:latin typeface="Quicksand"/>
              </a:rPr>
              <a:t>: Para facilitar a navegação em grandes conjuntos de dados, congele as linhas de cabeçalho e/ou as primeiras colunas, garantindo que elas permaneçam visíveis enquanto você rola pela planilha.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d7c68553-57d0-42e7-92e0-57a7ad15401e.png"/>
          <p:cNvPicPr>
            <a:picLocks noChangeAspect="1"/>
          </p:cNvPicPr>
          <p:nvPr/>
        </p:nvPicPr>
        <p:blipFill>
          <a:blip r:embed="rId2"/>
          <a:stretch>
            <a:fillRect/>
          </a:stretch>
        </p:blipFill>
        <p:spPr>
          <a:xfrm>
            <a:off x="2044065" y="3524250"/>
            <a:ext cx="609600" cy="609600"/>
          </a:xfrm>
          <a:prstGeom prst="rect">
            <a:avLst/>
          </a:prstGeom>
        </p:spPr>
      </p:pic>
      <p:pic>
        <p:nvPicPr>
          <p:cNvPr id="3" name="Picture 2" descr="f116727f-69fc-4f24-9042-d6b8edad05b1.png"/>
          <p:cNvPicPr>
            <a:picLocks noChangeAspect="1"/>
          </p:cNvPicPr>
          <p:nvPr/>
        </p:nvPicPr>
        <p:blipFill>
          <a:blip r:embed="rId3"/>
          <a:stretch>
            <a:fillRect/>
          </a:stretch>
        </p:blipFill>
        <p:spPr>
          <a:xfrm>
            <a:off x="9334499" y="3524250"/>
            <a:ext cx="609600" cy="609600"/>
          </a:xfrm>
          <a:prstGeom prst="rect">
            <a:avLst/>
          </a:prstGeom>
        </p:spPr>
      </p:pic>
      <p:sp>
        <p:nvSpPr>
          <p:cNvPr id="5" name="TextBox 4"/>
          <p:cNvSpPr txBox="1"/>
          <p:nvPr/>
        </p:nvSpPr>
        <p:spPr>
          <a:xfrm>
            <a:off x="1276350" y="1276350"/>
            <a:ext cx="15716250" cy="1676400"/>
          </a:xfrm>
          <a:prstGeom prst="rect">
            <a:avLst/>
          </a:prstGeom>
          <a:noFill/>
        </p:spPr>
        <p:txBody>
          <a:bodyPr wrap="square" lIns="0" tIns="0" rIns="0" bIns="0">
            <a:normAutofit/>
          </a:bodyPr>
          <a:lstStyle/>
          <a:p>
            <a:pPr algn="ctr">
              <a:lnSpc>
                <a:spcPct val="99000"/>
              </a:lnSpc>
            </a:pPr>
            <a:r>
              <a:rPr sz="6000" b="1">
                <a:solidFill>
                  <a:srgbClr val="FFFFFF"/>
                </a:solidFill>
                <a:latin typeface="Quicksand Bold"/>
              </a:rPr>
              <a:t>Design Visual para Apresentações de Alto Impacto</a:t>
            </a:r>
          </a:p>
        </p:txBody>
      </p:sp>
      <p:sp>
        <p:nvSpPr>
          <p:cNvPr id="6" name="TextBox 5"/>
          <p:cNvSpPr txBox="1"/>
          <p:nvPr/>
        </p:nvSpPr>
        <p:spPr>
          <a:xfrm>
            <a:off x="2044065" y="4324349"/>
            <a:ext cx="6528434" cy="388540"/>
          </a:xfrm>
          <a:prstGeom prst="rect">
            <a:avLst/>
          </a:prstGeom>
          <a:noFill/>
        </p:spPr>
        <p:txBody>
          <a:bodyPr wrap="square" lIns="0" tIns="0" rIns="0" bIns="0">
            <a:normAutofit/>
          </a:bodyPr>
          <a:lstStyle/>
          <a:p>
            <a:pPr algn="l">
              <a:lnSpc>
                <a:spcPct val="108000"/>
              </a:lnSpc>
            </a:pPr>
            <a:r>
              <a:rPr sz="2550" b="1">
                <a:solidFill>
                  <a:srgbClr val="FFFFFF"/>
                </a:solidFill>
                <a:latin typeface="Quicksand Bold"/>
              </a:rPr>
              <a:t>Contraste Visual</a:t>
            </a:r>
          </a:p>
        </p:txBody>
      </p:sp>
      <p:sp>
        <p:nvSpPr>
          <p:cNvPr id="7" name="TextBox 6"/>
          <p:cNvSpPr txBox="1"/>
          <p:nvPr/>
        </p:nvSpPr>
        <p:spPr>
          <a:xfrm>
            <a:off x="2044065" y="4855765"/>
            <a:ext cx="6528434" cy="2333624"/>
          </a:xfrm>
          <a:prstGeom prst="rect">
            <a:avLst/>
          </a:prstGeom>
          <a:noFill/>
        </p:spPr>
        <p:txBody>
          <a:bodyPr wrap="square" lIns="0" tIns="0" rIns="0" bIns="0">
            <a:normAutofit/>
          </a:bodyPr>
          <a:lstStyle/>
          <a:p>
            <a:pPr algn="l">
              <a:lnSpc>
                <a:spcPct val="126000"/>
              </a:lnSpc>
            </a:pPr>
            <a:r>
              <a:rPr sz="1875">
                <a:solidFill>
                  <a:srgbClr val="FFFFFF"/>
                </a:solidFill>
                <a:latin typeface="Quicksand"/>
              </a:rPr>
              <a:t>O princípio do </a:t>
            </a:r>
            <a:r>
              <a:rPr sz="1875" b="1">
                <a:solidFill>
                  <a:srgbClr val="FFFFFF"/>
                </a:solidFill>
                <a:latin typeface="Quicksand Bold"/>
              </a:rPr>
              <a:t>contraste</a:t>
            </a:r>
            <a:r>
              <a:rPr sz="1875">
                <a:solidFill>
                  <a:srgbClr val="FFFFFF"/>
                </a:solidFill>
                <a:latin typeface="Quicksand"/>
              </a:rPr>
              <a:t> é fundamental para a legibilidade e o destaque de informações cruciais. Ele envolve o uso de cores opostas ou tons que se diferenciam fortemente para realçar elementos importantes, como texto escuro em um fundo claro. Isso garante que a audiência possa facilmente distinguir e focar nas partes mais relevantes do slide, evitando a sobrecarga visual.</a:t>
            </a:r>
          </a:p>
        </p:txBody>
      </p:sp>
      <p:sp>
        <p:nvSpPr>
          <p:cNvPr id="8" name="TextBox 7"/>
          <p:cNvSpPr txBox="1"/>
          <p:nvPr/>
        </p:nvSpPr>
        <p:spPr>
          <a:xfrm>
            <a:off x="9334499" y="4324349"/>
            <a:ext cx="6528434" cy="388540"/>
          </a:xfrm>
          <a:prstGeom prst="rect">
            <a:avLst/>
          </a:prstGeom>
          <a:noFill/>
        </p:spPr>
        <p:txBody>
          <a:bodyPr wrap="square" lIns="0" tIns="0" rIns="0" bIns="0">
            <a:normAutofit/>
          </a:bodyPr>
          <a:lstStyle/>
          <a:p>
            <a:pPr algn="l">
              <a:lnSpc>
                <a:spcPct val="108000"/>
              </a:lnSpc>
            </a:pPr>
            <a:r>
              <a:rPr sz="2550" b="1">
                <a:solidFill>
                  <a:srgbClr val="FFFFFF"/>
                </a:solidFill>
                <a:latin typeface="Quicksand Bold"/>
              </a:rPr>
              <a:t>Alinhamento Preciso</a:t>
            </a:r>
          </a:p>
        </p:txBody>
      </p:sp>
      <p:sp>
        <p:nvSpPr>
          <p:cNvPr id="9" name="TextBox 8"/>
          <p:cNvSpPr txBox="1"/>
          <p:nvPr/>
        </p:nvSpPr>
        <p:spPr>
          <a:xfrm>
            <a:off x="9334499" y="4855765"/>
            <a:ext cx="6528434" cy="2333624"/>
          </a:xfrm>
          <a:prstGeom prst="rect">
            <a:avLst/>
          </a:prstGeom>
          <a:noFill/>
        </p:spPr>
        <p:txBody>
          <a:bodyPr wrap="square" lIns="0" tIns="0" rIns="0" bIns="0">
            <a:normAutofit/>
          </a:bodyPr>
          <a:lstStyle/>
          <a:p>
            <a:pPr algn="l">
              <a:lnSpc>
                <a:spcPct val="126000"/>
              </a:lnSpc>
            </a:pPr>
            <a:r>
              <a:rPr sz="1875">
                <a:solidFill>
                  <a:srgbClr val="FFFFFF"/>
                </a:solidFill>
                <a:latin typeface="Quicksand"/>
              </a:rPr>
              <a:t>O </a:t>
            </a:r>
            <a:r>
              <a:rPr sz="1875" b="1">
                <a:solidFill>
                  <a:srgbClr val="FFFFFF"/>
                </a:solidFill>
                <a:latin typeface="Quicksand Bold"/>
              </a:rPr>
              <a:t>alinhamento</a:t>
            </a:r>
            <a:r>
              <a:rPr sz="1875">
                <a:solidFill>
                  <a:srgbClr val="FFFFFF"/>
                </a:solidFill>
                <a:latin typeface="Quicksand"/>
              </a:rPr>
              <a:t> refere-se à organização dos elementos na tela de forma intencional e não arbitrária. Ao alinhar textos, imagens e formas, você cria uma conexão visual entre eles, transmitindo uma sensação de organização e profissionalismo. Um bom alinhamento contribui para uma apresentação visualmente agradável e fácil de seguir, guiando o olhar do público pela informação.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8956381d-afdf-499e-9b50-2636bddb8dd9.png"/>
          <p:cNvPicPr>
            <a:picLocks noChangeAspect="1"/>
          </p:cNvPicPr>
          <p:nvPr/>
        </p:nvPicPr>
        <p:blipFill>
          <a:blip r:embed="rId2"/>
          <a:stretch>
            <a:fillRect/>
          </a:stretch>
        </p:blipFill>
        <p:spPr>
          <a:xfrm>
            <a:off x="2044065" y="3524250"/>
            <a:ext cx="609600" cy="609600"/>
          </a:xfrm>
          <a:prstGeom prst="rect">
            <a:avLst/>
          </a:prstGeom>
        </p:spPr>
      </p:pic>
      <p:pic>
        <p:nvPicPr>
          <p:cNvPr id="3" name="Picture 2" descr="ecc6bdf0-5563-4c6e-b38a-c6483f0ec774.png"/>
          <p:cNvPicPr>
            <a:picLocks noChangeAspect="1"/>
          </p:cNvPicPr>
          <p:nvPr/>
        </p:nvPicPr>
        <p:blipFill>
          <a:blip r:embed="rId3"/>
          <a:stretch>
            <a:fillRect/>
          </a:stretch>
        </p:blipFill>
        <p:spPr>
          <a:xfrm>
            <a:off x="9334499" y="3524250"/>
            <a:ext cx="609600" cy="609600"/>
          </a:xfrm>
          <a:prstGeom prst="rect">
            <a:avLst/>
          </a:prstGeom>
        </p:spPr>
      </p:pic>
      <p:sp>
        <p:nvSpPr>
          <p:cNvPr id="5" name="TextBox 4"/>
          <p:cNvSpPr txBox="1"/>
          <p:nvPr/>
        </p:nvSpPr>
        <p:spPr>
          <a:xfrm>
            <a:off x="1276350" y="1276350"/>
            <a:ext cx="15716250" cy="1676400"/>
          </a:xfrm>
          <a:prstGeom prst="rect">
            <a:avLst/>
          </a:prstGeom>
          <a:noFill/>
        </p:spPr>
        <p:txBody>
          <a:bodyPr wrap="square" lIns="0" tIns="0" rIns="0" bIns="0">
            <a:normAutofit/>
          </a:bodyPr>
          <a:lstStyle/>
          <a:p>
            <a:pPr algn="ctr">
              <a:lnSpc>
                <a:spcPct val="99000"/>
              </a:lnSpc>
            </a:pPr>
            <a:r>
              <a:rPr sz="6000" b="1">
                <a:solidFill>
                  <a:srgbClr val="FFFFFF"/>
                </a:solidFill>
                <a:latin typeface="Quicksand Bold"/>
              </a:rPr>
              <a:t>Design Visual para Apresentações de Alto Impacto</a:t>
            </a:r>
          </a:p>
        </p:txBody>
      </p:sp>
      <p:sp>
        <p:nvSpPr>
          <p:cNvPr id="6" name="TextBox 5"/>
          <p:cNvSpPr txBox="1"/>
          <p:nvPr/>
        </p:nvSpPr>
        <p:spPr>
          <a:xfrm>
            <a:off x="2044065" y="4324349"/>
            <a:ext cx="6528434" cy="388540"/>
          </a:xfrm>
          <a:prstGeom prst="rect">
            <a:avLst/>
          </a:prstGeom>
          <a:noFill/>
        </p:spPr>
        <p:txBody>
          <a:bodyPr wrap="square" lIns="0" tIns="0" rIns="0" bIns="0">
            <a:normAutofit/>
          </a:bodyPr>
          <a:lstStyle/>
          <a:p>
            <a:pPr algn="l">
              <a:lnSpc>
                <a:spcPct val="108000"/>
              </a:lnSpc>
            </a:pPr>
            <a:r>
              <a:rPr sz="2550" b="1">
                <a:solidFill>
                  <a:srgbClr val="FFFFFF"/>
                </a:solidFill>
                <a:latin typeface="Quicksand Bold"/>
              </a:rPr>
              <a:t>Repetição de Padrões</a:t>
            </a:r>
          </a:p>
        </p:txBody>
      </p:sp>
      <p:sp>
        <p:nvSpPr>
          <p:cNvPr id="7" name="TextBox 6"/>
          <p:cNvSpPr txBox="1"/>
          <p:nvPr/>
        </p:nvSpPr>
        <p:spPr>
          <a:xfrm>
            <a:off x="2044065" y="4855765"/>
            <a:ext cx="6528434" cy="2667000"/>
          </a:xfrm>
          <a:prstGeom prst="rect">
            <a:avLst/>
          </a:prstGeom>
          <a:noFill/>
        </p:spPr>
        <p:txBody>
          <a:bodyPr wrap="square" lIns="0" tIns="0" rIns="0" bIns="0">
            <a:normAutofit/>
          </a:bodyPr>
          <a:lstStyle/>
          <a:p>
            <a:pPr algn="l">
              <a:lnSpc>
                <a:spcPct val="126000"/>
              </a:lnSpc>
            </a:pPr>
            <a:r>
              <a:rPr sz="1875">
                <a:solidFill>
                  <a:srgbClr val="FFFFFF"/>
                </a:solidFill>
                <a:latin typeface="Quicksand"/>
              </a:rPr>
              <a:t>A </a:t>
            </a:r>
            <a:r>
              <a:rPr sz="1875" b="1">
                <a:solidFill>
                  <a:srgbClr val="FFFFFF"/>
                </a:solidFill>
                <a:latin typeface="Quicksand Bold"/>
              </a:rPr>
              <a:t>repetição</a:t>
            </a:r>
            <a:r>
              <a:rPr sz="1875">
                <a:solidFill>
                  <a:srgbClr val="FFFFFF"/>
                </a:solidFill>
                <a:latin typeface="Quicksand"/>
              </a:rPr>
              <a:t> é a consistência no uso de elementos de design ao longo de toda a apresentação. Manter um padrão de fontes, cores, ícones ou layouts em todos os slides ajuda a criar uma unidade visual, estabelecendo uma </a:t>
            </a:r>
            <a:r>
              <a:rPr sz="1875" i="1">
                <a:solidFill>
                  <a:srgbClr val="FFFFFF"/>
                </a:solidFill>
                <a:latin typeface="Quicksand"/>
              </a:rPr>
              <a:t>identidade visual</a:t>
            </a:r>
            <a:r>
              <a:rPr sz="1875">
                <a:solidFill>
                  <a:srgbClr val="FFFFFF"/>
                </a:solidFill>
                <a:latin typeface="Quicksand"/>
              </a:rPr>
              <a:t> coesa. Isso não só torna a apresentação mais polida, mas também reforça a mensagem e facilita a absorção do conteúdo pela audiência.</a:t>
            </a:r>
          </a:p>
        </p:txBody>
      </p:sp>
      <p:sp>
        <p:nvSpPr>
          <p:cNvPr id="8" name="TextBox 7"/>
          <p:cNvSpPr txBox="1"/>
          <p:nvPr/>
        </p:nvSpPr>
        <p:spPr>
          <a:xfrm>
            <a:off x="9334499" y="4324349"/>
            <a:ext cx="6528434" cy="388540"/>
          </a:xfrm>
          <a:prstGeom prst="rect">
            <a:avLst/>
          </a:prstGeom>
          <a:noFill/>
        </p:spPr>
        <p:txBody>
          <a:bodyPr wrap="square" lIns="0" tIns="0" rIns="0" bIns="0">
            <a:normAutofit/>
          </a:bodyPr>
          <a:lstStyle/>
          <a:p>
            <a:pPr algn="l">
              <a:lnSpc>
                <a:spcPct val="108000"/>
              </a:lnSpc>
            </a:pPr>
            <a:r>
              <a:rPr sz="2550" b="1">
                <a:solidFill>
                  <a:srgbClr val="FFFFFF"/>
                </a:solidFill>
                <a:latin typeface="Quicksand Bold"/>
              </a:rPr>
              <a:t>Proximidade de Itens</a:t>
            </a:r>
          </a:p>
        </p:txBody>
      </p:sp>
      <p:sp>
        <p:nvSpPr>
          <p:cNvPr id="9" name="TextBox 8"/>
          <p:cNvSpPr txBox="1"/>
          <p:nvPr/>
        </p:nvSpPr>
        <p:spPr>
          <a:xfrm>
            <a:off x="9334499" y="4855765"/>
            <a:ext cx="6528434" cy="2667000"/>
          </a:xfrm>
          <a:prstGeom prst="rect">
            <a:avLst/>
          </a:prstGeom>
          <a:noFill/>
        </p:spPr>
        <p:txBody>
          <a:bodyPr wrap="square" lIns="0" tIns="0" rIns="0" bIns="0">
            <a:normAutofit/>
          </a:bodyPr>
          <a:lstStyle/>
          <a:p>
            <a:pPr algn="l">
              <a:lnSpc>
                <a:spcPct val="126000"/>
              </a:lnSpc>
            </a:pPr>
            <a:r>
              <a:rPr sz="1875">
                <a:solidFill>
                  <a:srgbClr val="FFFFFF"/>
                </a:solidFill>
                <a:latin typeface="Quicksand"/>
              </a:rPr>
              <a:t>O princípio da </a:t>
            </a:r>
            <a:r>
              <a:rPr sz="1875" b="1">
                <a:solidFill>
                  <a:srgbClr val="FFFFFF"/>
                </a:solidFill>
                <a:latin typeface="Quicksand Bold"/>
              </a:rPr>
              <a:t>proximidade</a:t>
            </a:r>
            <a:r>
              <a:rPr sz="1875">
                <a:solidFill>
                  <a:srgbClr val="FFFFFF"/>
                </a:solidFill>
                <a:latin typeface="Quicksand"/>
              </a:rPr>
              <a:t> sugere que itens relacionados devem ser agrupados e posicionados próximos uns dos outros. Isso sinaliza visualmente que pertencem ao mesmo grupo de informações ou ideia. Ao agrupar elementos que compartilham uma relação lógica, você organiza o conteúdo de forma intuitiva, ajudando a audiência a compreender a estrutura e as conexões entre os dados apresentados.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6aeaf453-137c-4425-bf93-27f174b53aa7.jpg"/>
          <p:cNvPicPr>
            <a:picLocks noChangeAspect="1"/>
          </p:cNvPicPr>
          <p:nvPr/>
        </p:nvPicPr>
        <p:blipFill>
          <a:blip r:embed="rId2"/>
          <a:stretch>
            <a:fillRect/>
          </a:stretch>
        </p:blipFill>
        <p:spPr>
          <a:xfrm>
            <a:off x="771525" y="1276350"/>
            <a:ext cx="7734299" cy="7734299"/>
          </a:xfrm>
          <a:prstGeom prst="rect">
            <a:avLst/>
          </a:prstGeom>
        </p:spPr>
      </p:pic>
      <p:sp>
        <p:nvSpPr>
          <p:cNvPr id="4" name="TextBox 3"/>
          <p:cNvSpPr txBox="1"/>
          <p:nvPr/>
        </p:nvSpPr>
        <p:spPr>
          <a:xfrm>
            <a:off x="8963024" y="1276350"/>
            <a:ext cx="8039099" cy="1508720"/>
          </a:xfrm>
          <a:prstGeom prst="rect">
            <a:avLst/>
          </a:prstGeom>
          <a:noFill/>
        </p:spPr>
        <p:txBody>
          <a:bodyPr wrap="square" lIns="0" tIns="0" rIns="0" bIns="0">
            <a:normAutofit/>
          </a:bodyPr>
          <a:lstStyle/>
          <a:p>
            <a:pPr algn="l">
              <a:lnSpc>
                <a:spcPct val="99000"/>
              </a:lnSpc>
            </a:pPr>
            <a:r>
              <a:rPr sz="5400" b="1">
                <a:solidFill>
                  <a:srgbClr val="FFFFFF"/>
                </a:solidFill>
                <a:latin typeface="Quicksand Bold"/>
              </a:rPr>
              <a:t>Hierarquia Visual em Slides</a:t>
            </a:r>
          </a:p>
        </p:txBody>
      </p:sp>
      <p:sp>
        <p:nvSpPr>
          <p:cNvPr id="5" name="TextBox 4"/>
          <p:cNvSpPr txBox="1"/>
          <p:nvPr/>
        </p:nvSpPr>
        <p:spPr>
          <a:xfrm>
            <a:off x="8963024" y="3089870"/>
            <a:ext cx="8039099" cy="4266406"/>
          </a:xfrm>
          <a:prstGeom prst="rect">
            <a:avLst/>
          </a:prstGeom>
          <a:noFill/>
        </p:spPr>
        <p:txBody>
          <a:bodyPr wrap="square" lIns="0" tIns="0" rIns="0" bIns="0">
            <a:normAutofit/>
          </a:bodyPr>
          <a:lstStyle/>
          <a:p>
            <a:pPr algn="l">
              <a:lnSpc>
                <a:spcPct val="126000"/>
              </a:lnSpc>
            </a:pPr>
            <a:r>
              <a:rPr sz="2400">
                <a:solidFill>
                  <a:srgbClr val="FFFFFF"/>
                </a:solidFill>
                <a:latin typeface="Quicksand"/>
              </a:rPr>
              <a:t>Para </a:t>
            </a:r>
            <a:r>
              <a:rPr sz="2400" i="1">
                <a:solidFill>
                  <a:srgbClr val="FFFFFF"/>
                </a:solidFill>
                <a:latin typeface="Quicksand"/>
              </a:rPr>
              <a:t>guiar a atenção</a:t>
            </a:r>
            <a:r>
              <a:rPr sz="2400">
                <a:solidFill>
                  <a:srgbClr val="FFFFFF"/>
                </a:solidFill>
                <a:latin typeface="Quicksand"/>
              </a:rPr>
              <a:t> do público, um slide eficaz organiza visualmente as informações: o </a:t>
            </a:r>
            <a:r>
              <a:rPr sz="2400" b="1">
                <a:solidFill>
                  <a:srgbClr val="FFFFFF"/>
                </a:solidFill>
                <a:latin typeface="Quicksand Bold"/>
              </a:rPr>
              <a:t>título</a:t>
            </a:r>
            <a:r>
              <a:rPr sz="2400">
                <a:solidFill>
                  <a:srgbClr val="FFFFFF"/>
                </a:solidFill>
                <a:latin typeface="Quicksand"/>
              </a:rPr>
              <a:t> é lido primeiro, seguido por um </a:t>
            </a:r>
            <a:r>
              <a:rPr sz="2400" b="1">
                <a:solidFill>
                  <a:srgbClr val="FFFFFF"/>
                </a:solidFill>
                <a:latin typeface="Quicksand Bold"/>
              </a:rPr>
              <a:t>destaque visual</a:t>
            </a:r>
            <a:r>
              <a:rPr sz="2400">
                <a:solidFill>
                  <a:srgbClr val="FFFFFF"/>
                </a:solidFill>
                <a:latin typeface="Quicksand"/>
              </a:rPr>
              <a:t> e, depois, pelo texto de apoio. Evite blocos extensos de texto; o público deve ouvir sua explicação, não apenas ler. Imagens devem complementar a mensagem, usando metáforas visuais para tornar as ideias mais </a:t>
            </a:r>
            <a:r>
              <a:rPr sz="2400" i="1">
                <a:solidFill>
                  <a:srgbClr val="FFFFFF"/>
                </a:solidFill>
                <a:latin typeface="Quicksand"/>
              </a:rPr>
              <a:t>memoráveis</a:t>
            </a:r>
            <a:r>
              <a:rPr sz="2400">
                <a:solidFill>
                  <a:srgbClr val="FFFFFF"/>
                </a:solidFill>
                <a:latin typeface="Quicksand"/>
              </a:rPr>
              <a:t>. A premissa é clara: </a:t>
            </a:r>
            <a:r>
              <a:rPr sz="2400" b="1">
                <a:solidFill>
                  <a:srgbClr val="FFFFFF"/>
                </a:solidFill>
                <a:latin typeface="Quicksand Bold"/>
              </a:rPr>
              <a:t>menos é mais</a:t>
            </a:r>
            <a:r>
              <a:rPr sz="2400">
                <a:solidFill>
                  <a:srgbClr val="FFFFFF"/>
                </a:solidFill>
                <a:latin typeface="Quicksand"/>
              </a:rPr>
              <a:t>, com cada slide focando em uma única ideia central para maximizar a compreensão e o engajamento.</a:t>
            </a:r>
          </a:p>
        </p:txBody>
      </p:sp>
      <p:sp>
        <p:nvSpPr>
          <p:cNvPr id="6" name="TextBox 5"/>
          <p:cNvSpPr txBox="1"/>
          <p:nvPr/>
        </p:nvSpPr>
        <p:spPr>
          <a:xfrm>
            <a:off x="771525" y="9067800"/>
            <a:ext cx="7734299" cy="214312"/>
          </a:xfrm>
          <a:prstGeom prst="rect">
            <a:avLst/>
          </a:prstGeom>
          <a:noFill/>
        </p:spPr>
        <p:txBody>
          <a:bodyPr wrap="square" lIns="0" tIns="0" rIns="0" bIns="0">
            <a:normAutofit/>
          </a:bodyPr>
          <a:lstStyle/>
          <a:p>
            <a:pPr algn="l">
              <a:lnSpc>
                <a:spcPct val="112500"/>
              </a:lnSpc>
            </a:pPr>
            <a:r>
              <a:rPr sz="1350">
                <a:solidFill>
                  <a:srgbClr val="FFFFFF"/>
                </a:solidFill>
                <a:latin typeface="Quicksand"/>
              </a:rPr>
              <a:t>Infográfico de negócios: visualização hierárquica para slides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fc629657-2c43-49c4-8c46-d874e2f923f5.png"/>
          <p:cNvPicPr>
            <a:picLocks noChangeAspect="1"/>
          </p:cNvPicPr>
          <p:nvPr/>
        </p:nvPicPr>
        <p:blipFill>
          <a:blip r:embed="rId2"/>
          <a:stretch>
            <a:fillRect/>
          </a:stretch>
        </p:blipFill>
        <p:spPr>
          <a:xfrm>
            <a:off x="0" y="5286375"/>
            <a:ext cx="8524875" cy="5000625"/>
          </a:xfrm>
          <a:prstGeom prst="rect">
            <a:avLst/>
          </a:prstGeom>
        </p:spPr>
      </p:pic>
      <p:sp>
        <p:nvSpPr>
          <p:cNvPr id="4" name="TextBox 3"/>
          <p:cNvSpPr txBox="1"/>
          <p:nvPr/>
        </p:nvSpPr>
        <p:spPr>
          <a:xfrm>
            <a:off x="5695949" y="1695449"/>
            <a:ext cx="11296650" cy="5120282"/>
          </a:xfrm>
          <a:prstGeom prst="rect">
            <a:avLst/>
          </a:prstGeom>
          <a:noFill/>
        </p:spPr>
        <p:txBody>
          <a:bodyPr wrap="square" lIns="0" tIns="0" rIns="0" bIns="0">
            <a:normAutofit/>
          </a:bodyPr>
          <a:lstStyle/>
          <a:p>
            <a:pPr algn="l">
              <a:lnSpc>
                <a:spcPct val="126000"/>
              </a:lnSpc>
            </a:pPr>
            <a:r>
              <a:rPr sz="4800" b="1">
                <a:solidFill>
                  <a:srgbClr val="FFFFFF"/>
                </a:solidFill>
                <a:latin typeface="Quicksand Bold"/>
              </a:rPr>
              <a:t>"A computação em nuvem transformou a forma como as empresas e os indivíduos acessam e gerenciam seus dados e aplicativos, oferecendo escalabilidade e flexibilidade sem precedentes."</a:t>
            </a:r>
          </a:p>
        </p:txBody>
      </p:sp>
      <p:sp>
        <p:nvSpPr>
          <p:cNvPr id="5" name="TextBox 4"/>
          <p:cNvSpPr txBox="1"/>
          <p:nvPr/>
        </p:nvSpPr>
        <p:spPr>
          <a:xfrm>
            <a:off x="5695949" y="7120532"/>
            <a:ext cx="11296650" cy="411460"/>
          </a:xfrm>
          <a:prstGeom prst="rect">
            <a:avLst/>
          </a:prstGeom>
          <a:noFill/>
        </p:spPr>
        <p:txBody>
          <a:bodyPr wrap="square" lIns="0" tIns="0" rIns="0" bIns="0">
            <a:normAutofit/>
          </a:bodyPr>
          <a:lstStyle/>
          <a:p>
            <a:pPr algn="l">
              <a:lnSpc>
                <a:spcPct val="108000"/>
              </a:lnSpc>
            </a:pPr>
            <a:r>
              <a:rPr sz="2700" i="1">
                <a:solidFill>
                  <a:srgbClr val="FFFFFF"/>
                </a:solidFill>
                <a:latin typeface="Quicksand"/>
              </a:rPr>
              <a:t>- Satya Nadella, CEO da Microsoft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695449"/>
            <a:ext cx="7429500" cy="670520"/>
          </a:xfrm>
          <a:prstGeom prst="rect">
            <a:avLst/>
          </a:prstGeom>
          <a:noFill/>
        </p:spPr>
        <p:txBody>
          <a:bodyPr wrap="square" lIns="0" tIns="0" rIns="0" bIns="0">
            <a:normAutofit/>
          </a:bodyPr>
          <a:lstStyle/>
          <a:p>
            <a:pPr algn="l">
              <a:lnSpc>
                <a:spcPct val="99000"/>
              </a:lnSpc>
            </a:pPr>
            <a:r>
              <a:rPr sz="4800" b="1">
                <a:solidFill>
                  <a:srgbClr val="FFFFFF"/>
                </a:solidFill>
                <a:latin typeface="Quicksand Bold"/>
              </a:rPr>
              <a:t>Google Drive</a:t>
            </a:r>
          </a:p>
        </p:txBody>
      </p:sp>
      <p:sp>
        <p:nvSpPr>
          <p:cNvPr id="4" name="TextBox 3"/>
          <p:cNvSpPr txBox="1"/>
          <p:nvPr/>
        </p:nvSpPr>
        <p:spPr>
          <a:xfrm>
            <a:off x="9639300" y="1695449"/>
            <a:ext cx="7429500" cy="670520"/>
          </a:xfrm>
          <a:prstGeom prst="rect">
            <a:avLst/>
          </a:prstGeom>
          <a:noFill/>
        </p:spPr>
        <p:txBody>
          <a:bodyPr wrap="square" lIns="0" tIns="0" rIns="0" bIns="0">
            <a:normAutofit/>
          </a:bodyPr>
          <a:lstStyle/>
          <a:p>
            <a:pPr algn="l">
              <a:lnSpc>
                <a:spcPct val="99000"/>
              </a:lnSpc>
            </a:pPr>
            <a:r>
              <a:rPr sz="4800" b="1">
                <a:solidFill>
                  <a:srgbClr val="FFFFFF"/>
                </a:solidFill>
                <a:latin typeface="Quicksand Bold"/>
              </a:rPr>
              <a:t>Microsoft OneDrive</a:t>
            </a:r>
          </a:p>
        </p:txBody>
      </p:sp>
      <p:sp>
        <p:nvSpPr>
          <p:cNvPr id="5" name="TextBox 4"/>
          <p:cNvSpPr txBox="1"/>
          <p:nvPr/>
        </p:nvSpPr>
        <p:spPr>
          <a:xfrm>
            <a:off x="1276350" y="2670770"/>
            <a:ext cx="7429500" cy="5026521"/>
          </a:xfrm>
          <a:prstGeom prst="rect">
            <a:avLst/>
          </a:prstGeom>
          <a:noFill/>
        </p:spPr>
        <p:txBody>
          <a:bodyPr wrap="square" lIns="0" tIns="0" rIns="0" bIns="0">
            <a:normAutofit/>
          </a:bodyPr>
          <a:lstStyle/>
          <a:p>
            <a:pPr algn="l">
              <a:lnSpc>
                <a:spcPct val="126000"/>
              </a:lnSpc>
            </a:pPr>
            <a:r>
              <a:rPr sz="2175">
                <a:solidFill>
                  <a:srgbClr val="FFFFFF"/>
                </a:solidFill>
                <a:latin typeface="Quicksand"/>
              </a:rPr>
              <a:t>O Google Drive se destaca por sua profunda </a:t>
            </a:r>
            <a:r>
              <a:rPr sz="2175" b="1">
                <a:solidFill>
                  <a:srgbClr val="FFFFFF"/>
                </a:solidFill>
                <a:latin typeface="Quicksand Bold"/>
              </a:rPr>
              <a:t>integração</a:t>
            </a:r>
            <a:r>
              <a:rPr sz="2175">
                <a:solidFill>
                  <a:srgbClr val="FFFFFF"/>
                </a:solidFill>
                <a:latin typeface="Quicksand"/>
              </a:rPr>
              <a:t> com o ecossistema Google, sendo nativamente conectado ao Android, Gmail e Google Docs, o que facilita um fluxo de trabalho unificado para usuários dessas plataformas. Sua ferramenta de </a:t>
            </a:r>
            <a:r>
              <a:rPr sz="2175" b="1">
                <a:solidFill>
                  <a:srgbClr val="FFFFFF"/>
                </a:solidFill>
                <a:latin typeface="Quicksand Bold"/>
              </a:rPr>
              <a:t>busca</a:t>
            </a:r>
            <a:r>
              <a:rPr sz="2175">
                <a:solidFill>
                  <a:srgbClr val="FFFFFF"/>
                </a:solidFill>
                <a:latin typeface="Quicksand"/>
              </a:rPr>
              <a:t> é extremamente poderosa, aproveitando a tecnologia do Google para encontrar informações não apenas em documentos de texto, mas também dentro de PDFs, imagens (com reconhecimento de texto) e apresentações. Além disso, a plataforma é fundamentalmente </a:t>
            </a:r>
            <a:r>
              <a:rPr sz="2175" i="1">
                <a:solidFill>
                  <a:srgbClr val="FFFFFF"/>
                </a:solidFill>
                <a:latin typeface="Quicksand"/>
              </a:rPr>
              <a:t>web-first</a:t>
            </a:r>
            <a:r>
              <a:rPr sz="2175">
                <a:solidFill>
                  <a:srgbClr val="FFFFFF"/>
                </a:solidFill>
                <a:latin typeface="Quicksand"/>
              </a:rPr>
              <a:t>, otimizada para o uso direto no navegador, o que a torna ideal para dispositivos como Chromebooks e para quem busca acesso e edição rápidos de qualquer lugar.</a:t>
            </a:r>
          </a:p>
        </p:txBody>
      </p:sp>
      <p:sp>
        <p:nvSpPr>
          <p:cNvPr id="6" name="TextBox 5"/>
          <p:cNvSpPr txBox="1"/>
          <p:nvPr/>
        </p:nvSpPr>
        <p:spPr>
          <a:xfrm>
            <a:off x="9639300" y="2670770"/>
            <a:ext cx="7429500" cy="5799832"/>
          </a:xfrm>
          <a:prstGeom prst="rect">
            <a:avLst/>
          </a:prstGeom>
          <a:noFill/>
        </p:spPr>
        <p:txBody>
          <a:bodyPr wrap="square" lIns="0" tIns="0" rIns="0" bIns="0">
            <a:normAutofit/>
          </a:bodyPr>
          <a:lstStyle/>
          <a:p>
            <a:pPr algn="l">
              <a:lnSpc>
                <a:spcPct val="126000"/>
              </a:lnSpc>
            </a:pPr>
            <a:r>
              <a:rPr sz="2175">
                <a:solidFill>
                  <a:srgbClr val="FFFFFF"/>
                </a:solidFill>
                <a:latin typeface="Quicksand"/>
              </a:rPr>
              <a:t>O Microsoft OneDrive oferece uma </a:t>
            </a:r>
            <a:r>
              <a:rPr sz="2175" b="1">
                <a:solidFill>
                  <a:srgbClr val="FFFFFF"/>
                </a:solidFill>
                <a:latin typeface="Quicksand Bold"/>
              </a:rPr>
              <a:t>integração</a:t>
            </a:r>
            <a:r>
              <a:rPr sz="2175">
                <a:solidFill>
                  <a:srgbClr val="FFFFFF"/>
                </a:solidFill>
                <a:latin typeface="Quicksand"/>
              </a:rPr>
              <a:t> nativa e robusta com o sistema operacional Windows e com os aplicativos desktop do Microsoft Office (Word, Excel, PowerPoint), garantindo uma experiência fluida para quem utiliza esses produtos. Uma característica distintiva é o recurso </a:t>
            </a:r>
            <a:r>
              <a:rPr sz="2175" b="1">
                <a:solidFill>
                  <a:srgbClr val="FFFFFF"/>
                </a:solidFill>
                <a:latin typeface="Quicksand Bold"/>
              </a:rPr>
              <a:t>Arquivos Sob Demanda</a:t>
            </a:r>
            <a:r>
              <a:rPr sz="2175">
                <a:solidFill>
                  <a:srgbClr val="FFFFFF"/>
                </a:solidFill>
                <a:latin typeface="Quicksand"/>
              </a:rPr>
              <a:t> (Files On-Demand), que permite visualizar todos os arquivos e pastas no Explorador de Arquivos do Windows sem ocupar espaço no disco rígido. Os arquivos só são baixados completamente quando são acessados, otimizando o armazenamento local. No quesito </a:t>
            </a:r>
            <a:r>
              <a:rPr sz="2175" b="1">
                <a:solidFill>
                  <a:srgbClr val="FFFFFF"/>
                </a:solidFill>
                <a:latin typeface="Quicksand Bold"/>
              </a:rPr>
              <a:t>segurança</a:t>
            </a:r>
            <a:r>
              <a:rPr sz="2175">
                <a:solidFill>
                  <a:srgbClr val="FFFFFF"/>
                </a:solidFill>
                <a:latin typeface="Quicksand"/>
              </a:rPr>
              <a:t>, o OneDrive possui um forte foco em permissões empresariais avançadas e inclui o </a:t>
            </a:r>
            <a:r>
              <a:rPr sz="2175" i="1">
                <a:solidFill>
                  <a:srgbClr val="FFFFFF"/>
                </a:solidFill>
                <a:latin typeface="Quicksand"/>
              </a:rPr>
              <a:t>Cofre Pessoal</a:t>
            </a:r>
            <a:r>
              <a:rPr sz="2175">
                <a:solidFill>
                  <a:srgbClr val="FFFFFF"/>
                </a:solidFill>
                <a:latin typeface="Quicksand"/>
              </a:rPr>
              <a:t>, uma área protegida por verificação de identidade adicional para armazenar documentos e informações mais sensíveis.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695449"/>
            <a:ext cx="13173075" cy="2011560"/>
          </a:xfrm>
          <a:prstGeom prst="rect">
            <a:avLst/>
          </a:prstGeom>
          <a:noFill/>
        </p:spPr>
        <p:txBody>
          <a:bodyPr wrap="square" lIns="0" tIns="0" rIns="0" bIns="0">
            <a:normAutofit/>
          </a:bodyPr>
          <a:lstStyle/>
          <a:p>
            <a:pPr algn="l">
              <a:lnSpc>
                <a:spcPct val="99000"/>
              </a:lnSpc>
            </a:pPr>
            <a:r>
              <a:rPr sz="7200" b="1">
                <a:solidFill>
                  <a:srgbClr val="FFFFFF"/>
                </a:solidFill>
                <a:latin typeface="Quicksand Bold"/>
              </a:rPr>
              <a:t>Controle de Versão: Chega de 'v2'</a:t>
            </a:r>
          </a:p>
        </p:txBody>
      </p:sp>
      <p:sp>
        <p:nvSpPr>
          <p:cNvPr id="4" name="TextBox 3"/>
          <p:cNvSpPr txBox="1"/>
          <p:nvPr/>
        </p:nvSpPr>
        <p:spPr>
          <a:xfrm>
            <a:off x="1276350" y="4011810"/>
            <a:ext cx="13173075" cy="4800600"/>
          </a:xfrm>
          <a:prstGeom prst="rect">
            <a:avLst/>
          </a:prstGeom>
          <a:noFill/>
        </p:spPr>
        <p:txBody>
          <a:bodyPr wrap="square" lIns="0" tIns="0" rIns="0" bIns="0">
            <a:normAutofit/>
          </a:bodyPr>
          <a:lstStyle/>
          <a:p>
            <a:pPr algn="l">
              <a:lnSpc>
                <a:spcPct val="126000"/>
              </a:lnSpc>
            </a:pPr>
            <a:r>
              <a:rPr sz="3000">
                <a:solidFill>
                  <a:srgbClr val="FFFFFF"/>
                </a:solidFill>
                <a:latin typeface="Quicksand"/>
              </a:rPr>
              <a:t>O controle de versão é um dos maiores benefícios da nuvem e do gerenciamento moderno. Em vez de salvar várias cópias de um arquivo com nomes diferentes, o sistema mantém um </a:t>
            </a:r>
            <a:r>
              <a:rPr sz="3000" b="1">
                <a:solidFill>
                  <a:srgbClr val="FFFFFF"/>
                </a:solidFill>
                <a:latin typeface="Quicksand Bold"/>
              </a:rPr>
              <a:t>Histórico de Versões</a:t>
            </a:r>
            <a:r>
              <a:rPr sz="3000">
                <a:solidFill>
                  <a:srgbClr val="FFFFFF"/>
                </a:solidFill>
                <a:latin typeface="Quicksand"/>
              </a:rPr>
              <a:t>. Você pode ver quem alterou o quê e em que horário, além de conseguir restaurar o documento para qualquer ponto anterior no tempo. Isso elimina o medo de deletar algo importante por engano e permite que várias pessoas trabalhem no mesmo arquivo simultaneamente sem gerar conflitos de cópias, um avanço crítico que transforma a colaboração e a organização de arquivos digitais.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8f312953-f3f0-4f92-abf8-b81ed86a36a9.jpg"/>
          <p:cNvPicPr>
            <a:picLocks noChangeAspect="1"/>
          </p:cNvPicPr>
          <p:nvPr/>
        </p:nvPicPr>
        <p:blipFill>
          <a:blip r:embed="rId2"/>
          <a:stretch>
            <a:fillRect/>
          </a:stretch>
        </p:blipFill>
        <p:spPr>
          <a:xfrm>
            <a:off x="2162174" y="1638299"/>
            <a:ext cx="524827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Colaboração digital: ferramentas e ética no trabalho em equipe.</a:t>
            </a:r>
          </a:p>
        </p:txBody>
      </p:sp>
      <p:sp>
        <p:nvSpPr>
          <p:cNvPr id="5" name="TextBox 4"/>
          <p:cNvSpPr txBox="1"/>
          <p:nvPr/>
        </p:nvSpPr>
        <p:spPr>
          <a:xfrm>
            <a:off x="9639300" y="1790700"/>
            <a:ext cx="7362824" cy="1424781"/>
          </a:xfrm>
          <a:prstGeom prst="rect">
            <a:avLst/>
          </a:prstGeom>
          <a:noFill/>
        </p:spPr>
        <p:txBody>
          <a:bodyPr wrap="square" lIns="0" tIns="0" rIns="0" bIns="0">
            <a:normAutofit/>
          </a:bodyPr>
          <a:lstStyle/>
          <a:p>
            <a:pPr algn="l">
              <a:lnSpc>
                <a:spcPct val="99000"/>
              </a:lnSpc>
            </a:pPr>
            <a:r>
              <a:rPr sz="5100" b="1">
                <a:solidFill>
                  <a:srgbClr val="FFFFFF"/>
                </a:solidFill>
                <a:latin typeface="Quicksand Bold"/>
              </a:rPr>
              <a:t>Colaboração e Ética Digital em Documentos</a:t>
            </a:r>
          </a:p>
        </p:txBody>
      </p:sp>
      <p:sp>
        <p:nvSpPr>
          <p:cNvPr id="6" name="TextBox 5"/>
          <p:cNvSpPr txBox="1"/>
          <p:nvPr/>
        </p:nvSpPr>
        <p:spPr>
          <a:xfrm>
            <a:off x="9639300" y="3520281"/>
            <a:ext cx="7362824" cy="4960143"/>
          </a:xfrm>
          <a:prstGeom prst="rect">
            <a:avLst/>
          </a:prstGeom>
          <a:noFill/>
        </p:spPr>
        <p:txBody>
          <a:bodyPr wrap="square" lIns="0" tIns="0" rIns="0" bIns="0">
            <a:normAutofit/>
          </a:bodyPr>
          <a:lstStyle/>
          <a:p>
            <a:pPr algn="l">
              <a:buChar char="•"/>
            </a:pPr>
            <a:r>
              <a:rPr sz="2325">
                <a:latin typeface="Quicksand"/>
              </a:rPr>
              <a:t>  </a:t>
            </a:r>
            <a:r>
              <a:rPr sz="2325" b="1">
                <a:solidFill>
                  <a:srgbClr val="FFFFFF"/>
                </a:solidFill>
                <a:latin typeface="Quicksand Bold"/>
              </a:rPr>
              <a:t>Comentários vs. Edição</a:t>
            </a:r>
            <a:r>
              <a:rPr sz="2325">
                <a:solidFill>
                  <a:srgbClr val="FFFFFF"/>
                </a:solidFill>
                <a:latin typeface="Quicksand"/>
              </a:rPr>
              <a:t>: Priorize o uso de comentários para sugerir alterações, evitando modificar diretamente o trabalho de colegas sem a devida comunicação e consentimento explícito.</a:t>
            </a:r>
          </a:p>
          <a:p>
            <a:pPr algn="l">
              <a:lnSpc>
                <a:spcPct val="126000"/>
              </a:lnSpc>
              <a:spcBef>
                <a:spcPts val="1453"/>
              </a:spcBef>
              <a:buChar char="•"/>
            </a:pPr>
            <a:r>
              <a:rPr sz="2325">
                <a:latin typeface="Quicksand"/>
              </a:rPr>
              <a:t>  </a:t>
            </a:r>
            <a:r>
              <a:rPr sz="2325" b="1">
                <a:solidFill>
                  <a:srgbClr val="FFFFFF"/>
                </a:solidFill>
                <a:latin typeface="Quicksand Bold"/>
              </a:rPr>
              <a:t>Atribuição</a:t>
            </a:r>
            <a:r>
              <a:rPr sz="2325">
                <a:solidFill>
                  <a:srgbClr val="FFFFFF"/>
                </a:solidFill>
                <a:latin typeface="Quicksand"/>
              </a:rPr>
              <a:t>: Respeite as seções e tarefas designadas a cada membro do grupo, evitando invadir ou alterar partes do documento que não são de sua responsabilidade direta.</a:t>
            </a:r>
          </a:p>
          <a:p>
            <a:pPr algn="l">
              <a:lnSpc>
                <a:spcPct val="126000"/>
              </a:lnSpc>
              <a:spcBef>
                <a:spcPts val="1453"/>
              </a:spcBef>
              <a:buChar char="•"/>
            </a:pPr>
            <a:r>
              <a:rPr sz="2325">
                <a:latin typeface="Quicksand"/>
              </a:rPr>
              <a:t>  </a:t>
            </a:r>
            <a:r>
              <a:rPr sz="2325" b="1">
                <a:solidFill>
                  <a:srgbClr val="FFFFFF"/>
                </a:solidFill>
                <a:latin typeface="Quicksand Bold"/>
              </a:rPr>
              <a:t>Privacidade</a:t>
            </a:r>
            <a:r>
              <a:rPr sz="2325">
                <a:solidFill>
                  <a:srgbClr val="FFFFFF"/>
                </a:solidFill>
                <a:latin typeface="Quicksand"/>
              </a:rPr>
              <a:t>: Tenha extrema cautela ao conceder permissões de 'Editor' para links públicos, pois isso pode expor informações sensíveis ou permitir edições indesejadas por pessoas externas.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8f312953-f3f0-4f92-abf8-b81ed86a36a9.jpg"/>
          <p:cNvPicPr>
            <a:picLocks noChangeAspect="1"/>
          </p:cNvPicPr>
          <p:nvPr/>
        </p:nvPicPr>
        <p:blipFill>
          <a:blip r:embed="rId2"/>
          <a:stretch>
            <a:fillRect/>
          </a:stretch>
        </p:blipFill>
        <p:spPr>
          <a:xfrm>
            <a:off x="2162174" y="1638299"/>
            <a:ext cx="524827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Colaboração digital: ferramentas e ética no trabalho em equipe.</a:t>
            </a:r>
          </a:p>
        </p:txBody>
      </p:sp>
      <p:sp>
        <p:nvSpPr>
          <p:cNvPr id="5" name="TextBox 4"/>
          <p:cNvSpPr txBox="1"/>
          <p:nvPr/>
        </p:nvSpPr>
        <p:spPr>
          <a:xfrm>
            <a:off x="9639300" y="1790700"/>
            <a:ext cx="7362824" cy="1424781"/>
          </a:xfrm>
          <a:prstGeom prst="rect">
            <a:avLst/>
          </a:prstGeom>
          <a:noFill/>
        </p:spPr>
        <p:txBody>
          <a:bodyPr wrap="square" lIns="0" tIns="0" rIns="0" bIns="0">
            <a:normAutofit/>
          </a:bodyPr>
          <a:lstStyle/>
          <a:p>
            <a:pPr algn="l">
              <a:lnSpc>
                <a:spcPct val="99000"/>
              </a:lnSpc>
            </a:pPr>
            <a:r>
              <a:rPr sz="5100" b="1">
                <a:solidFill>
                  <a:srgbClr val="FFFFFF"/>
                </a:solidFill>
                <a:latin typeface="Quicksand Bold"/>
              </a:rPr>
              <a:t>Colaboração e Ética Digital em Documentos</a:t>
            </a:r>
          </a:p>
        </p:txBody>
      </p:sp>
      <p:sp>
        <p:nvSpPr>
          <p:cNvPr id="6" name="TextBox 5"/>
          <p:cNvSpPr txBox="1"/>
          <p:nvPr/>
        </p:nvSpPr>
        <p:spPr>
          <a:xfrm>
            <a:off x="9639300" y="3520281"/>
            <a:ext cx="7362824" cy="2066726"/>
          </a:xfrm>
          <a:prstGeom prst="rect">
            <a:avLst/>
          </a:prstGeom>
          <a:noFill/>
        </p:spPr>
        <p:txBody>
          <a:bodyPr wrap="square" lIns="0" tIns="0" rIns="0" bIns="0">
            <a:normAutofit/>
          </a:bodyPr>
          <a:lstStyle/>
          <a:p>
            <a:pPr algn="l">
              <a:buChar char="•"/>
            </a:pPr>
            <a:r>
              <a:rPr sz="2325">
                <a:latin typeface="Quicksand"/>
              </a:rPr>
              <a:t>  </a:t>
            </a:r>
            <a:r>
              <a:rPr sz="2325" b="1">
                <a:solidFill>
                  <a:srgbClr val="FFFFFF"/>
                </a:solidFill>
                <a:latin typeface="Quicksand Bold"/>
              </a:rPr>
              <a:t>Sincronização</a:t>
            </a:r>
            <a:r>
              <a:rPr sz="2325">
                <a:solidFill>
                  <a:srgbClr val="FFFFFF"/>
                </a:solidFill>
                <a:latin typeface="Quicksand"/>
              </a:rPr>
              <a:t>: Certifique-se de que sua conexão com a internet esteja estável antes de realizar edições críticas em documentos compartilhados, prevenindo a perda de dados ou a criação de conflitos de versão ao trabalhar offline.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695449"/>
            <a:ext cx="7429500" cy="670520"/>
          </a:xfrm>
          <a:prstGeom prst="rect">
            <a:avLst/>
          </a:prstGeom>
          <a:noFill/>
        </p:spPr>
        <p:txBody>
          <a:bodyPr wrap="square" lIns="0" tIns="0" rIns="0" bIns="0">
            <a:normAutofit/>
          </a:bodyPr>
          <a:lstStyle/>
          <a:p>
            <a:pPr algn="l">
              <a:lnSpc>
                <a:spcPct val="99000"/>
              </a:lnSpc>
            </a:pPr>
            <a:r>
              <a:rPr sz="4800" b="1">
                <a:solidFill>
                  <a:srgbClr val="FFFFFF"/>
                </a:solidFill>
                <a:latin typeface="Quicksand Bold"/>
              </a:rPr>
              <a:t>Sincronização (Sync)</a:t>
            </a:r>
          </a:p>
        </p:txBody>
      </p:sp>
      <p:sp>
        <p:nvSpPr>
          <p:cNvPr id="4" name="TextBox 3"/>
          <p:cNvSpPr txBox="1"/>
          <p:nvPr/>
        </p:nvSpPr>
        <p:spPr>
          <a:xfrm>
            <a:off x="9639300" y="1695449"/>
            <a:ext cx="7429500" cy="1341040"/>
          </a:xfrm>
          <a:prstGeom prst="rect">
            <a:avLst/>
          </a:prstGeom>
          <a:noFill/>
        </p:spPr>
        <p:txBody>
          <a:bodyPr wrap="square" lIns="0" tIns="0" rIns="0" bIns="0">
            <a:normAutofit/>
          </a:bodyPr>
          <a:lstStyle/>
          <a:p>
            <a:pPr algn="l">
              <a:lnSpc>
                <a:spcPct val="99000"/>
              </a:lnSpc>
            </a:pPr>
            <a:r>
              <a:rPr sz="4800" b="1">
                <a:solidFill>
                  <a:srgbClr val="FFFFFF"/>
                </a:solidFill>
                <a:latin typeface="Quicksand Bold"/>
              </a:rPr>
              <a:t>Backup (Cópia de Segurança)</a:t>
            </a:r>
          </a:p>
        </p:txBody>
      </p:sp>
      <p:sp>
        <p:nvSpPr>
          <p:cNvPr id="5" name="TextBox 4"/>
          <p:cNvSpPr txBox="1"/>
          <p:nvPr/>
        </p:nvSpPr>
        <p:spPr>
          <a:xfrm>
            <a:off x="1276350" y="2670770"/>
            <a:ext cx="7429500" cy="5039519"/>
          </a:xfrm>
          <a:prstGeom prst="rect">
            <a:avLst/>
          </a:prstGeom>
          <a:noFill/>
        </p:spPr>
        <p:txBody>
          <a:bodyPr wrap="square" lIns="0" tIns="0" rIns="0" bIns="0">
            <a:normAutofit/>
          </a:bodyPr>
          <a:lstStyle/>
          <a:p>
            <a:pPr algn="l">
              <a:lnSpc>
                <a:spcPct val="126000"/>
              </a:lnSpc>
            </a:pPr>
            <a:r>
              <a:rPr sz="2025">
                <a:solidFill>
                  <a:srgbClr val="FFFFFF"/>
                </a:solidFill>
                <a:latin typeface="Quicksand"/>
              </a:rPr>
              <a:t>A sincronização é um processo de </a:t>
            </a:r>
            <a:r>
              <a:rPr sz="2025" b="1">
                <a:solidFill>
                  <a:srgbClr val="FFFFFF"/>
                </a:solidFill>
                <a:latin typeface="Quicksand Bold"/>
              </a:rPr>
              <a:t>espelhamento de dados em tempo real</a:t>
            </a:r>
            <a:r>
              <a:rPr sz="2025">
                <a:solidFill>
                  <a:srgbClr val="FFFFFF"/>
                </a:solidFill>
                <a:latin typeface="Quicksand"/>
              </a:rPr>
              <a:t> entre múltiplos dispositivos e/ou a nuvem. Seu principal objetivo é facilitar o acesso rápido e a colaboração, garantindo que a versão mais recente de um arquivo esteja disponível em todos os locais simultaneamente. Por exemplo, se um arquivo é deletado ou editado em seu computador, essa mudança é imediatamente replicada na nuvem e em outros dispositivos sincronizados. Contudo, essa característica traz um risco significativo: erros humanos (como uma exclusão acidental) ou ameaças digitais (como um </a:t>
            </a:r>
            <a:r>
              <a:rPr sz="2025" i="1">
                <a:solidFill>
                  <a:srgbClr val="FFFFFF"/>
                </a:solidFill>
                <a:latin typeface="Quicksand"/>
              </a:rPr>
              <a:t>ransomware</a:t>
            </a:r>
            <a:r>
              <a:rPr sz="2025">
                <a:solidFill>
                  <a:srgbClr val="FFFFFF"/>
                </a:solidFill>
                <a:latin typeface="Quicksand"/>
              </a:rPr>
              <a:t>) são replicados instantaneamente, podendo levar à perda irreversível de dados em todas as cópias sincronizadas, pois não há um histórico de versões mais antigas para recuperação.</a:t>
            </a:r>
          </a:p>
        </p:txBody>
      </p:sp>
      <p:sp>
        <p:nvSpPr>
          <p:cNvPr id="6" name="TextBox 5"/>
          <p:cNvSpPr txBox="1"/>
          <p:nvPr/>
        </p:nvSpPr>
        <p:spPr>
          <a:xfrm>
            <a:off x="9639300" y="3341290"/>
            <a:ext cx="7429500" cy="4679553"/>
          </a:xfrm>
          <a:prstGeom prst="rect">
            <a:avLst/>
          </a:prstGeom>
          <a:noFill/>
        </p:spPr>
        <p:txBody>
          <a:bodyPr wrap="square" lIns="0" tIns="0" rIns="0" bIns="0">
            <a:normAutofit/>
          </a:bodyPr>
          <a:lstStyle/>
          <a:p>
            <a:pPr algn="l">
              <a:lnSpc>
                <a:spcPct val="126000"/>
              </a:lnSpc>
            </a:pPr>
            <a:r>
              <a:rPr sz="2025">
                <a:solidFill>
                  <a:srgbClr val="FFFFFF"/>
                </a:solidFill>
                <a:latin typeface="Quicksand"/>
              </a:rPr>
              <a:t>O backup consiste em criar </a:t>
            </a:r>
            <a:r>
              <a:rPr sz="2025" b="1">
                <a:solidFill>
                  <a:srgbClr val="FFFFFF"/>
                </a:solidFill>
                <a:latin typeface="Quicksand Bold"/>
              </a:rPr>
              <a:t>cópias estáticas e seguras</a:t>
            </a:r>
            <a:r>
              <a:rPr sz="2025">
                <a:solidFill>
                  <a:srgbClr val="FFFFFF"/>
                </a:solidFill>
                <a:latin typeface="Quicksand"/>
              </a:rPr>
              <a:t> de dados, armazenadas separadamente do ambiente de trabalho diário. Seu propósito fundamental é a </a:t>
            </a:r>
            <a:r>
              <a:rPr sz="2025" i="1">
                <a:solidFill>
                  <a:srgbClr val="FFFFFF"/>
                </a:solidFill>
                <a:latin typeface="Quicksand"/>
              </a:rPr>
              <a:t>recuperação de desastres</a:t>
            </a:r>
            <a:r>
              <a:rPr sz="2025">
                <a:solidFill>
                  <a:srgbClr val="FFFFFF"/>
                </a:solidFill>
                <a:latin typeface="Quicksand"/>
              </a:rPr>
              <a:t>, servindo como uma medida preventiva contra perda de dados devido a falhas de hardware, ataques de vírus, corrupção de arquivos ou exclusão acidental. Ao contrário da sincronização, um backup mantém versões de dados em pontos específicos no tempo, permitindo restaurar arquivos a um estado anterior. A </a:t>
            </a:r>
            <a:r>
              <a:rPr sz="2025" b="1">
                <a:solidFill>
                  <a:srgbClr val="FFFFFF"/>
                </a:solidFill>
                <a:latin typeface="Quicksand Bold"/>
              </a:rPr>
              <a:t>Regra 3-2-1</a:t>
            </a:r>
            <a:r>
              <a:rPr sz="2025">
                <a:solidFill>
                  <a:srgbClr val="FFFFFF"/>
                </a:solidFill>
                <a:latin typeface="Quicksand"/>
              </a:rPr>
              <a:t> é uma diretriz crucial: manter 3 cópias dos dados (o original e dois backups), em 2 tipos de mídias diferentes (ex: disco rígido e nuvem), e ter 1 cópia fora do local físico (armazenamento externo ou remoto) para máxima segurança contra eventos localizados.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1c829237-5609-4cd3-88e5-9a39aa8a67e0.png"/>
          <p:cNvPicPr>
            <a:picLocks noChangeAspect="1"/>
          </p:cNvPicPr>
          <p:nvPr/>
        </p:nvPicPr>
        <p:blipFill>
          <a:blip r:embed="rId2"/>
          <a:stretch>
            <a:fillRect/>
          </a:stretch>
        </p:blipFill>
        <p:spPr>
          <a:xfrm>
            <a:off x="1285875" y="1638299"/>
            <a:ext cx="700087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Escudo de cibersegurança: proteção robusta para dados e redes globais.</a:t>
            </a:r>
          </a:p>
        </p:txBody>
      </p:sp>
      <p:sp>
        <p:nvSpPr>
          <p:cNvPr id="5" name="TextBox 4"/>
          <p:cNvSpPr txBox="1"/>
          <p:nvPr/>
        </p:nvSpPr>
        <p:spPr>
          <a:xfrm>
            <a:off x="9639300" y="1790700"/>
            <a:ext cx="7362824" cy="2577405"/>
          </a:xfrm>
          <a:prstGeom prst="rect">
            <a:avLst/>
          </a:prstGeom>
          <a:noFill/>
        </p:spPr>
        <p:txBody>
          <a:bodyPr wrap="square" lIns="0" tIns="0" rIns="0" bIns="0">
            <a:normAutofit/>
          </a:bodyPr>
          <a:lstStyle/>
          <a:p>
            <a:pPr algn="l">
              <a:lnSpc>
                <a:spcPct val="99000"/>
              </a:lnSpc>
            </a:pPr>
            <a:r>
              <a:rPr sz="6150" b="1">
                <a:solidFill>
                  <a:srgbClr val="FFFFFF"/>
                </a:solidFill>
                <a:latin typeface="Quicksand Bold"/>
              </a:rPr>
              <a:t>Privacidade e Segurança de Dados (LGPD)</a:t>
            </a:r>
          </a:p>
        </p:txBody>
      </p:sp>
      <p:sp>
        <p:nvSpPr>
          <p:cNvPr id="6" name="TextBox 5"/>
          <p:cNvSpPr txBox="1"/>
          <p:nvPr/>
        </p:nvSpPr>
        <p:spPr>
          <a:xfrm>
            <a:off x="9639300" y="4672905"/>
            <a:ext cx="7362824" cy="3866554"/>
          </a:xfrm>
          <a:prstGeom prst="rect">
            <a:avLst/>
          </a:prstGeom>
          <a:noFill/>
        </p:spPr>
        <p:txBody>
          <a:bodyPr wrap="square" lIns="0" tIns="0" rIns="0" bIns="0">
            <a:normAutofit/>
          </a:bodyPr>
          <a:lstStyle/>
          <a:p>
            <a:pPr algn="l">
              <a:buChar char="•"/>
            </a:pPr>
            <a:r>
              <a:rPr sz="2175">
                <a:latin typeface="Quicksand"/>
              </a:rPr>
              <a:t>  </a:t>
            </a:r>
            <a:r>
              <a:rPr sz="2175" b="1">
                <a:solidFill>
                  <a:srgbClr val="FFFFFF"/>
                </a:solidFill>
                <a:latin typeface="Quicksand Bold"/>
              </a:rPr>
              <a:t>LGPD (Lei Geral de Proteção de Dados)</a:t>
            </a:r>
            <a:r>
              <a:rPr sz="2175">
                <a:solidFill>
                  <a:srgbClr val="FFFFFF"/>
                </a:solidFill>
                <a:latin typeface="Quicksand"/>
              </a:rPr>
              <a:t>: Esta lei brasileira regula como empresas e indivíduos devem tratar informações pessoais, garantindo que o gerenciamento de arquivos na nuvem obedeça a padrões rigorosos de proteção dos seus dados.</a:t>
            </a:r>
          </a:p>
          <a:p>
            <a:pPr algn="l">
              <a:lnSpc>
                <a:spcPct val="126000"/>
              </a:lnSpc>
              <a:spcBef>
                <a:spcPts val="1359"/>
              </a:spcBef>
              <a:buChar char="•"/>
            </a:pPr>
            <a:r>
              <a:rPr sz="2175">
                <a:latin typeface="Quicksand"/>
              </a:rPr>
              <a:t>  </a:t>
            </a:r>
            <a:r>
              <a:rPr sz="2175" b="1">
                <a:solidFill>
                  <a:srgbClr val="FFFFFF"/>
                </a:solidFill>
                <a:latin typeface="Quicksand Bold"/>
              </a:rPr>
              <a:t>Autenticação em Dois Fatores (2FA)</a:t>
            </a:r>
            <a:r>
              <a:rPr sz="2175">
                <a:solidFill>
                  <a:srgbClr val="FFFFFF"/>
                </a:solidFill>
                <a:latin typeface="Quicksand"/>
              </a:rPr>
              <a:t>: É crucial ativar a autenticação em dois fatores para adicionar uma camada extra de segurança, protegendo sua conta de nuvem contra acessos não autorizados mesmo que sua senha seja comprometida.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1c829237-5609-4cd3-88e5-9a39aa8a67e0.png"/>
          <p:cNvPicPr>
            <a:picLocks noChangeAspect="1"/>
          </p:cNvPicPr>
          <p:nvPr/>
        </p:nvPicPr>
        <p:blipFill>
          <a:blip r:embed="rId2"/>
          <a:stretch>
            <a:fillRect/>
          </a:stretch>
        </p:blipFill>
        <p:spPr>
          <a:xfrm>
            <a:off x="1285875" y="1638299"/>
            <a:ext cx="700087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Escudo de cibersegurança: proteção robusta para dados e redes globais.</a:t>
            </a:r>
          </a:p>
        </p:txBody>
      </p:sp>
      <p:sp>
        <p:nvSpPr>
          <p:cNvPr id="5" name="TextBox 4"/>
          <p:cNvSpPr txBox="1"/>
          <p:nvPr/>
        </p:nvSpPr>
        <p:spPr>
          <a:xfrm>
            <a:off x="9639300" y="1790700"/>
            <a:ext cx="7362824" cy="2577405"/>
          </a:xfrm>
          <a:prstGeom prst="rect">
            <a:avLst/>
          </a:prstGeom>
          <a:noFill/>
        </p:spPr>
        <p:txBody>
          <a:bodyPr wrap="square" lIns="0" tIns="0" rIns="0" bIns="0">
            <a:normAutofit/>
          </a:bodyPr>
          <a:lstStyle/>
          <a:p>
            <a:pPr algn="l">
              <a:lnSpc>
                <a:spcPct val="99000"/>
              </a:lnSpc>
            </a:pPr>
            <a:r>
              <a:rPr sz="6150" b="1">
                <a:solidFill>
                  <a:srgbClr val="FFFFFF"/>
                </a:solidFill>
                <a:latin typeface="Quicksand Bold"/>
              </a:rPr>
              <a:t>Privacidade e Segurança de Dados (LGPD)</a:t>
            </a:r>
          </a:p>
        </p:txBody>
      </p:sp>
      <p:sp>
        <p:nvSpPr>
          <p:cNvPr id="6" name="TextBox 5"/>
          <p:cNvSpPr txBox="1"/>
          <p:nvPr/>
        </p:nvSpPr>
        <p:spPr>
          <a:xfrm>
            <a:off x="9639300" y="4672905"/>
            <a:ext cx="7362824" cy="3866554"/>
          </a:xfrm>
          <a:prstGeom prst="rect">
            <a:avLst/>
          </a:prstGeom>
          <a:noFill/>
        </p:spPr>
        <p:txBody>
          <a:bodyPr wrap="square" lIns="0" tIns="0" rIns="0" bIns="0">
            <a:normAutofit/>
          </a:bodyPr>
          <a:lstStyle/>
          <a:p>
            <a:pPr algn="l">
              <a:buChar char="•"/>
            </a:pPr>
            <a:r>
              <a:rPr sz="2175">
                <a:latin typeface="Quicksand"/>
              </a:rPr>
              <a:t>  </a:t>
            </a:r>
            <a:r>
              <a:rPr sz="2175" b="1">
                <a:solidFill>
                  <a:srgbClr val="FFFFFF"/>
                </a:solidFill>
                <a:latin typeface="Quicksand Bold"/>
              </a:rPr>
              <a:t>Metadados Sensíveis</a:t>
            </a:r>
            <a:r>
              <a:rPr sz="2175">
                <a:solidFill>
                  <a:srgbClr val="FFFFFF"/>
                </a:solidFill>
                <a:latin typeface="Quicksand"/>
              </a:rPr>
              <a:t>: Esteja ciente de que arquivos como fotos e documentos podem conter metadados, como localização GPS ou dados de criação, que podem ser sensíveis e precisam ser gerenciados com cuidado para não serem expostos publicamente.</a:t>
            </a:r>
          </a:p>
          <a:p>
            <a:pPr algn="l">
              <a:lnSpc>
                <a:spcPct val="126000"/>
              </a:lnSpc>
              <a:spcBef>
                <a:spcPts val="1359"/>
              </a:spcBef>
              <a:buChar char="•"/>
            </a:pPr>
            <a:r>
              <a:rPr sz="2175">
                <a:latin typeface="Quicksand"/>
              </a:rPr>
              <a:t>  </a:t>
            </a:r>
            <a:r>
              <a:rPr sz="2175" b="1">
                <a:solidFill>
                  <a:srgbClr val="FFFFFF"/>
                </a:solidFill>
                <a:latin typeface="Quicksand Bold"/>
              </a:rPr>
              <a:t>Criptografia</a:t>
            </a:r>
            <a:r>
              <a:rPr sz="2175">
                <a:solidFill>
                  <a:srgbClr val="FFFFFF"/>
                </a:solidFill>
                <a:latin typeface="Quicksand"/>
              </a:rPr>
              <a:t>: Verifique se o serviço de nuvem escolhido emprega criptografia robusta, protegendo seus dados tanto no momento em que são armazenados (dados em repouso) quanto durante a transferência entre dispositivos e servidores (dados em trânsito).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pic>
        <p:nvPicPr>
          <p:cNvPr id="2" name="Picture 1" descr="1c829237-5609-4cd3-88e5-9a39aa8a67e0.png"/>
          <p:cNvPicPr>
            <a:picLocks noChangeAspect="1"/>
          </p:cNvPicPr>
          <p:nvPr/>
        </p:nvPicPr>
        <p:blipFill>
          <a:blip r:embed="rId2"/>
          <a:stretch>
            <a:fillRect/>
          </a:stretch>
        </p:blipFill>
        <p:spPr>
          <a:xfrm>
            <a:off x="1285875" y="1638299"/>
            <a:ext cx="7000875" cy="7000875"/>
          </a:xfrm>
          <a:prstGeom prst="rect">
            <a:avLst/>
          </a:prstGeom>
        </p:spPr>
      </p:pic>
      <p:sp>
        <p:nvSpPr>
          <p:cNvPr id="4" name="TextBox 3"/>
          <p:cNvSpPr txBox="1"/>
          <p:nvPr/>
        </p:nvSpPr>
        <p:spPr>
          <a:xfrm>
            <a:off x="1285875" y="8829675"/>
            <a:ext cx="7367587" cy="428625"/>
          </a:xfrm>
          <a:prstGeom prst="rect">
            <a:avLst/>
          </a:prstGeom>
          <a:noFill/>
        </p:spPr>
        <p:txBody>
          <a:bodyPr wrap="square" lIns="0" tIns="0" rIns="0" bIns="0">
            <a:normAutofit/>
          </a:bodyPr>
          <a:lstStyle/>
          <a:p>
            <a:pPr algn="l">
              <a:lnSpc>
                <a:spcPct val="126000"/>
              </a:lnSpc>
            </a:pPr>
            <a:r>
              <a:rPr sz="2100" i="1">
                <a:solidFill>
                  <a:srgbClr val="FFFFFF"/>
                </a:solidFill>
                <a:latin typeface="Quicksand"/>
              </a:rPr>
              <a:t>Escudo de cibersegurança: proteção robusta para dados e redes globais.</a:t>
            </a:r>
          </a:p>
        </p:txBody>
      </p:sp>
      <p:sp>
        <p:nvSpPr>
          <p:cNvPr id="5" name="TextBox 4"/>
          <p:cNvSpPr txBox="1"/>
          <p:nvPr/>
        </p:nvSpPr>
        <p:spPr>
          <a:xfrm>
            <a:off x="9639300" y="1790700"/>
            <a:ext cx="7362824" cy="2577405"/>
          </a:xfrm>
          <a:prstGeom prst="rect">
            <a:avLst/>
          </a:prstGeom>
          <a:noFill/>
        </p:spPr>
        <p:txBody>
          <a:bodyPr wrap="square" lIns="0" tIns="0" rIns="0" bIns="0">
            <a:normAutofit/>
          </a:bodyPr>
          <a:lstStyle/>
          <a:p>
            <a:pPr algn="l">
              <a:lnSpc>
                <a:spcPct val="99000"/>
              </a:lnSpc>
            </a:pPr>
            <a:r>
              <a:rPr sz="6150" b="1">
                <a:solidFill>
                  <a:srgbClr val="FFFFFF"/>
                </a:solidFill>
                <a:latin typeface="Quicksand Bold"/>
              </a:rPr>
              <a:t>Privacidade e Segurança de Dados (LGPD)</a:t>
            </a:r>
          </a:p>
        </p:txBody>
      </p:sp>
      <p:sp>
        <p:nvSpPr>
          <p:cNvPr id="6" name="TextBox 5"/>
          <p:cNvSpPr txBox="1"/>
          <p:nvPr/>
        </p:nvSpPr>
        <p:spPr>
          <a:xfrm>
            <a:off x="9639300" y="4672905"/>
            <a:ext cx="7362824" cy="1933277"/>
          </a:xfrm>
          <a:prstGeom prst="rect">
            <a:avLst/>
          </a:prstGeom>
          <a:noFill/>
        </p:spPr>
        <p:txBody>
          <a:bodyPr wrap="square" lIns="0" tIns="0" rIns="0" bIns="0">
            <a:normAutofit/>
          </a:bodyPr>
          <a:lstStyle/>
          <a:p>
            <a:pPr algn="l">
              <a:buChar char="•"/>
            </a:pPr>
            <a:r>
              <a:rPr sz="2175">
                <a:latin typeface="Quicksand"/>
              </a:rPr>
              <a:t>  </a:t>
            </a:r>
            <a:r>
              <a:rPr sz="2175" b="1">
                <a:solidFill>
                  <a:srgbClr val="FFFFFF"/>
                </a:solidFill>
                <a:latin typeface="Quicksand Bold"/>
              </a:rPr>
              <a:t>Termos de Uso</a:t>
            </a:r>
            <a:r>
              <a:rPr sz="2175">
                <a:solidFill>
                  <a:srgbClr val="FFFFFF"/>
                </a:solidFill>
                <a:latin typeface="Quicksand"/>
              </a:rPr>
              <a:t>: Ao utilizar plataformas 'gratuitas', é fundamental ler e entender os termos de uso, pois muitas vezes, seus dados de uso se tornam o 'produto' para fins de publicidade, levantando questões importantes sobre privacidade.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600200" y="1508760"/>
            <a:ext cx="15087600" cy="2011680"/>
          </a:xfrm>
          <a:prstGeom prst="rect">
            <a:avLst/>
          </a:prstGeom>
          <a:noFill/>
        </p:spPr>
        <p:txBody>
          <a:bodyPr wrap="square">
            <a:spAutoFit/>
          </a:bodyPr>
          <a:lstStyle/>
          <a:p>
            <a:pPr algn="l"/>
            <a:r>
              <a:rPr sz="3600" b="1">
                <a:solidFill>
                  <a:srgbClr val="0F151A"/>
                </a:solidFill>
                <a:latin typeface="Calibri"/>
              </a:rPr>
              <a:t>Pensando na segurança dos dados digitais que você manipula diariamente, qual das opções a seguir descreve a principal diferença entre Sincronização e Backup, considerando suas finalidades e riscos?</a:t>
            </a:r>
          </a:p>
        </p:txBody>
      </p:sp>
      <p:sp>
        <p:nvSpPr>
          <p:cNvPr id="3" name="Rounded Rectangle 2"/>
          <p:cNvSpPr/>
          <p:nvPr/>
        </p:nvSpPr>
        <p:spPr>
          <a:xfrm>
            <a:off x="1600200" y="3901440"/>
            <a:ext cx="15087600" cy="990599"/>
          </a:xfrm>
          <a:prstGeom prst="roundRect">
            <a:avLst>
              <a:gd name="adj" fmla="val 2777"/>
            </a:avLst>
          </a:prstGeom>
          <a:solidFill>
            <a:srgbClr val="EDF2FF"/>
          </a:solidFill>
          <a:ln w="25400">
            <a:solidFill>
              <a:srgbClr val="80A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905000" y="4168140"/>
            <a:ext cx="457200" cy="457200"/>
          </a:xfrm>
          <a:prstGeom prst="ellipse">
            <a:avLst/>
          </a:prstGeom>
          <a:solidFill>
            <a:srgbClr val="588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latin typeface="Calibri"/>
              </a:rPr>
              <a:t>A</a:t>
            </a:r>
          </a:p>
        </p:txBody>
      </p:sp>
      <p:sp>
        <p:nvSpPr>
          <p:cNvPr id="5" name="TextBox 4"/>
          <p:cNvSpPr txBox="1"/>
          <p:nvPr/>
        </p:nvSpPr>
        <p:spPr>
          <a:xfrm>
            <a:off x="2533650" y="4053840"/>
            <a:ext cx="13849349" cy="685800"/>
          </a:xfrm>
          <a:prstGeom prst="rect">
            <a:avLst/>
          </a:prstGeom>
          <a:noFill/>
        </p:spPr>
        <p:txBody>
          <a:bodyPr wrap="square" anchor="ctr">
            <a:spAutoFit/>
          </a:bodyPr>
          <a:lstStyle/>
          <a:p>
            <a:pPr algn="l"/>
            <a:r>
              <a:rPr sz="1800">
                <a:solidFill>
                  <a:srgbClr val="0F151A"/>
                </a:solidFill>
                <a:latin typeface="Rubik"/>
              </a:rPr>
              <a:t>Sincronização é usada apenas para transferir arquivos entre dispositivos, enquanto Backup é para compartilhar documentos com outras pessoas online.</a:t>
            </a:r>
          </a:p>
        </p:txBody>
      </p:sp>
      <p:sp>
        <p:nvSpPr>
          <p:cNvPr id="6" name="Rounded Rectangle 5"/>
          <p:cNvSpPr/>
          <p:nvPr/>
        </p:nvSpPr>
        <p:spPr>
          <a:xfrm>
            <a:off x="1600200" y="5196840"/>
            <a:ext cx="15087600" cy="990599"/>
          </a:xfrm>
          <a:prstGeom prst="roundRect">
            <a:avLst>
              <a:gd name="adj" fmla="val 2777"/>
            </a:avLst>
          </a:prstGeom>
          <a:solidFill>
            <a:srgbClr val="E2FAF8"/>
          </a:solidFill>
          <a:ln w="25400">
            <a:solidFill>
              <a:srgbClr val="77C7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905000" y="5463540"/>
            <a:ext cx="457200" cy="457200"/>
          </a:xfrm>
          <a:prstGeom prst="ellipse">
            <a:avLst/>
          </a:prstGeom>
          <a:solidFill>
            <a:srgbClr val="008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latin typeface="Calibri"/>
              </a:rPr>
              <a:t>B</a:t>
            </a:r>
          </a:p>
        </p:txBody>
      </p:sp>
      <p:sp>
        <p:nvSpPr>
          <p:cNvPr id="8" name="TextBox 7"/>
          <p:cNvSpPr txBox="1"/>
          <p:nvPr/>
        </p:nvSpPr>
        <p:spPr>
          <a:xfrm>
            <a:off x="2533650" y="5349240"/>
            <a:ext cx="13849349" cy="685800"/>
          </a:xfrm>
          <a:prstGeom prst="rect">
            <a:avLst/>
          </a:prstGeom>
          <a:noFill/>
        </p:spPr>
        <p:txBody>
          <a:bodyPr wrap="square" anchor="ctr">
            <a:spAutoFit/>
          </a:bodyPr>
          <a:lstStyle/>
          <a:p>
            <a:pPr algn="l"/>
            <a:r>
              <a:rPr sz="1800">
                <a:solidFill>
                  <a:srgbClr val="0F151A"/>
                </a:solidFill>
                <a:latin typeface="Rubik"/>
              </a:rPr>
              <a:t>Sincronização espelha as mudanças (incluindo erros e deleções) em tempo real entre locais, enquanto Backup cria uma cópia independente e estática para recuperação futura.</a:t>
            </a:r>
          </a:p>
        </p:txBody>
      </p:sp>
      <p:sp>
        <p:nvSpPr>
          <p:cNvPr id="9" name="Rounded Rectangle 8"/>
          <p:cNvSpPr/>
          <p:nvPr/>
        </p:nvSpPr>
        <p:spPr>
          <a:xfrm>
            <a:off x="1600200" y="6492240"/>
            <a:ext cx="15087600" cy="990599"/>
          </a:xfrm>
          <a:prstGeom prst="roundRect">
            <a:avLst>
              <a:gd name="adj" fmla="val 2777"/>
            </a:avLst>
          </a:prstGeom>
          <a:solidFill>
            <a:srgbClr val="FFF7E0"/>
          </a:solidFill>
          <a:ln w="25400">
            <a:solidFill>
              <a:srgbClr val="FFC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905000" y="6758940"/>
            <a:ext cx="457200" cy="457200"/>
          </a:xfrm>
          <a:prstGeom prst="ellipse">
            <a:avLst/>
          </a:prstGeom>
          <a:solidFill>
            <a:srgbClr val="C7A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latin typeface="Calibri"/>
              </a:rPr>
              <a:t>C</a:t>
            </a:r>
          </a:p>
        </p:txBody>
      </p:sp>
      <p:sp>
        <p:nvSpPr>
          <p:cNvPr id="11" name="TextBox 10"/>
          <p:cNvSpPr txBox="1"/>
          <p:nvPr/>
        </p:nvSpPr>
        <p:spPr>
          <a:xfrm>
            <a:off x="2533650" y="6644640"/>
            <a:ext cx="13849349" cy="685800"/>
          </a:xfrm>
          <a:prstGeom prst="rect">
            <a:avLst/>
          </a:prstGeom>
          <a:noFill/>
        </p:spPr>
        <p:txBody>
          <a:bodyPr wrap="square" anchor="ctr">
            <a:spAutoFit/>
          </a:bodyPr>
          <a:lstStyle/>
          <a:p>
            <a:pPr algn="l"/>
            <a:r>
              <a:rPr sz="1800">
                <a:solidFill>
                  <a:srgbClr val="0F151A"/>
                </a:solidFill>
                <a:latin typeface="Rubik"/>
              </a:rPr>
              <a:t>Backup é sempre manual e exige que o usuário copie os arquivos um por um, enquanto Sincronização é um processo totalmente automatizado e invisível.</a:t>
            </a:r>
          </a:p>
        </p:txBody>
      </p:sp>
      <p:sp>
        <p:nvSpPr>
          <p:cNvPr id="12" name="Rounded Rectangle 11"/>
          <p:cNvSpPr/>
          <p:nvPr/>
        </p:nvSpPr>
        <p:spPr>
          <a:xfrm>
            <a:off x="1600200" y="7787640"/>
            <a:ext cx="15087600" cy="990599"/>
          </a:xfrm>
          <a:prstGeom prst="roundRect">
            <a:avLst>
              <a:gd name="adj" fmla="val 2777"/>
            </a:avLst>
          </a:prstGeom>
          <a:solidFill>
            <a:srgbClr val="FFEDE0"/>
          </a:solidFill>
          <a:ln w="25400">
            <a:solidFill>
              <a:srgbClr val="FA7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905000" y="8054340"/>
            <a:ext cx="457200" cy="457200"/>
          </a:xfrm>
          <a:prstGeom prst="ellipse">
            <a:avLst/>
          </a:prstGeom>
          <a:solidFill>
            <a:srgbClr val="FA7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latin typeface="Calibri"/>
              </a:rPr>
              <a:t>D</a:t>
            </a:r>
          </a:p>
        </p:txBody>
      </p:sp>
      <p:sp>
        <p:nvSpPr>
          <p:cNvPr id="14" name="TextBox 13"/>
          <p:cNvSpPr txBox="1"/>
          <p:nvPr/>
        </p:nvSpPr>
        <p:spPr>
          <a:xfrm>
            <a:off x="2533650" y="7940040"/>
            <a:ext cx="13849349" cy="685800"/>
          </a:xfrm>
          <a:prstGeom prst="rect">
            <a:avLst/>
          </a:prstGeom>
          <a:noFill/>
        </p:spPr>
        <p:txBody>
          <a:bodyPr wrap="square" anchor="ctr">
            <a:spAutoFit/>
          </a:bodyPr>
          <a:lstStyle/>
          <a:p>
            <a:pPr algn="l"/>
            <a:r>
              <a:rPr sz="1800">
                <a:solidFill>
                  <a:srgbClr val="0F151A"/>
                </a:solidFill>
                <a:latin typeface="Rubik"/>
              </a:rPr>
              <a:t>Não existe uma diferença significativa; ambos os termos referem-se a métodos distintos de apenas salvar arquivos importantes em uma pasta separada para organização.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4" name="TextBox 3"/>
          <p:cNvSpPr txBox="1"/>
          <p:nvPr/>
        </p:nvSpPr>
        <p:spPr>
          <a:xfrm>
            <a:off x="2476499" y="1904999"/>
            <a:ext cx="13334999" cy="822920"/>
          </a:xfrm>
          <a:prstGeom prst="rect">
            <a:avLst/>
          </a:prstGeom>
          <a:noFill/>
        </p:spPr>
        <p:txBody>
          <a:bodyPr wrap="square" lIns="0" tIns="0" rIns="0" bIns="0">
            <a:normAutofit/>
          </a:bodyPr>
          <a:lstStyle/>
          <a:p>
            <a:pPr algn="l">
              <a:lnSpc>
                <a:spcPct val="108000"/>
              </a:lnSpc>
            </a:pPr>
            <a:r>
              <a:rPr sz="5400" b="1">
                <a:solidFill>
                  <a:srgbClr val="FFFFFF"/>
                </a:solidFill>
                <a:latin typeface="Quicksand Bold"/>
              </a:rPr>
              <a:t>Desafio: Projeto Científico Colaborativo</a:t>
            </a:r>
          </a:p>
        </p:txBody>
      </p:sp>
      <p:sp>
        <p:nvSpPr>
          <p:cNvPr id="5" name="TextBox 4"/>
          <p:cNvSpPr txBox="1"/>
          <p:nvPr/>
        </p:nvSpPr>
        <p:spPr>
          <a:xfrm>
            <a:off x="2476499" y="2918420"/>
            <a:ext cx="13334999" cy="5520928"/>
          </a:xfrm>
          <a:prstGeom prst="rect">
            <a:avLst/>
          </a:prstGeom>
          <a:noFill/>
        </p:spPr>
        <p:txBody>
          <a:bodyPr wrap="square" lIns="0" tIns="0" rIns="0" bIns="0">
            <a:normAutofit/>
          </a:bodyPr>
          <a:lstStyle/>
          <a:p>
            <a:pPr algn="l">
              <a:lnSpc>
                <a:spcPct val="126000"/>
              </a:lnSpc>
            </a:pPr>
            <a:r>
              <a:rPr sz="2550">
                <a:solidFill>
                  <a:srgbClr val="FFFFFF"/>
                </a:solidFill>
                <a:latin typeface="Quicksand"/>
              </a:rPr>
              <a:t>Imagine que você é o líder de um projeto científico escolar com 5 integrantes. O projeto envolve uma pesquisa de campo (fotos e vídeos), um relatório de 50 páginas, uma planilha de gastos e resultados experimentais, e uma apresentação final para a feira de ciências. Para garantir o sucesso e a </a:t>
            </a:r>
            <a:r>
              <a:rPr sz="2550" b="1">
                <a:solidFill>
                  <a:srgbClr val="FFFFFF"/>
                </a:solidFill>
                <a:latin typeface="Quicksand Bold"/>
              </a:rPr>
              <a:t>colaboração eficaz</a:t>
            </a:r>
            <a:r>
              <a:rPr sz="2550">
                <a:solidFill>
                  <a:srgbClr val="FFFFFF"/>
                </a:solidFill>
                <a:latin typeface="Quicksand"/>
              </a:rPr>
              <a:t>, discuta as seguintes questões:</a:t>
            </a:r>
          </a:p>
          <a:p>
            <a:pPr algn="l">
              <a:lnSpc>
                <a:spcPct val="126000"/>
              </a:lnSpc>
            </a:pPr>
            <a:endParaRPr sz="2550">
              <a:solidFill>
                <a:srgbClr val="FFFFFF"/>
              </a:solidFill>
              <a:latin typeface="Quicksand"/>
            </a:endParaRPr>
          </a:p>
          <a:p>
            <a:pPr algn="l">
              <a:lnSpc>
                <a:spcPct val="126000"/>
              </a:lnSpc>
              <a:spcBef>
                <a:spcPts val="1593"/>
              </a:spcBef>
              <a:buChar char="•"/>
            </a:pPr>
            <a:r>
              <a:rPr sz="2550">
                <a:latin typeface="Quicksand"/>
              </a:rPr>
              <a:t>  </a:t>
            </a:r>
            <a:r>
              <a:rPr sz="2550">
                <a:solidFill>
                  <a:srgbClr val="FFFFFF"/>
                </a:solidFill>
                <a:latin typeface="Quicksand"/>
              </a:rPr>
              <a:t>Como você estruturaria a hierarquia de pastas na nuvem para organizar todos esses materiais diversificados?</a:t>
            </a:r>
          </a:p>
          <a:p>
            <a:pPr algn="l">
              <a:lnSpc>
                <a:spcPct val="126000"/>
              </a:lnSpc>
              <a:spcBef>
                <a:spcPts val="1593"/>
              </a:spcBef>
              <a:buChar char="•"/>
            </a:pPr>
            <a:r>
              <a:rPr sz="2550">
                <a:latin typeface="Quicksand"/>
              </a:rPr>
              <a:t>  </a:t>
            </a:r>
            <a:r>
              <a:rPr sz="2550">
                <a:solidFill>
                  <a:srgbClr val="FFFFFF"/>
                </a:solidFill>
                <a:latin typeface="Quicksand"/>
              </a:rPr>
              <a:t>Quais ferramentas de produtividade você escolheria para cada tarefa (pesquisa, relatório, planilha, apresentação)?</a:t>
            </a:r>
          </a:p>
          <a:p>
            <a:pPr algn="l">
              <a:lnSpc>
                <a:spcPct val="126000"/>
              </a:lnSpc>
              <a:spcBef>
                <a:spcPts val="1593"/>
              </a:spcBef>
              <a:buChar char="•"/>
            </a:pPr>
            <a:r>
              <a:rPr sz="2550">
                <a:latin typeface="Quicksand"/>
              </a:rPr>
              <a:t>  </a:t>
            </a:r>
            <a:r>
              <a:rPr sz="2550">
                <a:solidFill>
                  <a:srgbClr val="FFFFFF"/>
                </a:solidFill>
                <a:latin typeface="Quicksand"/>
              </a:rPr>
              <a:t>Como gerenciaria as </a:t>
            </a:r>
            <a:r>
              <a:rPr sz="2550" b="1">
                <a:solidFill>
                  <a:srgbClr val="FFFFFF"/>
                </a:solidFill>
                <a:latin typeface="Quicksand Bold"/>
              </a:rPr>
              <a:t>permissões de acesso</a:t>
            </a:r>
            <a:r>
              <a:rPr sz="2550">
                <a:solidFill>
                  <a:srgbClr val="FFFFFF"/>
                </a:solidFill>
                <a:latin typeface="Quicksand"/>
              </a:rPr>
              <a:t> e o </a:t>
            </a:r>
            <a:r>
              <a:rPr sz="2550" b="1">
                <a:solidFill>
                  <a:srgbClr val="FFFFFF"/>
                </a:solidFill>
                <a:latin typeface="Quicksand Bold"/>
              </a:rPr>
              <a:t>controle de versionamento</a:t>
            </a:r>
            <a:r>
              <a:rPr sz="2550">
                <a:solidFill>
                  <a:srgbClr val="FFFFFF"/>
                </a:solidFill>
                <a:latin typeface="Quicksand"/>
              </a:rPr>
              <a:t> para garantir que ninguém apague o trabalho dos colegas e que o cronograma seja cumprido sem atrasos?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371600" y="3996531"/>
          <a:ext cx="15544797" cy="4461510"/>
        </p:xfrm>
        <a:graphic>
          <a:graphicData uri="http://schemas.openxmlformats.org/drawingml/2006/table">
            <a:tbl>
              <a:tblPr firstRow="1" bandRow="1">
                <a:tableStyleId>{5C22544A-7EE6-4342-B048-85BDC9FD1C3A}</a:tableStyleId>
              </a:tblPr>
              <a:tblGrid>
                <a:gridCol w="5181599">
                  <a:extLst>
                    <a:ext uri="{9D8B030D-6E8A-4147-A177-3AD203B41FA5}">
                      <a16:colId xmlns:a16="http://schemas.microsoft.com/office/drawing/2014/main" val="20000"/>
                    </a:ext>
                  </a:extLst>
                </a:gridCol>
                <a:gridCol w="5181599">
                  <a:extLst>
                    <a:ext uri="{9D8B030D-6E8A-4147-A177-3AD203B41FA5}">
                      <a16:colId xmlns:a16="http://schemas.microsoft.com/office/drawing/2014/main" val="20001"/>
                    </a:ext>
                  </a:extLst>
                </a:gridCol>
                <a:gridCol w="5181599">
                  <a:extLst>
                    <a:ext uri="{9D8B030D-6E8A-4147-A177-3AD203B41FA5}">
                      <a16:colId xmlns:a16="http://schemas.microsoft.com/office/drawing/2014/main" val="20002"/>
                    </a:ext>
                  </a:extLst>
                </a:gridCol>
              </a:tblGrid>
              <a:tr h="743585">
                <a:tc>
                  <a:txBody>
                    <a:bodyPr/>
                    <a:lstStyle/>
                    <a:p>
                      <a:pPr algn="ctr"/>
                      <a:r>
                        <a:rPr sz="2400" b="1">
                          <a:solidFill>
                            <a:srgbClr val="FFFFFF"/>
                          </a:solidFill>
                          <a:latin typeface="Quicksand Bold"/>
                        </a:rPr>
                        <a:t>Área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0063B"/>
                    </a:solidFill>
                  </a:tcPr>
                </a:tc>
                <a:tc>
                  <a:txBody>
                    <a:bodyPr/>
                    <a:lstStyle/>
                    <a:p>
                      <a:pPr algn="ctr"/>
                      <a:r>
                        <a:rPr sz="2400" b="1">
                          <a:solidFill>
                            <a:srgbClr val="FFFFFF"/>
                          </a:solidFill>
                          <a:latin typeface="Quicksand Bold"/>
                        </a:rPr>
                        <a:t>Conceito Chave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0063B"/>
                    </a:solidFill>
                  </a:tcPr>
                </a:tc>
                <a:tc>
                  <a:txBody>
                    <a:bodyPr/>
                    <a:lstStyle/>
                    <a:p>
                      <a:pPr algn="ctr"/>
                      <a:r>
                        <a:rPr sz="2400" b="1">
                          <a:solidFill>
                            <a:srgbClr val="FFFFFF"/>
                          </a:solidFill>
                          <a:latin typeface="Quicksand Bold"/>
                        </a:rPr>
                        <a:t>Aplicação Prática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0063B"/>
                    </a:solidFill>
                  </a:tcPr>
                </a:tc>
                <a:extLst>
                  <a:ext uri="{0D108BD9-81ED-4DB2-BD59-A6C34878D82A}">
                    <a16:rowId xmlns:a16="http://schemas.microsoft.com/office/drawing/2014/main" val="10000"/>
                  </a:ext>
                </a:extLst>
              </a:tr>
              <a:tr h="743585">
                <a:tc>
                  <a:txBody>
                    <a:bodyPr/>
                    <a:lstStyle/>
                    <a:p>
                      <a:pPr algn="l"/>
                      <a:r>
                        <a:rPr sz="1950">
                          <a:solidFill>
                            <a:srgbClr val="FFFFFF"/>
                          </a:solidFill>
                          <a:latin typeface="Quicksand"/>
                        </a:rPr>
                        <a:t>SO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950">
                          <a:solidFill>
                            <a:srgbClr val="FFFFFF"/>
                          </a:solidFill>
                          <a:latin typeface="Quicksand"/>
                        </a:rPr>
                        <a:t>Gerenciamento de Hardware/Arquivos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950">
                          <a:solidFill>
                            <a:srgbClr val="FFFFFF"/>
                          </a:solidFill>
                          <a:latin typeface="Quicksand"/>
                        </a:rPr>
                        <a:t>Base para rodar qualquer software.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1"/>
                  </a:ext>
                </a:extLst>
              </a:tr>
              <a:tr h="743585">
                <a:tc>
                  <a:txBody>
                    <a:bodyPr/>
                    <a:lstStyle/>
                    <a:p>
                      <a:pPr algn="l"/>
                      <a:r>
                        <a:rPr sz="1950">
                          <a:solidFill>
                            <a:srgbClr val="FFFFFF"/>
                          </a:solidFill>
                          <a:latin typeface="Quicksand"/>
                        </a:rPr>
                        <a:t>Organização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950">
                          <a:solidFill>
                            <a:srgbClr val="FFFFFF"/>
                          </a:solidFill>
                          <a:latin typeface="Quicksand"/>
                        </a:rPr>
                        <a:t>Hierarquia e Nomenclatura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950">
                          <a:solidFill>
                            <a:srgbClr val="FFFFFF"/>
                          </a:solidFill>
                          <a:latin typeface="Quicksand"/>
                        </a:rPr>
                        <a:t>Agilidade na busca e recuperação de dados.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2"/>
                  </a:ext>
                </a:extLst>
              </a:tr>
              <a:tr h="743585">
                <a:tc>
                  <a:txBody>
                    <a:bodyPr/>
                    <a:lstStyle/>
                    <a:p>
                      <a:pPr algn="l"/>
                      <a:r>
                        <a:rPr sz="1950">
                          <a:solidFill>
                            <a:srgbClr val="FFFFFF"/>
                          </a:solidFill>
                          <a:latin typeface="Quicksand"/>
                        </a:rPr>
                        <a:t>Texto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950">
                          <a:solidFill>
                            <a:srgbClr val="FFFFFF"/>
                          </a:solidFill>
                          <a:latin typeface="Quicksand"/>
                        </a:rPr>
                        <a:t>Estrutura e Acessibilidade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950">
                          <a:solidFill>
                            <a:srgbClr val="FFFFFF"/>
                          </a:solidFill>
                          <a:latin typeface="Quicksand"/>
                        </a:rPr>
                        <a:t>Documentos profissionais e inclusivos.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3"/>
                  </a:ext>
                </a:extLst>
              </a:tr>
              <a:tr h="743585">
                <a:tc>
                  <a:txBody>
                    <a:bodyPr/>
                    <a:lstStyle/>
                    <a:p>
                      <a:pPr algn="l"/>
                      <a:r>
                        <a:rPr sz="1950">
                          <a:solidFill>
                            <a:srgbClr val="FFFFFF"/>
                          </a:solidFill>
                          <a:latin typeface="Quicksand"/>
                        </a:rPr>
                        <a:t>Planilhas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950">
                          <a:solidFill>
                            <a:srgbClr val="FFFFFF"/>
                          </a:solidFill>
                          <a:latin typeface="Quicksand"/>
                        </a:rPr>
                        <a:t>Lógica de Células e Fórmulas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950">
                          <a:solidFill>
                            <a:srgbClr val="FFFFFF"/>
                          </a:solidFill>
                          <a:latin typeface="Quicksand"/>
                        </a:rPr>
                        <a:t>Automação de cálculos e análise de dados.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4"/>
                  </a:ext>
                </a:extLst>
              </a:tr>
              <a:tr h="743585">
                <a:tc>
                  <a:txBody>
                    <a:bodyPr/>
                    <a:lstStyle/>
                    <a:p>
                      <a:pPr algn="l"/>
                      <a:r>
                        <a:rPr sz="1950">
                          <a:solidFill>
                            <a:srgbClr val="FFFFFF"/>
                          </a:solidFill>
                          <a:latin typeface="Quicksand"/>
                        </a:rPr>
                        <a:t>Nuvem</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950">
                          <a:solidFill>
                            <a:srgbClr val="FFFFFF"/>
                          </a:solidFill>
                          <a:latin typeface="Quicksand"/>
                        </a:rPr>
                        <a:t>Sincronização e Colaboração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tc>
                  <a:txBody>
                    <a:bodyPr/>
                    <a:lstStyle/>
                    <a:p>
                      <a:pPr algn="l"/>
                      <a:r>
                        <a:rPr sz="1950">
                          <a:solidFill>
                            <a:srgbClr val="FFFFFF"/>
                          </a:solidFill>
                          <a:latin typeface="Quicksand"/>
                        </a:rPr>
                        <a:t>Trabalho ubíquo e versionamento seguro.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9136C"/>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1371600" y="1695449"/>
            <a:ext cx="15544800" cy="838200"/>
          </a:xfrm>
          <a:prstGeom prst="rect">
            <a:avLst/>
          </a:prstGeom>
          <a:noFill/>
        </p:spPr>
        <p:txBody>
          <a:bodyPr wrap="square" lIns="0" tIns="0" rIns="0" bIns="0">
            <a:normAutofit/>
          </a:bodyPr>
          <a:lstStyle/>
          <a:p>
            <a:pPr algn="l">
              <a:lnSpc>
                <a:spcPct val="99000"/>
              </a:lnSpc>
            </a:pPr>
            <a:r>
              <a:rPr sz="6000" b="1">
                <a:solidFill>
                  <a:srgbClr val="FFFFFF"/>
                </a:solidFill>
                <a:latin typeface="Quicksand Bold"/>
              </a:rPr>
              <a:t>Resumo dos Conceitos</a:t>
            </a:r>
          </a:p>
        </p:txBody>
      </p:sp>
      <p:sp>
        <p:nvSpPr>
          <p:cNvPr id="5" name="TextBox 4"/>
          <p:cNvSpPr txBox="1"/>
          <p:nvPr/>
        </p:nvSpPr>
        <p:spPr>
          <a:xfrm>
            <a:off x="1371600" y="2838450"/>
            <a:ext cx="15544800" cy="853281"/>
          </a:xfrm>
          <a:prstGeom prst="rect">
            <a:avLst/>
          </a:prstGeom>
          <a:noFill/>
        </p:spPr>
        <p:txBody>
          <a:bodyPr wrap="square" lIns="0" tIns="0" rIns="0" bIns="0">
            <a:normAutofit/>
          </a:bodyPr>
          <a:lstStyle/>
          <a:p>
            <a:pPr algn="l">
              <a:lnSpc>
                <a:spcPct val="126000"/>
              </a:lnSpc>
            </a:pPr>
            <a:r>
              <a:rPr sz="2400">
                <a:solidFill>
                  <a:srgbClr val="FFFFFF"/>
                </a:solidFill>
                <a:latin typeface="Quicksand"/>
              </a:rPr>
              <a:t>A tabela a seguir apresenta um resumo dos conceitos chave discutidos sobre gerenciamento de arquivos e suas aplicações práticas.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276350" y="1695449"/>
            <a:ext cx="13173075" cy="1005780"/>
          </a:xfrm>
          <a:prstGeom prst="rect">
            <a:avLst/>
          </a:prstGeom>
          <a:noFill/>
        </p:spPr>
        <p:txBody>
          <a:bodyPr wrap="square" lIns="0" tIns="0" rIns="0" bIns="0">
            <a:normAutofit/>
          </a:bodyPr>
          <a:lstStyle/>
          <a:p>
            <a:pPr algn="l">
              <a:lnSpc>
                <a:spcPct val="99000"/>
              </a:lnSpc>
            </a:pPr>
            <a:r>
              <a:rPr sz="7200" b="1">
                <a:solidFill>
                  <a:srgbClr val="FFFFFF"/>
                </a:solidFill>
                <a:latin typeface="Quicksand Bold"/>
              </a:rPr>
              <a:t>O Futuro da Produtividade</a:t>
            </a:r>
          </a:p>
        </p:txBody>
      </p:sp>
      <p:sp>
        <p:nvSpPr>
          <p:cNvPr id="4" name="TextBox 3"/>
          <p:cNvSpPr txBox="1"/>
          <p:nvPr/>
        </p:nvSpPr>
        <p:spPr>
          <a:xfrm>
            <a:off x="1276350" y="3006030"/>
            <a:ext cx="13173075" cy="2667000"/>
          </a:xfrm>
          <a:prstGeom prst="rect">
            <a:avLst/>
          </a:prstGeom>
          <a:noFill/>
        </p:spPr>
        <p:txBody>
          <a:bodyPr wrap="square" lIns="0" tIns="0" rIns="0" bIns="0">
            <a:normAutofit/>
          </a:bodyPr>
          <a:lstStyle/>
          <a:p>
            <a:pPr algn="l">
              <a:lnSpc>
                <a:spcPct val="126000"/>
              </a:lnSpc>
            </a:pPr>
            <a:r>
              <a:rPr sz="3000">
                <a:solidFill>
                  <a:srgbClr val="FFFFFF"/>
                </a:solidFill>
                <a:latin typeface="Quicksand"/>
              </a:rPr>
              <a:t>O gerenciamento de arquivos evolui para sistemas com IA, usando linguagem natural na busca. Contudo, a lógica organizacional e as ferramentas atuais continuam essenciais. Pratiquem a padronização e explorem funções avançadas; isso otimizará seus estudos e a vida profissional. Até a próxima aula!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A2375"/>
        </a:solidFill>
        <a:effectLst/>
      </p:bgPr>
    </p:bg>
    <p:spTree>
      <p:nvGrpSpPr>
        <p:cNvPr id="1" name=""/>
        <p:cNvGrpSpPr/>
        <p:nvPr/>
      </p:nvGrpSpPr>
      <p:grpSpPr>
        <a:xfrm>
          <a:off x="0" y="0"/>
          <a:ext cx="0" cy="0"/>
          <a:chOff x="0" y="0"/>
          <a:chExt cx="0" cy="0"/>
        </a:xfrm>
      </p:grpSpPr>
      <p:sp>
        <p:nvSpPr>
          <p:cNvPr id="3" name="TextBox 2"/>
          <p:cNvSpPr txBox="1"/>
          <p:nvPr/>
        </p:nvSpPr>
        <p:spPr>
          <a:xfrm>
            <a:off x="1371600" y="1695449"/>
            <a:ext cx="6248400" cy="1005780"/>
          </a:xfrm>
          <a:prstGeom prst="rect">
            <a:avLst/>
          </a:prstGeom>
          <a:noFill/>
        </p:spPr>
        <p:txBody>
          <a:bodyPr wrap="square" lIns="0" tIns="0" rIns="0" bIns="0">
            <a:normAutofit/>
          </a:bodyPr>
          <a:lstStyle/>
          <a:p>
            <a:pPr algn="l">
              <a:lnSpc>
                <a:spcPct val="99000"/>
              </a:lnSpc>
            </a:pPr>
            <a:r>
              <a:rPr sz="7200" b="1">
                <a:solidFill>
                  <a:srgbClr val="FFFFFF"/>
                </a:solidFill>
                <a:latin typeface="Quicksand Bold"/>
              </a:rPr>
              <a:t>Conclusão</a:t>
            </a:r>
          </a:p>
        </p:txBody>
      </p:sp>
      <p:sp>
        <p:nvSpPr>
          <p:cNvPr id="4" name="TextBox 3"/>
          <p:cNvSpPr txBox="1"/>
          <p:nvPr/>
        </p:nvSpPr>
        <p:spPr>
          <a:xfrm>
            <a:off x="7619999" y="1585912"/>
            <a:ext cx="9391649" cy="7115175"/>
          </a:xfrm>
          <a:prstGeom prst="rect">
            <a:avLst/>
          </a:prstGeom>
          <a:noFill/>
        </p:spPr>
        <p:txBody>
          <a:bodyPr wrap="square" lIns="0" tIns="0" rIns="0" bIns="0">
            <a:normAutofit/>
          </a:bodyPr>
          <a:lstStyle/>
          <a:p>
            <a:pPr algn="l">
              <a:buChar char="•"/>
            </a:pPr>
            <a:r>
              <a:rPr sz="3000">
                <a:latin typeface="Quicksand"/>
              </a:rPr>
              <a:t>  </a:t>
            </a:r>
            <a:r>
              <a:rPr sz="3000">
                <a:solidFill>
                  <a:srgbClr val="FFFFFF"/>
                </a:solidFill>
                <a:latin typeface="Quicksand"/>
              </a:rPr>
              <a:t>Dominar a hierarquia de arquivos e nomenclatura padrão é vital para agilidade na busca e recuperação de dados.</a:t>
            </a:r>
          </a:p>
          <a:p>
            <a:pPr algn="l">
              <a:lnSpc>
                <a:spcPct val="126000"/>
              </a:lnSpc>
              <a:spcBef>
                <a:spcPts val="1875"/>
              </a:spcBef>
              <a:buChar char="•"/>
            </a:pPr>
            <a:r>
              <a:rPr sz="3000">
                <a:latin typeface="Quicksand"/>
              </a:rPr>
              <a:t>  </a:t>
            </a:r>
            <a:r>
              <a:rPr sz="3000">
                <a:solidFill>
                  <a:srgbClr val="FFFFFF"/>
                </a:solidFill>
                <a:latin typeface="Quicksand"/>
              </a:rPr>
              <a:t>Suítes de produtividade (Microsoft 365, Google Workspace) otimizam a criação de documentos, cálculos e apresentações eficazes.</a:t>
            </a:r>
          </a:p>
          <a:p>
            <a:pPr algn="l">
              <a:lnSpc>
                <a:spcPct val="126000"/>
              </a:lnSpc>
              <a:spcBef>
                <a:spcPts val="1875"/>
              </a:spcBef>
              <a:buChar char="•"/>
            </a:pPr>
            <a:r>
              <a:rPr sz="3000">
                <a:latin typeface="Quicksand"/>
              </a:rPr>
              <a:t>  </a:t>
            </a:r>
            <a:r>
              <a:rPr sz="3000">
                <a:solidFill>
                  <a:srgbClr val="FFFFFF"/>
                </a:solidFill>
                <a:latin typeface="Quicksand"/>
              </a:rPr>
              <a:t>A computação em nuvem oferece sincronização, versionamento e colaboração, rompendo barreiras do hardware físico.</a:t>
            </a:r>
          </a:p>
          <a:p>
            <a:pPr algn="l">
              <a:lnSpc>
                <a:spcPct val="126000"/>
              </a:lnSpc>
              <a:spcBef>
                <a:spcPts val="1875"/>
              </a:spcBef>
              <a:buChar char="•"/>
            </a:pPr>
            <a:r>
              <a:rPr sz="3000">
                <a:latin typeface="Quicksand"/>
              </a:rPr>
              <a:t>  </a:t>
            </a:r>
            <a:r>
              <a:rPr sz="3000">
                <a:solidFill>
                  <a:srgbClr val="FFFFFF"/>
                </a:solidFill>
                <a:latin typeface="Quicksand"/>
              </a:rPr>
              <a:t>Diferenciar backup de sincronização e aplicar a LGPD garante segurança, recuperação de dados e privacidade digital.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5008</Words>
  <Application>Microsoft Office PowerPoint</Application>
  <PresentationFormat>Personalizar</PresentationFormat>
  <Paragraphs>210</Paragraphs>
  <Slides>43</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43</vt:i4>
      </vt:variant>
    </vt:vector>
  </HeadingPairs>
  <TitlesOfParts>
    <vt:vector size="50" baseType="lpstr">
      <vt:lpstr>Quicksand</vt:lpstr>
      <vt:lpstr>Cambria Math</vt:lpstr>
      <vt:lpstr>Quicksand Bold</vt:lpstr>
      <vt:lpstr>Arial</vt:lpstr>
      <vt:lpstr>Calibri</vt:lpstr>
      <vt:lpstr>Rubik</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Admin</cp:lastModifiedBy>
  <cp:revision>2</cp:revision>
  <dcterms:created xsi:type="dcterms:W3CDTF">2013-01-27T09:14:16Z</dcterms:created>
  <dcterms:modified xsi:type="dcterms:W3CDTF">2026-05-15T13:53:56Z</dcterms:modified>
  <cp:category/>
</cp:coreProperties>
</file>