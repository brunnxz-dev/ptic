
<file path=[Content_Types].xml><?xml version="1.0" encoding="utf-8"?>
<Types xmlns="http://schemas.openxmlformats.org/package/2006/content-types">
  <Default ContentType="application/x-fontdata" Extension="fntdata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true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8288000" cy="10287000" type="screen4x3"/>
  <p:notesSz cx="6858000" cy="9144000"/>
  <p:embeddedFontLst>
    <p:embeddedFont>
      <p:font typeface="Quicksand" charset="1" panose="020B0503030404020204"/>
      <p:regular r:id="rId59"/>
    </p:embeddedFont>
    <p:embeddedFont>
      <p:font typeface="Quicksand Bold" charset="1" panose="020B0803030404020204"/>
      <p:regular r:id="rId60"/>
    </p:embeddedFont>
    <p:embeddedFont>
      <p:font typeface="Rubik" charset="1" panose="020B0503030404020204"/>
      <p:regular r:id="rId61"/>
    </p:embeddedFont>
    <p:embeddedFont>
      <p:font typeface="Rubik Bold" charset="1" panose="020B0803030404020204"/>
      <p:regular r:id="rId62"/>
    </p:embeddedFont>
    <p:embeddedFont>
      <p:font typeface="Rubik Italic" charset="1" panose="020B0503030404090204"/>
      <p:regular r:id="rId63"/>
    </p:embeddedFont>
    <p:embeddedFont>
      <p:font typeface="Rubik Bold Italic" charset="1" panose="020B0803030404090204"/>
      <p:regular r:id="rId6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font" Target="fonts/font1.fntdata"/><Relationship Id="rId60" Type="http://schemas.openxmlformats.org/officeDocument/2006/relationships/font" Target="fonts/font2.fntdata"/><Relationship Id="rId61" Type="http://schemas.openxmlformats.org/officeDocument/2006/relationships/font" Target="fonts/font3.fntdata"/><Relationship Id="rId62" Type="http://schemas.openxmlformats.org/officeDocument/2006/relationships/font" Target="fonts/font4.fntdata"/><Relationship Id="rId63" Type="http://schemas.openxmlformats.org/officeDocument/2006/relationships/font" Target="fonts/font5.fntdata"/><Relationship Id="rId64" Type="http://schemas.openxmlformats.org/officeDocument/2006/relationships/font" Target="fonts/font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24049" y="3181350"/>
            <a:ext cx="12706349" cy="25144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9000" b="1">
                <a:solidFill>
                  <a:srgbClr val="FFFFFF"/>
                </a:solidFill>
                <a:latin typeface="Quicksand Bold"/>
              </a:rPr>
              <a:t>Excel: do dado à decisão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4049" y="6153149"/>
            <a:ext cx="8858250" cy="79598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2850">
                <a:solidFill>
                  <a:srgbClr val="FFFFFF"/>
                </a:solidFill>
                <a:latin typeface="Quicksand"/>
              </a:rPr>
              <a:t>Planilhas, análise e visualização para o desenvolvimento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62274"/>
            <a:ext cx="6937375" cy="4362450"/>
          </a:xfrm>
          <a:prstGeom prst="roundRect">
            <a:avLst>
              <a:gd name="adj" fmla="val 8733"/>
            </a:avLst>
          </a:prstGeom>
          <a:solidFill>
            <a:srgbClr val="272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7515224"/>
            <a:ext cx="6937375" cy="2085975"/>
          </a:xfrm>
          <a:prstGeom prst="roundRect">
            <a:avLst>
              <a:gd name="adj" fmla="val 12785"/>
            </a:avLst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515224"/>
            <a:ext cx="171450" cy="2085975"/>
          </a:xfrm>
          <a:prstGeom prst="rect">
            <a:avLst/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7515224"/>
            <a:ext cx="57150" cy="20859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85422" y="2962274"/>
            <a:ext cx="9045029" cy="6118919"/>
          </a:xfrm>
          <a:prstGeom prst="roundRect">
            <a:avLst>
              <a:gd name="adj" fmla="val 5603"/>
            </a:avLst>
          </a:prstGeom>
          <a:solidFill>
            <a:srgbClr val="272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64d6c06-1633-4b12-af4a-ba8e5dbcc6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99" y="4724399"/>
            <a:ext cx="838200" cy="838200"/>
          </a:xfrm>
          <a:prstGeom prst="rect">
            <a:avLst/>
          </a:prstGeom>
        </p:spPr>
      </p:pic>
      <p:pic>
        <p:nvPicPr>
          <p:cNvPr id="9" name="Picture 8" descr="82aa3ce9-fbfe-49ae-8cbb-19b7db8a4c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772" y="3095625"/>
            <a:ext cx="8778329" cy="58522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1999" y="761999"/>
            <a:ext cx="16763999" cy="2284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Quicksand Bold"/>
              </a:rPr>
              <a:t>PLANILHAS •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99" y="1085850"/>
            <a:ext cx="16763999" cy="6703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Excel no desenvolvimento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99" y="1832570"/>
            <a:ext cx="16763999" cy="4114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Da tabela bruta à decisão: organizar, calcular, visualizar e comunicar.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9299" y="3314700"/>
            <a:ext cx="5299075" cy="9216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3300" b="1">
                <a:solidFill>
                  <a:srgbClr val="FFFFFF"/>
                </a:solidFill>
                <a:latin typeface="Quicksand Bold"/>
              </a:rPr>
              <a:t>Excel é uma ferramenta de raciocínio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9299" y="4408090"/>
            <a:ext cx="5299075" cy="25587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>
                <a:solidFill>
                  <a:srgbClr val="FFFFFF"/>
                </a:solidFill>
                <a:latin typeface="Quicksand"/>
              </a:rPr>
              <a:t>Planilha eletrônica para organizar dados, calcular automaticamente, explorar informações e comunicar resultados. Em sistemas, apoia planejamento, testes, custos, requisitos e acompanhamento.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8258174"/>
            <a:ext cx="6365875" cy="5936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800">
                <a:solidFill>
                  <a:srgbClr val="FFFFFF"/>
                </a:solidFill>
                <a:latin typeface="Quicksand"/>
              </a:rPr>
              <a:t>Pergunta-guia: que decisão ficará melhor quando os dados estiverem bem organizados?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5422" y="9195494"/>
            <a:ext cx="9045029" cy="272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650">
                <a:solidFill>
                  <a:srgbClr val="B2B4B6"/>
                </a:solidFill>
                <a:latin typeface="Quicksand"/>
              </a:rPr>
              <a:t>Uma planilha pode reunir valores, fórmulas e gráficos na mesma análise.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8249" y="9791699"/>
            <a:ext cx="571500" cy="2284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B2B4B6"/>
                </a:solidFill>
                <a:latin typeface="Quicksand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31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14625" y="4152899"/>
            <a:ext cx="12858750" cy="38100"/>
          </a:xfrm>
          <a:prstGeom prst="roundRect">
            <a:avLst>
              <a:gd name="adj" fmla="val 100000"/>
            </a:avLst>
          </a:prstGeom>
          <a:solidFill>
            <a:srgbClr val="3E5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09825" y="3867150"/>
            <a:ext cx="609600" cy="609600"/>
          </a:xfrm>
          <a:prstGeom prst="ellipse">
            <a:avLst/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96075" y="3867150"/>
            <a:ext cx="609600" cy="609600"/>
          </a:xfrm>
          <a:prstGeom prst="ellipse">
            <a:avLst/>
          </a:prstGeom>
          <a:solidFill>
            <a:srgbClr val="3F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2325" y="3867150"/>
            <a:ext cx="609600" cy="609600"/>
          </a:xfrm>
          <a:prstGeom prst="ellipse">
            <a:avLst/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268575" y="3867150"/>
            <a:ext cx="609600" cy="609600"/>
          </a:xfrm>
          <a:prstGeom prst="ellipse">
            <a:avLst/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6756399"/>
            <a:ext cx="5511799" cy="2844799"/>
          </a:xfrm>
          <a:prstGeom prst="roundRect">
            <a:avLst>
              <a:gd name="adj" fmla="val 10714"/>
            </a:avLst>
          </a:prstGeom>
          <a:solidFill>
            <a:srgbClr val="193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88100" y="6756399"/>
            <a:ext cx="5511799" cy="2844799"/>
          </a:xfrm>
          <a:prstGeom prst="roundRect">
            <a:avLst>
              <a:gd name="adj" fmla="val 10714"/>
            </a:avLst>
          </a:prstGeom>
          <a:solidFill>
            <a:srgbClr val="39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090400" y="6756399"/>
            <a:ext cx="5511799" cy="2844799"/>
          </a:xfrm>
          <a:prstGeom prst="roundRect">
            <a:avLst>
              <a:gd name="adj" fmla="val 10714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999" y="761999"/>
            <a:ext cx="16763999" cy="2284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E0A94A"/>
                </a:solidFill>
                <a:latin typeface="Quicksand Bold"/>
              </a:rPr>
              <a:t>ROTEIRO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99" y="1085850"/>
            <a:ext cx="16763999" cy="6703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Objetivos da aula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99" y="1832570"/>
            <a:ext cx="16763999" cy="4114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Ao final, você deverá transformar dados em evidências para uma decisão.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9825" y="4017645"/>
            <a:ext cx="609600" cy="30867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025" b="1">
                <a:solidFill>
                  <a:srgbClr val="253148"/>
                </a:solidFill>
                <a:latin typeface="Quicksand 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629150"/>
            <a:ext cx="3829050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250" b="1">
                <a:solidFill>
                  <a:srgbClr val="A5BEFF"/>
                </a:solidFill>
                <a:latin typeface="Quicksand Bold"/>
              </a:rPr>
              <a:t>Estruturar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5105400"/>
            <a:ext cx="3829050" cy="54462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FFFFFF"/>
                </a:solidFill>
                <a:latin typeface="Quicksand"/>
              </a:rPr>
              <a:t>Criar uma base tabular consistente, com cabeçalhos e tipos corretos.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6074" y="4017645"/>
            <a:ext cx="609600" cy="30867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025" b="1">
                <a:solidFill>
                  <a:srgbClr val="253148"/>
                </a:solidFill>
                <a:latin typeface="Quicksand 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6350" y="4629150"/>
            <a:ext cx="3829050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250" b="1">
                <a:solidFill>
                  <a:srgbClr val="A5BEFF"/>
                </a:solidFill>
                <a:latin typeface="Quicksand Bold"/>
              </a:rPr>
              <a:t>Calcular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6350" y="5105400"/>
            <a:ext cx="3829050" cy="54462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FFFFFF"/>
                </a:solidFill>
                <a:latin typeface="Quicksand"/>
              </a:rPr>
              <a:t>Usar fórmulas e funções para obter medidas e indicadores.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82325" y="4017645"/>
            <a:ext cx="609600" cy="30867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025" b="1">
                <a:solidFill>
                  <a:srgbClr val="253148"/>
                </a:solidFill>
                <a:latin typeface="Quicksand 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4629150"/>
            <a:ext cx="3829050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250" b="1">
                <a:solidFill>
                  <a:srgbClr val="A5BEFF"/>
                </a:solidFill>
                <a:latin typeface="Quicksand Bold"/>
              </a:rPr>
              <a:t>Explorar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5105400"/>
            <a:ext cx="3829050" cy="54462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FFFFFF"/>
                </a:solidFill>
                <a:latin typeface="Quicksand"/>
              </a:rPr>
              <a:t>Filtrar, ordenar e comparar registros para responder perguntas.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68574" y="4017645"/>
            <a:ext cx="609600" cy="30867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025" b="1">
                <a:solidFill>
                  <a:srgbClr val="253148"/>
                </a:solidFill>
                <a:latin typeface="Quicksand Bol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58850" y="4629150"/>
            <a:ext cx="3829050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250" b="1">
                <a:solidFill>
                  <a:srgbClr val="A5BEFF"/>
                </a:solidFill>
                <a:latin typeface="Quicksand Bold"/>
              </a:rPr>
              <a:t>Comunicar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58850" y="5105400"/>
            <a:ext cx="3829050" cy="54462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FFFFFF"/>
                </a:solidFill>
                <a:latin typeface="Quicksand"/>
              </a:rPr>
              <a:t>Escolher um gráfico adequado e justificar a leitura.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7613649"/>
            <a:ext cx="5054599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Para sistemas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8070849"/>
            <a:ext cx="5054599" cy="66872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Planejamento de sprints, custos, testes e requisitos.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6700" y="7613649"/>
            <a:ext cx="5054599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Para a escola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6700" y="8070849"/>
            <a:ext cx="5054599" cy="66872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Leitura crítica de tabelas, gráficos e medidas centrais.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19000" y="7613649"/>
            <a:ext cx="5054599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Para o mundo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19000" y="8070849"/>
            <a:ext cx="5054599" cy="66872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Decisões apoiadas em dados, não apenas em impressões.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8249" y="9791699"/>
            <a:ext cx="571500" cy="2284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9DA2AD"/>
                </a:solidFill>
                <a:latin typeface="Quicksand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664826"/>
            <a:ext cx="6937375" cy="5233822"/>
          </a:xfrm>
          <a:prstGeom prst="roundRect">
            <a:avLst>
              <a:gd name="adj" fmla="val 6551"/>
            </a:avLst>
          </a:prstGeom>
          <a:solidFill>
            <a:srgbClr val="22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13675" y="2962274"/>
            <a:ext cx="9788525" cy="1516856"/>
          </a:xfrm>
          <a:prstGeom prst="roundRect">
            <a:avLst>
              <a:gd name="adj" fmla="val 22605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13675" y="4669631"/>
            <a:ext cx="9788525" cy="1516856"/>
          </a:xfrm>
          <a:prstGeom prst="roundRect">
            <a:avLst>
              <a:gd name="adj" fmla="val 22605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3675" y="6376987"/>
            <a:ext cx="9788525" cy="1516856"/>
          </a:xfrm>
          <a:prstGeom prst="roundRect">
            <a:avLst>
              <a:gd name="adj" fmla="val 22605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13675" y="8084343"/>
            <a:ext cx="9788525" cy="1516856"/>
          </a:xfrm>
          <a:prstGeom prst="roundRect">
            <a:avLst>
              <a:gd name="adj" fmla="val 22605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dc1f81c-58ba-4d1c-b5cc-3d804cfb6f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49" y="3798176"/>
            <a:ext cx="6670675" cy="44471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1999" y="761999"/>
            <a:ext cx="16763999" cy="2284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7FA2FF"/>
                </a:solidFill>
                <a:latin typeface="Quicksand Bold"/>
              </a:rPr>
              <a:t>AMBIENTE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99" y="1085850"/>
            <a:ext cx="16763999" cy="6703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Interface e vocabulário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99" y="1832570"/>
            <a:ext cx="16763999" cy="4114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Nomear as partes da planilha ajuda a explicar o que você está fazendo.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49" y="8492943"/>
            <a:ext cx="6670675" cy="272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A célula B3 é localizada pela coluna B e pela linha 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2275" y="3324225"/>
            <a:ext cx="9331325" cy="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Pasta de trabalho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2275" y="3781424"/>
            <a:ext cx="9331325" cy="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Arquivo que pode conter várias planilhas, como abas separadas.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2275" y="5031581"/>
            <a:ext cx="9331325" cy="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Planilha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2275" y="5488781"/>
            <a:ext cx="9331325" cy="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Grade de células organizada em linhas e colunas.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2275" y="6738937"/>
            <a:ext cx="9331325" cy="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Célula e intervalo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2275" y="7196137"/>
            <a:ext cx="9331325" cy="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Célula: um endereço, como B3. Intervalo: conjunto, como B3:D8.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2275" y="8446293"/>
            <a:ext cx="9331325" cy="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Barra de fórmulas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2275" y="8903493"/>
            <a:ext cx="9331325" cy="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Área que mostra e permite editar o conteúdo da célula ativa.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8249" y="9791699"/>
            <a:ext cx="571500" cy="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62274"/>
            <a:ext cx="8362949" cy="4362450"/>
          </a:xfrm>
          <a:prstGeom prst="roundRect">
            <a:avLst>
              <a:gd name="adj" fmla="val 8733"/>
            </a:avLst>
          </a:prstGeom>
          <a:solidFill>
            <a:srgbClr val="22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0599" y="4029075"/>
            <a:ext cx="2868116" cy="495299"/>
          </a:xfrm>
          <a:prstGeom prst="roundRect">
            <a:avLst>
              <a:gd name="adj" fmla="val 100000"/>
            </a:avLst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81276" y="7802909"/>
            <a:ext cx="1371996" cy="438149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0" y="2962274"/>
            <a:ext cx="8362949" cy="6638924"/>
          </a:xfrm>
          <a:prstGeom prst="roundRect">
            <a:avLst>
              <a:gd name="adj" fmla="val 5738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99" y="761999"/>
            <a:ext cx="16763999" cy="2284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3FBFA8"/>
                </a:solidFill>
                <a:latin typeface="Quicksand Bold"/>
              </a:rPr>
              <a:t>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99" y="1085850"/>
            <a:ext cx="16763999" cy="6703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Células, referências e tipos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99" y="1832570"/>
            <a:ext cx="16763999" cy="4114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O endereço indica onde está o dado; o tipo indica como ele pode ser usado.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4128134"/>
            <a:ext cx="2487116" cy="29721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950" b="1">
                <a:solidFill>
                  <a:srgbClr val="0F151A"/>
                </a:solidFill>
                <a:latin typeface="Quicksand Bold"/>
              </a:rPr>
              <a:t>Referência de célula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99" y="4676775"/>
            <a:ext cx="7753349" cy="1199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250">
                <a:solidFill>
                  <a:srgbClr val="FFFFFF"/>
                </a:solidFill>
                <a:latin typeface="Quicksand"/>
              </a:rPr>
              <a:t>A combinação coluna + linha identifica uma posição. Em B3, B é a coluna e 3 é a linha. Um intervalo como B3:D8 representa várias células contíguas.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599" y="6010274"/>
            <a:ext cx="7753349" cy="2474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500">
                <a:solidFill>
                  <a:srgbClr val="878A8C"/>
                </a:solidFill>
                <a:latin typeface="Quicksand"/>
              </a:rPr>
              <a:t>Ao escrever =B3+C3, a fórmula usa os valores armazenados nessas posições.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1276" y="7917209"/>
            <a:ext cx="1371996" cy="2738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0F151A"/>
                </a:solidFill>
                <a:latin typeface="Quicksand Bold"/>
              </a:rPr>
              <a:t>Notação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8488709"/>
            <a:ext cx="7791449" cy="437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m:rPr>
                    <m:nor/>
                    <a:rPr sz="1890">
                      <a:solidFill>
                        <a:srgbClr val="A5BEFF"/>
                      </a:solidFill>
                    </a:rPr>
                  </m:rPr>
                  <m:t>intervalo</m:t>
                </m:r>
                <m:r>
                  <m:rPr>
                    <a:rPr sz="1890">
                      <a:solidFill>
                        <a:srgbClr val="A5BEFF"/>
                      </a:solidFill>
                    </a:rPr>
                  </m:rPr>
                  <m:t>=B3:D8</m:t>
                </m:r>
              </m:oMath>
            </a14:m>
          </a:p>
        </p:txBody>
      </p:sp>
      <p:sp>
        <p:nvSpPr>
          <p:cNvPr id="15" name="TextBox 14"/>
          <p:cNvSpPr txBox="1"/>
          <p:nvPr/>
        </p:nvSpPr>
        <p:spPr>
          <a:xfrm>
            <a:off x="971550" y="9041159"/>
            <a:ext cx="7791449" cy="272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Do canto superior esquerdo ao canto inferior direito.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7850" y="3324225"/>
            <a:ext cx="7905749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Texto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7850" y="3781424"/>
            <a:ext cx="7905749" cy="33436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Rótulos, nomes e categorias; serve para descrever.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7850" y="5031581"/>
            <a:ext cx="7905749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Número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7850" y="5488781"/>
            <a:ext cx="7905749" cy="33436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Quantidade que pode participar de operações.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7850" y="6738937"/>
            <a:ext cx="7905749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7850" y="7196137"/>
            <a:ext cx="7905749" cy="33436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Valor temporal que pode ser ordenado e usado em intervalos.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7850" y="8446293"/>
            <a:ext cx="7905749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Fórmula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7850" y="8903493"/>
            <a:ext cx="7905749" cy="33436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Expressão iniciada por = que calcula a partir de valores.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49" y="9791699"/>
            <a:ext cx="571500" cy="2284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8274049"/>
            <a:ext cx="9788525" cy="1327149"/>
          </a:xfrm>
          <a:prstGeom prst="roundRect">
            <a:avLst>
              <a:gd name="adj" fmla="val 20095"/>
            </a:avLst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8274049"/>
            <a:ext cx="171450" cy="1327149"/>
          </a:xfrm>
          <a:prstGeom prst="rect">
            <a:avLst/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8274049"/>
            <a:ext cx="57150" cy="1327149"/>
          </a:xfrm>
          <a:prstGeom prst="rect">
            <a:avLst/>
          </a:prstGeom>
          <a:solidFill>
            <a:srgbClr val="3F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64825" y="3019424"/>
            <a:ext cx="76200" cy="1971675"/>
          </a:xfrm>
          <a:prstGeom prst="roundRect">
            <a:avLst>
              <a:gd name="adj" fmla="val 100000"/>
            </a:avLst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64825" y="5295899"/>
            <a:ext cx="76200" cy="1971675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64825" y="7572375"/>
            <a:ext cx="76200" cy="1971675"/>
          </a:xfrm>
          <a:prstGeom prst="roundRect">
            <a:avLst>
              <a:gd name="adj" fmla="val 100000"/>
            </a:avLst>
          </a:prstGeom>
          <a:solidFill>
            <a:srgbClr val="3F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61999" y="3038475"/>
          <a:ext cx="9636125" cy="4969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225"/>
                <a:gridCol w="1927225"/>
                <a:gridCol w="1927225"/>
                <a:gridCol w="1927225"/>
                <a:gridCol w="1927225"/>
              </a:tblGrid>
              <a:tr h="934402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ID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Projeto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Responsável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Status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Horas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</a:tr>
              <a:tr h="934402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P-01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App biblioteca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Ana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Em teste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1231582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P-02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Jogo de perguntas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Bruno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Planejado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934402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P-03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Site da escola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Concluído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934402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P-04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API de notas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Diego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Em teste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61999" y="761999"/>
            <a:ext cx="1676399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E0A94A"/>
                </a:solidFill>
                <a:latin typeface="Quicksand Bold"/>
              </a:rPr>
              <a:t>MODELAGEM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99" y="1085850"/>
            <a:ext cx="16763999" cy="670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Dados bem estruturados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99" y="1832570"/>
            <a:ext cx="16763999" cy="4114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Uma boa base reduz erros e amplia o que a planilha consegue responder.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8635999"/>
            <a:ext cx="9217025" cy="59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800">
                <a:solidFill>
                  <a:srgbClr val="FFFFFF"/>
                </a:solidFill>
                <a:latin typeface="Quicksand"/>
              </a:rPr>
              <a:t>Regra prática: uma linha = um registro; uma coluna = uma variável; a primeira linha = cabeçalho.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93425" y="3438525"/>
            <a:ext cx="648017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Consistência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3895724"/>
            <a:ext cx="6480175" cy="66853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Use o mesmo formato para datas, status, nomes e unidades.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3425" y="5715000"/>
            <a:ext cx="648017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Completude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93425" y="6172200"/>
            <a:ext cx="6480175" cy="66853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Registre o que a análise precisa; células vazias alteram contagens e médias.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93425" y="7991474"/>
            <a:ext cx="648017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Rastreabilidade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3425" y="8448674"/>
            <a:ext cx="6480175" cy="66853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Inclua fonte, período, responsável ou ID quando fizer sentido.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8249" y="9791699"/>
            <a:ext cx="571500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76499" y="2362199"/>
            <a:ext cx="1333499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4500"/>
              </a:lnSpc>
            </a:pPr>
            <a:r>
              <a:rPr sz="4050" b="1">
                <a:solidFill>
                  <a:srgbClr val="0F151A"/>
                </a:solidFill>
                <a:latin typeface="Quicksand Bold"/>
              </a:rPr>
              <a:t>Relacione as colunas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76499" y="3695699"/>
            <a:ext cx="5239870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5099" y="386714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D2D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3905249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8049" y="3962399"/>
            <a:ext cx="4039720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2100">
                <a:solidFill>
                  <a:srgbClr val="0F151A"/>
                </a:solidFill>
                <a:latin typeface="Quicksand"/>
              </a:rPr>
              <a:t>B3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6499" y="4800600"/>
            <a:ext cx="5239870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05099" y="4972050"/>
            <a:ext cx="571500" cy="571500"/>
          </a:xfrm>
          <a:prstGeom prst="roundRect">
            <a:avLst>
              <a:gd name="adj" fmla="val 8333"/>
            </a:avLst>
          </a:prstGeom>
          <a:solidFill>
            <a:srgbClr val="C6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5010149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8049" y="5067299"/>
            <a:ext cx="4039720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2100">
                <a:solidFill>
                  <a:srgbClr val="0F151A"/>
                </a:solidFill>
                <a:latin typeface="Quicksand"/>
              </a:rPr>
              <a:t>Horas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76499" y="5905500"/>
            <a:ext cx="5239870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5099" y="6076950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FEA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611505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8049" y="6172200"/>
            <a:ext cx="4039720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2100">
                <a:solidFill>
                  <a:srgbClr val="0F151A"/>
                </a:solidFill>
                <a:latin typeface="Quicksand"/>
              </a:rPr>
              <a:t>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76499" y="7010399"/>
            <a:ext cx="5239870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05099" y="718184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FC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721995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8049" y="7277100"/>
            <a:ext cx="4039720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2100">
                <a:solidFill>
                  <a:srgbClr val="0F151A"/>
                </a:solidFill>
                <a:latin typeface="Quicksand"/>
              </a:rPr>
              <a:t>P-02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5970" y="3695699"/>
            <a:ext cx="7485529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54570" y="386714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670" y="3905249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( 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7520" y="3962399"/>
            <a:ext cx="6285379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1800">
                <a:solidFill>
                  <a:srgbClr val="0F151A"/>
                </a:solidFill>
                <a:latin typeface="Quicksand"/>
              </a:rPr>
              <a:t>Categoria textual para filtrar registros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5970" y="4781549"/>
            <a:ext cx="7485529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54570" y="495299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670" y="499110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( 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7520" y="5048250"/>
            <a:ext cx="6285379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1800">
                <a:solidFill>
                  <a:srgbClr val="0F151A"/>
                </a:solidFill>
                <a:latin typeface="Quicksand"/>
              </a:rPr>
              <a:t>Identificador único de um projeto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5970" y="5867399"/>
            <a:ext cx="7485529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54570" y="603884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2670" y="607695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( 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7520" y="6134100"/>
            <a:ext cx="6285379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1800">
                <a:solidFill>
                  <a:srgbClr val="0F151A"/>
                </a:solidFill>
                <a:latin typeface="Quicksand"/>
              </a:rPr>
              <a:t>Célula na coluna B e linha 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5970" y="6953249"/>
            <a:ext cx="7485529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54570" y="712469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2670" y="716280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( 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7520" y="7219950"/>
            <a:ext cx="6285379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1800">
                <a:solidFill>
                  <a:srgbClr val="0F151A"/>
                </a:solidFill>
                <a:latin typeface="Quicksand"/>
              </a:rPr>
              <a:t>Variável numérica que pode ser somada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76499" y="2362199"/>
            <a:ext cx="1333499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4500"/>
              </a:lnSpc>
            </a:pPr>
            <a:r>
              <a:rPr sz="4050" b="1">
                <a:solidFill>
                  <a:srgbClr val="0F151A"/>
                </a:solidFill>
                <a:latin typeface="Quicksand Bold"/>
              </a:rPr>
              <a:t>Relacione as colunas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76499" y="3695699"/>
            <a:ext cx="5239870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5099" y="386714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D2D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3905249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8049" y="3962399"/>
            <a:ext cx="4039720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2100">
                <a:solidFill>
                  <a:srgbClr val="0F151A"/>
                </a:solidFill>
                <a:latin typeface="Quicksand"/>
              </a:rPr>
              <a:t>B3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6499" y="4800600"/>
            <a:ext cx="5239870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05099" y="4972050"/>
            <a:ext cx="571500" cy="571500"/>
          </a:xfrm>
          <a:prstGeom prst="roundRect">
            <a:avLst>
              <a:gd name="adj" fmla="val 8333"/>
            </a:avLst>
          </a:prstGeom>
          <a:solidFill>
            <a:srgbClr val="C6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5010149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8049" y="5067299"/>
            <a:ext cx="4039720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2100">
                <a:solidFill>
                  <a:srgbClr val="0F151A"/>
                </a:solidFill>
                <a:latin typeface="Quicksand"/>
              </a:rPr>
              <a:t>Horas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76499" y="5905500"/>
            <a:ext cx="5239870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5099" y="6076950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FEA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611505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8049" y="6172200"/>
            <a:ext cx="4039720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2100">
                <a:solidFill>
                  <a:srgbClr val="0F151A"/>
                </a:solidFill>
                <a:latin typeface="Quicksand"/>
              </a:rPr>
              <a:t>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76499" y="7010399"/>
            <a:ext cx="5239870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05099" y="718184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FC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721995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8049" y="7277100"/>
            <a:ext cx="4039720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2100">
                <a:solidFill>
                  <a:srgbClr val="0F151A"/>
                </a:solidFill>
                <a:latin typeface="Quicksand"/>
              </a:rPr>
              <a:t>P-02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5970" y="3695699"/>
            <a:ext cx="7485529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54570" y="386714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FEA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670" y="3905249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7520" y="3962399"/>
            <a:ext cx="6285379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1800">
                <a:solidFill>
                  <a:srgbClr val="0F151A"/>
                </a:solidFill>
                <a:latin typeface="Quicksand"/>
              </a:rPr>
              <a:t>Categoria textual para filtrar registros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5970" y="4781549"/>
            <a:ext cx="7485529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54570" y="495299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FC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670" y="499110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7520" y="5048250"/>
            <a:ext cx="6285379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1800">
                <a:solidFill>
                  <a:srgbClr val="0F151A"/>
                </a:solidFill>
                <a:latin typeface="Quicksand"/>
              </a:rPr>
              <a:t>Identificador único de um projeto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5970" y="5867399"/>
            <a:ext cx="7485529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54570" y="603884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D2D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2670" y="607695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7520" y="6134100"/>
            <a:ext cx="6285379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1800">
                <a:solidFill>
                  <a:srgbClr val="0F151A"/>
                </a:solidFill>
                <a:latin typeface="Quicksand"/>
              </a:rPr>
              <a:t>Célula na coluna B e linha 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5970" y="6953249"/>
            <a:ext cx="7485529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54570" y="712469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C6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2670" y="716280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7520" y="7219950"/>
            <a:ext cx="6285379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1800">
                <a:solidFill>
                  <a:srgbClr val="0F151A"/>
                </a:solidFill>
                <a:latin typeface="Quicksand"/>
              </a:rPr>
              <a:t>Variável numérica que pode ser somada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62274"/>
            <a:ext cx="8096249" cy="5121274"/>
          </a:xfrm>
          <a:prstGeom prst="roundRect">
            <a:avLst>
              <a:gd name="adj" fmla="val 7439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649" y="4495799"/>
            <a:ext cx="1815306" cy="400050"/>
          </a:xfrm>
          <a:prstGeom prst="roundRect">
            <a:avLst>
              <a:gd name="adj" fmla="val 100000"/>
            </a:avLst>
          </a:prstGeom>
          <a:solidFill>
            <a:srgbClr val="39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05949" y="2962274"/>
            <a:ext cx="8096249" cy="5121274"/>
          </a:xfrm>
          <a:prstGeom prst="roundRect">
            <a:avLst>
              <a:gd name="adj" fmla="val 7439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29800" y="4495799"/>
            <a:ext cx="1995884" cy="400050"/>
          </a:xfrm>
          <a:prstGeom prst="roundRect">
            <a:avLst>
              <a:gd name="adj" fmla="val 100000"/>
            </a:avLst>
          </a:prstGeom>
          <a:solidFill>
            <a:srgbClr val="25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15400" y="5489574"/>
            <a:ext cx="438149" cy="66674"/>
          </a:xfrm>
          <a:prstGeom prst="roundRect">
            <a:avLst>
              <a:gd name="adj" fmla="val 100000"/>
            </a:avLst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 rot="2700000">
            <a:off x="9254734" y="5357900"/>
            <a:ext cx="200025" cy="66674"/>
          </a:xfrm>
          <a:prstGeom prst="roundRect">
            <a:avLst>
              <a:gd name="adj" fmla="val 100000"/>
            </a:avLst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18900000">
            <a:off x="9207587" y="5640778"/>
            <a:ext cx="200025" cy="66674"/>
          </a:xfrm>
          <a:prstGeom prst="roundRect">
            <a:avLst>
              <a:gd name="adj" fmla="val 100000"/>
            </a:avLst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8274049"/>
            <a:ext cx="16916400" cy="1327149"/>
          </a:xfrm>
          <a:prstGeom prst="roundRect">
            <a:avLst>
              <a:gd name="adj" fmla="val 22966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999" y="761999"/>
            <a:ext cx="1676399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3FBFA8"/>
                </a:solidFill>
                <a:latin typeface="Quicksand Bold"/>
              </a:rPr>
              <a:t>EXEMPLO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99" y="1085850"/>
            <a:ext cx="16763999" cy="670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Exemplo: cadastro de projetos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99" y="1832570"/>
            <a:ext cx="16763999" cy="4114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Observe como transformar uma lista informal em uma tabela que a planilha entende.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50" y="4600575"/>
            <a:ext cx="1510506" cy="1904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E7BC72"/>
                </a:solidFill>
                <a:latin typeface="Quicksand Bold"/>
              </a:rPr>
              <a:t>DIFÍCIL DE ANALISAR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49" y="5048250"/>
            <a:ext cx="744854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Lista informal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49" y="5543550"/>
            <a:ext cx="7448549" cy="100280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App biblioteca — Ana — teste — 18h</a:t>
            </a:r>
          </a:p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Jogo de perguntas — Bruno — planejado — 12h</a:t>
            </a:r>
          </a:p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Site da escola — Carla — concluído — 25h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82200" y="4600575"/>
            <a:ext cx="1691084" cy="1904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A5BEFF"/>
                </a:solidFill>
                <a:latin typeface="Quicksand Bold"/>
              </a:rPr>
              <a:t>PRONTA PARA ANÁLISE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5048250"/>
            <a:ext cx="744854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Base tabular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5543550"/>
            <a:ext cx="7448549" cy="100280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Cada projeto ocupa uma linha; campos separados viram colunas: Projeto, Responsável, Status e Horas. Assim, podemos filtrar, ordenar, calcular e construir gráficos.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599" y="8502649"/>
            <a:ext cx="1630679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FA2FF"/>
                </a:solidFill>
                <a:latin typeface="Quicksand Bold"/>
              </a:rPr>
              <a:t>Exemplo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599" y="8921749"/>
            <a:ext cx="16306799" cy="43715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2550">
                <a:solidFill>
                  <a:srgbClr val="FFFFFF"/>
                </a:solidFill>
                <a:latin typeface="Quicksand"/>
              </a:rPr>
              <a:t>A estrutura não é apenas estética: ela define quais perguntas podem ser respondidas com segurança.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8249" y="9791699"/>
            <a:ext cx="571500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62274"/>
            <a:ext cx="8362949" cy="3603624"/>
          </a:xfrm>
          <a:prstGeom prst="roundRect">
            <a:avLst>
              <a:gd name="adj" fmla="val 10572"/>
            </a:avLst>
          </a:prstGeom>
          <a:solidFill>
            <a:srgbClr val="22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39250" y="3019424"/>
            <a:ext cx="8362949" cy="786606"/>
          </a:xfrm>
          <a:prstGeom prst="roundRect">
            <a:avLst>
              <a:gd name="adj" fmla="val 43592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0" y="3920331"/>
            <a:ext cx="8362949" cy="786606"/>
          </a:xfrm>
          <a:prstGeom prst="roundRect">
            <a:avLst>
              <a:gd name="adj" fmla="val 43592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0" y="4821237"/>
            <a:ext cx="8362949" cy="786606"/>
          </a:xfrm>
          <a:prstGeom prst="roundRect">
            <a:avLst>
              <a:gd name="adj" fmla="val 43592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9250" y="5722143"/>
            <a:ext cx="8362949" cy="786606"/>
          </a:xfrm>
          <a:prstGeom prst="roundRect">
            <a:avLst>
              <a:gd name="adj" fmla="val 43592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9250" y="6756399"/>
            <a:ext cx="8362949" cy="2844799"/>
          </a:xfrm>
          <a:prstGeom prst="roundRect">
            <a:avLst>
              <a:gd name="adj" fmla="val 10714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1999" y="761999"/>
            <a:ext cx="1676399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E0A94A"/>
                </a:solidFill>
                <a:latin typeface="Quicksand Bold"/>
              </a:rPr>
              <a:t>CÁLCULO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99" y="1085850"/>
            <a:ext cx="16763999" cy="670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Fórmulas começam com 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99" y="1832570"/>
            <a:ext cx="16763999" cy="4114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Uma fórmula transforma valores de células em um resultado que pode ser atualizado.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4256087"/>
            <a:ext cx="7791449" cy="5912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m:rPr>
                    <a:rPr sz="2700">
                      <a:solidFill>
                        <a:srgbClr val="A5BEFF"/>
                      </a:solidFill>
                    </a:rPr>
                  </m:rPr>
                  <m:t>=B2+C2</m:t>
                </m:r>
              </m:oMath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971550" y="4999732"/>
            <a:ext cx="7791449" cy="27235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Soma os valores armazenados em B2 e C2.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99" y="6832599"/>
            <a:ext cx="8210549" cy="12799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>
                <a:solidFill>
                  <a:srgbClr val="FFFFFF"/>
                </a:solidFill>
                <a:latin typeface="Quicksand"/>
              </a:rPr>
              <a:t>O sinal de igual informa ao Excel que o conteúdo deve ser interpretado como cálculo. A fórmula não guarda apenas o resultado: guarda a relação entre as células.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5450" y="3076574"/>
            <a:ext cx="821054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Selecionar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5450" y="3476624"/>
            <a:ext cx="8210549" cy="27235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Clique na célula onde o resultado deve aparecer.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5450" y="3977481"/>
            <a:ext cx="821054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Iniciar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5450" y="4377531"/>
            <a:ext cx="8210549" cy="27235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Digite = para indicar uma fórmula.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5450" y="4878387"/>
            <a:ext cx="821054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Referenciar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5450" y="5278437"/>
            <a:ext cx="8210549" cy="27235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Use endereços, operadores ou funções.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5450" y="5779293"/>
            <a:ext cx="821054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Confirmar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5450" y="6179343"/>
            <a:ext cx="8210549" cy="27235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Pressione Enter e verifique o resultado.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4050" y="7499349"/>
            <a:ext cx="775334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FA2FF"/>
                </a:solidFill>
                <a:latin typeface="Quicksand Bold"/>
              </a:rPr>
              <a:t>Dica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4050" y="7918449"/>
            <a:ext cx="7753349" cy="92571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Se B2 mudar, o resultado também muda: a fórmula mantém a análise viva.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8249" y="9791699"/>
            <a:ext cx="571500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62274"/>
            <a:ext cx="9788525" cy="4362450"/>
          </a:xfrm>
          <a:prstGeom prst="roundRect">
            <a:avLst>
              <a:gd name="adj" fmla="val 9606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70537" y="3171825"/>
            <a:ext cx="19050" cy="3943350"/>
          </a:xfrm>
          <a:prstGeom prst="roundRect">
            <a:avLst>
              <a:gd name="adj" fmla="val 100000"/>
            </a:avLst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60962" y="4724400"/>
            <a:ext cx="838200" cy="838200"/>
          </a:xfrm>
          <a:prstGeom prst="ellipse">
            <a:avLst/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99062" y="4762500"/>
            <a:ext cx="761999" cy="761999"/>
          </a:xfrm>
          <a:prstGeom prst="ellipse">
            <a:avLst/>
          </a:prstGeom>
          <a:solidFill>
            <a:srgbClr val="3F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68093" y="7802909"/>
            <a:ext cx="1823938" cy="438149"/>
          </a:xfrm>
          <a:prstGeom prst="roundRect">
            <a:avLst>
              <a:gd name="adj" fmla="val 100000"/>
            </a:avLst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64825" y="2962274"/>
            <a:ext cx="6937375" cy="6638924"/>
          </a:xfrm>
          <a:prstGeom prst="roundRect">
            <a:avLst>
              <a:gd name="adj" fmla="val 5738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1999" y="761999"/>
            <a:ext cx="1676399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7FA2FF"/>
                </a:solidFill>
                <a:latin typeface="Quicksand Bold"/>
              </a:rPr>
              <a:t>CÁLCULO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99" y="1085850"/>
            <a:ext cx="16763999" cy="670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Operadores e precedência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99" y="1832570"/>
            <a:ext cx="16763999" cy="4114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A ordem dos cálculos pode mudar o resultado; escreva a intenção com clareza.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49" y="4552949"/>
            <a:ext cx="4027487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Sem parênteses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49" y="5048250"/>
            <a:ext cx="4027487" cy="66853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=B2+C2*D2</a:t>
            </a:r>
          </a:p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Multiplica antes de somar.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2987" y="4552949"/>
            <a:ext cx="4027487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Com parênteses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2987" y="5048250"/>
            <a:ext cx="4027487" cy="66853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=(B2+C2)*D2</a:t>
            </a:r>
          </a:p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Soma antes de multiplicar.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9062" y="4981574"/>
            <a:ext cx="761999" cy="3238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950" b="1">
                <a:solidFill>
                  <a:srgbClr val="0F151A"/>
                </a:solidFill>
                <a:latin typeface="Quicksand Bold"/>
              </a:rPr>
              <a:t>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8093" y="7917209"/>
            <a:ext cx="1823938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0F151A"/>
                </a:solidFill>
                <a:latin typeface="Quicksand Bold"/>
              </a:rPr>
              <a:t>Ordem usual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550" y="8488709"/>
            <a:ext cx="9217025" cy="4000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m:rPr>
                    <m:nor/>
                    <a:rPr sz="1890">
                      <a:solidFill>
                        <a:srgbClr val="E7BC72"/>
                      </a:solidFill>
                    </a:rPr>
                  </m:rPr>
                  <m:t>parênteses</m:t>
                </m:r>
                <m:r>
                  <m:rPr>
                    <a:rPr sz="1890">
                      <a:solidFill>
                        <a:srgbClr val="E7BC72"/>
                      </a:solidFill>
                    </a:rPr>
                  </m:rPr>
                  <m:t>→</m:t>
                </m:r>
                <m:r>
                  <m:rPr>
                    <m:nor/>
                    <a:rPr sz="1890">
                      <a:solidFill>
                        <a:srgbClr val="E7BC72"/>
                      </a:solidFill>
                    </a:rPr>
                  </m:rPr>
                  <m:t>multiplicação/divisão</m:t>
                </m:r>
                <m:r>
                  <m:rPr>
                    <a:rPr sz="1890">
                      <a:solidFill>
                        <a:srgbClr val="E7BC72"/>
                      </a:solidFill>
                    </a:rPr>
                  </m:rPr>
                  <m:t>→</m:t>
                </m:r>
                <m:r>
                  <m:rPr>
                    <m:nor/>
                    <a:rPr sz="1890">
                      <a:solidFill>
                        <a:srgbClr val="E7BC72"/>
                      </a:solidFill>
                    </a:rPr>
                  </m:rPr>
                  <m:t>adição/subtração</m:t>
                </m:r>
              </m:oMath>
            </a14:m>
          </a:p>
        </p:txBody>
      </p:sp>
      <p:sp>
        <p:nvSpPr>
          <p:cNvPr id="19" name="TextBox 18"/>
          <p:cNvSpPr txBox="1"/>
          <p:nvPr/>
        </p:nvSpPr>
        <p:spPr>
          <a:xfrm>
            <a:off x="971550" y="9041159"/>
            <a:ext cx="9217025" cy="27235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Quando operações têm a mesma prioridade, leia da esquerda para a direita.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93425" y="3324225"/>
            <a:ext cx="648017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A5BEFF"/>
                </a:solidFill>
                <a:latin typeface="Quicksand Bold"/>
              </a:rPr>
              <a:t>+ e 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3425" y="3781424"/>
            <a:ext cx="6480175" cy="3342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Adição e subtração.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93425" y="5031581"/>
            <a:ext cx="648017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buChar char="•"/>
              <a:lnSpc>
                <a:spcPct val="108000"/>
              </a:lnSpc>
              <a:buFont typeface="Arial"/>
            </a:pPr>
            <a:r>
              <a:rPr sz="2250">
                <a:latin typeface="Quicksand"/>
              </a:rPr>
              <a:t>  </a:t>
            </a:r>
            <a:r>
              <a:rPr sz="2250" b="1">
                <a:solidFill>
                  <a:srgbClr val="A5BEFF"/>
                </a:solidFill>
                <a:latin typeface="Quicksand Bold"/>
              </a:rPr>
              <a:t>e 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93425" y="5488781"/>
            <a:ext cx="6480175" cy="3342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Multiplicação e divisão.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93425" y="6738937"/>
            <a:ext cx="648017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A5BEFF"/>
                </a:solidFill>
                <a:latin typeface="Quicksand Bold"/>
              </a:rPr>
              <a:t>^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93425" y="7196137"/>
            <a:ext cx="6480175" cy="3342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Potenciação.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93425" y="8446293"/>
            <a:ext cx="648017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A5BEFF"/>
                </a:solidFill>
                <a:latin typeface="Quicksand Bold"/>
              </a:rPr>
              <a:t>( 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93425" y="8903493"/>
            <a:ext cx="6480175" cy="3342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Agrupa operações.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8249" y="9791699"/>
            <a:ext cx="571500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76350" y="3916680"/>
            <a:ext cx="15735299" cy="2819399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43100" y="3550920"/>
            <a:ext cx="3703339" cy="731519"/>
          </a:xfrm>
          <a:prstGeom prst="roundRect">
            <a:avLst>
              <a:gd name="adj" fmla="val 41666"/>
            </a:avLst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cf14f47-12f2-4855-8c5e-95de433348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7175" y="419100"/>
            <a:ext cx="6600825" cy="9867900"/>
          </a:xfrm>
          <a:prstGeom prst="rect">
            <a:avLst/>
          </a:prstGeom>
        </p:spPr>
      </p:pic>
      <p:pic>
        <p:nvPicPr>
          <p:cNvPr id="5" name="Picture 4" descr="a589ce28-99d8-4c7d-8b18-ce3c9e6a69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3764279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28900" y="3684270"/>
            <a:ext cx="2884189" cy="42645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 b="1">
                <a:solidFill>
                  <a:srgbClr val="0F1519"/>
                </a:solidFill>
                <a:latin typeface="Quicksand Bold"/>
              </a:rPr>
              <a:t>Exercício Resolvido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5950" y="4526279"/>
            <a:ext cx="14516100" cy="159948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0F1519"/>
                </a:solidFill>
                <a:latin typeface="Quicksand"/>
              </a:rPr>
              <a:t>Uma equipe registrou as horas de quatro tarefas: análise = 6, programação = 14, testes = 8 e documentação = 4. Calcule o total, a média e a diferença entre a maior e a menor tarefa usando fórmulas do Excel.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76350" y="2430780"/>
            <a:ext cx="15735299" cy="57912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43100" y="2065020"/>
            <a:ext cx="3703339" cy="731519"/>
          </a:xfrm>
          <a:prstGeom prst="roundRect">
            <a:avLst>
              <a:gd name="adj" fmla="val 41666"/>
            </a:avLst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33550" y="3040380"/>
            <a:ext cx="857250" cy="857250"/>
          </a:xfrm>
          <a:prstGeom prst="roundRect">
            <a:avLst>
              <a:gd name="adj" fmla="val 35555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33550" y="4278630"/>
            <a:ext cx="857250" cy="857250"/>
          </a:xfrm>
          <a:prstGeom prst="roundRect">
            <a:avLst>
              <a:gd name="adj" fmla="val 35555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33550" y="5516880"/>
            <a:ext cx="857250" cy="857250"/>
          </a:xfrm>
          <a:prstGeom prst="roundRect">
            <a:avLst>
              <a:gd name="adj" fmla="val 35555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3550" y="6755130"/>
            <a:ext cx="857250" cy="857250"/>
          </a:xfrm>
          <a:prstGeom prst="roundRect">
            <a:avLst>
              <a:gd name="adj" fmla="val 35555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cf14f47-12f2-4855-8c5e-95de433348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7175" y="419100"/>
            <a:ext cx="6600825" cy="9867900"/>
          </a:xfrm>
          <a:prstGeom prst="rect">
            <a:avLst/>
          </a:prstGeom>
        </p:spPr>
      </p:pic>
      <p:pic>
        <p:nvPicPr>
          <p:cNvPr id="9" name="Picture 8" descr="a589ce28-99d8-4c7d-8b18-ce3c9e6a69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2278380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28900" y="2198370"/>
            <a:ext cx="2884189" cy="42645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 b="1">
                <a:solidFill>
                  <a:srgbClr val="0F1519"/>
                </a:solidFill>
                <a:latin typeface="Quicksand Bold"/>
              </a:rPr>
              <a:t>Exercício Resolvido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0942" y="3316605"/>
            <a:ext cx="232965" cy="3047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2400" b="1">
                <a:solidFill>
                  <a:srgbClr val="111827"/>
                </a:solidFill>
                <a:latin typeface="Quicksand 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42364"/>
            <a:ext cx="13811250" cy="85290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>
                <a:solidFill>
                  <a:srgbClr val="0F1519"/>
                </a:solidFill>
                <a:latin typeface="Quicksand"/>
              </a:rPr>
              <a:t>Organize os valores em B2:B5 e use =SOMA(B2:B5) para obter o total de 32 horas; a função soma o intervalo inteiro.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3557" y="4554855"/>
            <a:ext cx="287734" cy="3047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2400" b="1">
                <a:solidFill>
                  <a:srgbClr val="111827"/>
                </a:solidFill>
                <a:latin typeface="Quicksand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493934"/>
            <a:ext cx="13811250" cy="42645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>
                <a:solidFill>
                  <a:srgbClr val="0F1519"/>
                </a:solidFill>
                <a:latin typeface="Quicksand"/>
              </a:rPr>
              <a:t>Use =MÉDIA(B2:B5) para calcular a média: 32 ÷ 4 = 8 horas por tarefa.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18419" y="5793105"/>
            <a:ext cx="278010" cy="3047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2400" b="1">
                <a:solidFill>
                  <a:srgbClr val="111827"/>
                </a:solidFill>
                <a:latin typeface="Quicksand 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732184"/>
            <a:ext cx="13811250" cy="42645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>
                <a:solidFill>
                  <a:srgbClr val="0F1519"/>
                </a:solidFill>
                <a:latin typeface="Quicksand"/>
              </a:rPr>
              <a:t>Use =MÁXIMO(B2:B5)-MÍNIMO(B2:B5) para encontrar a amplitude: 14 − 4 = 10 horas.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10630" y="7031355"/>
            <a:ext cx="293588" cy="3047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2400" b="1">
                <a:solidFill>
                  <a:srgbClr val="111827"/>
                </a:solidFill>
                <a:latin typeface="Quicksand 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6757114"/>
            <a:ext cx="13811250" cy="85290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>
                <a:solidFill>
                  <a:srgbClr val="0F1519"/>
                </a:solidFill>
                <a:latin typeface="Quicksand"/>
              </a:rPr>
              <a:t>Interprete: programação concentra mais horas, enquanto documentação tem o menor registro; isso pode orientar o planejamento da próxima sprint.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62274"/>
            <a:ext cx="4086225" cy="2844799"/>
          </a:xfrm>
          <a:prstGeom prst="roundRect">
            <a:avLst>
              <a:gd name="adj" fmla="val 12053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62525" y="2962274"/>
            <a:ext cx="4086225" cy="2844799"/>
          </a:xfrm>
          <a:prstGeom prst="roundRect">
            <a:avLst>
              <a:gd name="adj" fmla="val 12053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0" y="2962274"/>
            <a:ext cx="4086225" cy="2844799"/>
          </a:xfrm>
          <a:prstGeom prst="roundRect">
            <a:avLst>
              <a:gd name="adj" fmla="val 12053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515975" y="2962274"/>
            <a:ext cx="4086225" cy="2844799"/>
          </a:xfrm>
          <a:prstGeom prst="roundRect">
            <a:avLst>
              <a:gd name="adj" fmla="val 12053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731e731-f9eb-443e-8934-2b53e236af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99" y="3486150"/>
            <a:ext cx="419100" cy="419100"/>
          </a:xfrm>
          <a:prstGeom prst="rect">
            <a:avLst/>
          </a:prstGeom>
        </p:spPr>
      </p:pic>
      <p:pic>
        <p:nvPicPr>
          <p:cNvPr id="8" name="Picture 7" descr="ad631d8e-b72e-4ee7-bc1c-2ea3f9c922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324" y="3486150"/>
            <a:ext cx="419100" cy="419100"/>
          </a:xfrm>
          <a:prstGeom prst="rect">
            <a:avLst/>
          </a:prstGeom>
        </p:spPr>
      </p:pic>
      <p:pic>
        <p:nvPicPr>
          <p:cNvPr id="9" name="Picture 8" descr="71aea603-cadf-498f-8630-3451b88ae3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4050" y="3486150"/>
            <a:ext cx="419100" cy="419100"/>
          </a:xfrm>
          <a:prstGeom prst="rect">
            <a:avLst/>
          </a:prstGeom>
        </p:spPr>
      </p:pic>
      <p:pic>
        <p:nvPicPr>
          <p:cNvPr id="10" name="Picture 9" descr="4bc31a80-aefc-4123-8e64-a75e65122e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20774" y="3486150"/>
            <a:ext cx="419100" cy="41910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61999" y="6073775"/>
          <a:ext cx="16764000" cy="3452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000"/>
                <a:gridCol w="5588000"/>
                <a:gridCol w="5588000"/>
              </a:tblGrid>
              <a:tr h="690562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75D1C0"/>
                          </a:solidFill>
                        </a:rPr>
                        <a:t>Pergunta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75D1C0"/>
                          </a:solidFill>
                        </a:rPr>
                        <a:t>Função indicada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75D1C0"/>
                          </a:solidFill>
                        </a:rPr>
                        <a:t>Leitura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</a:tr>
              <a:tr h="690562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Quanto foi no total?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SOMA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Acúmulo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690562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Qual é o valor típico médio?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MÉDIA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Centro aritmético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690562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Qual foi o maior registro?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MÁXIMO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Extremo superior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690562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Qual foi o menor registro?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MÍNIMO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Extremo inferior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1999" y="761999"/>
            <a:ext cx="1676399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E0A94A"/>
                </a:solidFill>
                <a:latin typeface="Quicksand Bold"/>
              </a:rPr>
              <a:t>FUNÇÕES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99" y="1085850"/>
            <a:ext cx="16763999" cy="670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Funções essenciais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99" y="1832570"/>
            <a:ext cx="16763999" cy="4114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Funções encapsulam operações frequentes e tornam a análise mais legível.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52899"/>
            <a:ext cx="362902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A5BEFF"/>
                </a:solidFill>
                <a:latin typeface="Quicksand Bold"/>
              </a:rPr>
              <a:t>SOMA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10099"/>
            <a:ext cx="3629025" cy="66853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Adiciona valores.</a:t>
            </a:r>
          </a:p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=SOMA(E2:E5)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1125" y="4152899"/>
            <a:ext cx="362902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A5BEFF"/>
                </a:solidFill>
                <a:latin typeface="Quicksand Bold"/>
              </a:rPr>
              <a:t>MÉDIA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1125" y="4610099"/>
            <a:ext cx="3629025" cy="66853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Calcula a média.</a:t>
            </a:r>
          </a:p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=MÉDIA(E2:E5)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7850" y="4152899"/>
            <a:ext cx="362902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A5BEFF"/>
                </a:solidFill>
                <a:latin typeface="Quicksand Bold"/>
              </a:rPr>
              <a:t>MÁXIMO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7850" y="4610099"/>
            <a:ext cx="3629025" cy="66853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Retorna o maior.</a:t>
            </a:r>
          </a:p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=MÁXIMO(E2:E5)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44575" y="4152899"/>
            <a:ext cx="362902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A5BEFF"/>
                </a:solidFill>
                <a:latin typeface="Quicksand Bold"/>
              </a:rPr>
              <a:t>MÍNIMO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44575" y="4610099"/>
            <a:ext cx="3629025" cy="66853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Retorna o menor.</a:t>
            </a:r>
          </a:p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=MÍNIMO(E2:E5)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49" y="9791699"/>
            <a:ext cx="571500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29000" y="1809749"/>
            <a:ext cx="11430000" cy="76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sz="4650" b="1">
                <a:solidFill>
                  <a:srgbClr val="0F151A"/>
                </a:solidFill>
                <a:latin typeface="Quicksand Bold"/>
              </a:rPr>
              <a:t>Preencha a </a:t>
            </a:r>
            <a:r>
              <a:rPr sz="4650" b="1">
                <a:solidFill>
                  <a:srgbClr val="0F151A"/>
                </a:solidFill>
                <a:latin typeface="Quicksand Bold"/>
              </a:rPr>
              <a:t>lacuna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7937" y="4423409"/>
            <a:ext cx="13192124" cy="2202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900">
                <a:solidFill>
                  <a:srgbClr val="0F151A"/>
                </a:solidFill>
                <a:latin typeface="Rubik"/>
              </a:rPr>
              <a:t>Para adicionar os valores do intervalo E2:E5, a fórmula adequada é </a:t>
            </a:r>
            <a:r>
              <a:rPr sz="3525">
                <a:solidFill>
                  <a:srgbClr val="0F151A"/>
                </a:solidFill>
                <a:latin typeface="Rubik"/>
              </a:rPr>
              <a:t>______________</a:t>
            </a:r>
            <a:r>
              <a:rPr sz="3900">
                <a:solidFill>
                  <a:srgbClr val="0F151A"/>
                </a:solidFill>
                <a:latin typeface="Rubik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29000" y="1809749"/>
            <a:ext cx="11430000" cy="76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sz="4650" b="1">
                <a:solidFill>
                  <a:srgbClr val="0F151A"/>
                </a:solidFill>
                <a:latin typeface="Quicksand Bold"/>
              </a:rPr>
              <a:t>Preencha a </a:t>
            </a:r>
            <a:r>
              <a:rPr sz="4650" b="1">
                <a:solidFill>
                  <a:srgbClr val="0F151A"/>
                </a:solidFill>
                <a:latin typeface="Quicksand Bold"/>
              </a:rPr>
              <a:t>lacuna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7937" y="4423409"/>
            <a:ext cx="13192124" cy="2202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900">
                <a:solidFill>
                  <a:srgbClr val="0F151A"/>
                </a:solidFill>
                <a:latin typeface="Rubik"/>
              </a:rPr>
              <a:t>Para adicionar os valores do intervalo E2:E5, a fórmula adequada é </a:t>
            </a:r>
            <a:r>
              <a:rPr sz="3525" b="1" i="1" u="sng">
                <a:solidFill>
                  <a:srgbClr val="5880F1"/>
                </a:solidFill>
                <a:latin typeface="Quicksand Bold"/>
              </a:rPr>
              <a:t>=SOMA(E2:E5)</a:t>
            </a:r>
            <a:r>
              <a:rPr sz="3900">
                <a:solidFill>
                  <a:srgbClr val="0F151A"/>
                </a:solidFill>
                <a:latin typeface="Rubik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29000" y="1809749"/>
            <a:ext cx="11430000" cy="76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sz="4650" b="1">
                <a:solidFill>
                  <a:srgbClr val="0F151A"/>
                </a:solidFill>
                <a:latin typeface="Quicksand Bold"/>
              </a:rPr>
              <a:t>Preencha a </a:t>
            </a:r>
            <a:r>
              <a:rPr sz="4650" b="1">
                <a:solidFill>
                  <a:srgbClr val="0F151A"/>
                </a:solidFill>
                <a:latin typeface="Quicksand Bold"/>
              </a:rPr>
              <a:t>lacuna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7937" y="4423409"/>
            <a:ext cx="13192124" cy="2202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900">
                <a:solidFill>
                  <a:srgbClr val="0F151A"/>
                </a:solidFill>
                <a:latin typeface="Rubik"/>
              </a:rPr>
              <a:t>A função que retorna o maior valor de um intervalo é </a:t>
            </a:r>
            <a:r>
              <a:rPr sz="3525">
                <a:solidFill>
                  <a:srgbClr val="0F151A"/>
                </a:solidFill>
                <a:latin typeface="Rubik"/>
              </a:rPr>
              <a:t>________</a:t>
            </a:r>
            <a:r>
              <a:rPr sz="3900">
                <a:solidFill>
                  <a:srgbClr val="0F151A"/>
                </a:solidFill>
                <a:latin typeface="Rubik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29000" y="1809749"/>
            <a:ext cx="11430000" cy="76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sz="4650" b="1">
                <a:solidFill>
                  <a:srgbClr val="0F151A"/>
                </a:solidFill>
                <a:latin typeface="Quicksand Bold"/>
              </a:rPr>
              <a:t>Preencha a </a:t>
            </a:r>
            <a:r>
              <a:rPr sz="4650" b="1">
                <a:solidFill>
                  <a:srgbClr val="0F151A"/>
                </a:solidFill>
                <a:latin typeface="Quicksand Bold"/>
              </a:rPr>
              <a:t>lacuna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7937" y="4423409"/>
            <a:ext cx="13192124" cy="2202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900">
                <a:solidFill>
                  <a:srgbClr val="0F151A"/>
                </a:solidFill>
                <a:latin typeface="Rubik"/>
              </a:rPr>
              <a:t>A função que retorna o maior valor de um intervalo é </a:t>
            </a:r>
            <a:r>
              <a:rPr sz="3525" b="1" i="1" u="sng">
                <a:solidFill>
                  <a:srgbClr val="5880F1"/>
                </a:solidFill>
                <a:latin typeface="Quicksand Bold"/>
              </a:rPr>
              <a:t>MÁXIMO</a:t>
            </a:r>
            <a:r>
              <a:rPr sz="3900">
                <a:solidFill>
                  <a:srgbClr val="0F151A"/>
                </a:solidFill>
                <a:latin typeface="Rubik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29000" y="1809749"/>
            <a:ext cx="11430000" cy="76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sz="4650" b="1">
                <a:solidFill>
                  <a:srgbClr val="0F151A"/>
                </a:solidFill>
                <a:latin typeface="Quicksand Bold"/>
              </a:rPr>
              <a:t>Preencha a </a:t>
            </a:r>
            <a:r>
              <a:rPr sz="4650" b="1">
                <a:solidFill>
                  <a:srgbClr val="0F151A"/>
                </a:solidFill>
                <a:latin typeface="Quicksand Bold"/>
              </a:rPr>
              <a:t>lacuna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7937" y="4423409"/>
            <a:ext cx="13192124" cy="2202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900">
                <a:solidFill>
                  <a:srgbClr val="0F151A"/>
                </a:solidFill>
                <a:latin typeface="Rubik"/>
              </a:rPr>
              <a:t>Em uma fórmula do Excel, o sinal </a:t>
            </a:r>
            <a:r>
              <a:rPr sz="3525">
                <a:solidFill>
                  <a:srgbClr val="0F151A"/>
                </a:solidFill>
                <a:latin typeface="Rubik"/>
              </a:rPr>
              <a:t>________</a:t>
            </a:r>
            <a:r>
              <a:rPr sz="3900">
                <a:solidFill>
                  <a:srgbClr val="0F151A"/>
                </a:solidFill>
                <a:latin typeface="Rubik"/>
              </a:rPr>
              <a:t> indica que o conteúdo será calculado.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29000" y="1809749"/>
            <a:ext cx="11430000" cy="76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sz="4650" b="1">
                <a:solidFill>
                  <a:srgbClr val="0F151A"/>
                </a:solidFill>
                <a:latin typeface="Quicksand Bold"/>
              </a:rPr>
              <a:t>Preencha a </a:t>
            </a:r>
            <a:r>
              <a:rPr sz="4650" b="1">
                <a:solidFill>
                  <a:srgbClr val="0F151A"/>
                </a:solidFill>
                <a:latin typeface="Quicksand Bold"/>
              </a:rPr>
              <a:t>lacuna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7937" y="4423409"/>
            <a:ext cx="13192124" cy="2202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900">
                <a:solidFill>
                  <a:srgbClr val="0F151A"/>
                </a:solidFill>
                <a:latin typeface="Rubik"/>
              </a:rPr>
              <a:t>Em uma fórmula do Excel, o sinal </a:t>
            </a:r>
            <a:r>
              <a:rPr sz="3525" b="1" i="1" u="sng">
                <a:solidFill>
                  <a:srgbClr val="5880F1"/>
                </a:solidFill>
                <a:latin typeface="Quicksand Bold"/>
              </a:rPr>
              <a:t>=</a:t>
            </a:r>
            <a:r>
              <a:rPr sz="3900">
                <a:solidFill>
                  <a:srgbClr val="0F151A"/>
                </a:solidFill>
                <a:latin typeface="Rubik"/>
              </a:rPr>
              <a:t> indica que o conteúdo será calculado.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813675" y="2962274"/>
            <a:ext cx="9788525" cy="4362450"/>
          </a:xfrm>
          <a:prstGeom prst="roundRect">
            <a:avLst>
              <a:gd name="adj" fmla="val 8733"/>
            </a:avLst>
          </a:prstGeom>
          <a:solidFill>
            <a:srgbClr val="22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118475" y="3971925"/>
            <a:ext cx="3426321" cy="495299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13675" y="7515224"/>
            <a:ext cx="9788525" cy="2085975"/>
          </a:xfrm>
          <a:prstGeom prst="roundRect">
            <a:avLst>
              <a:gd name="adj" fmla="val 14611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1999" y="3038475"/>
          <a:ext cx="6784974" cy="6488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658"/>
                <a:gridCol w="2261658"/>
                <a:gridCol w="2261658"/>
              </a:tblGrid>
              <a:tr h="1238249">
                <a:tc>
                  <a:txBody>
                    <a:bodyPr wrap="square"/>
                    <a:lstStyle/>
                    <a:p>
                      <a:pPr algn="ctr"/>
                      <a:r>
                        <a:rPr sz="1800">
                          <a:solidFill>
                            <a:srgbClr val="E7BC72"/>
                          </a:solidFill>
                        </a:rPr>
                        <a:t>Fórmula em D2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>
                          <a:solidFill>
                            <a:srgbClr val="E7BC72"/>
                          </a:solidFill>
                        </a:rPr>
                        <a:t>Ao copiar para D3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>
                          <a:solidFill>
                            <a:srgbClr val="E7BC72"/>
                          </a:solidFill>
                        </a:rPr>
                        <a:t>Comportamento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</a:tr>
              <a:tr h="1535429">
                <a:tc>
                  <a:txBody>
                    <a:bodyPr wrap="square"/>
                    <a:lstStyle/>
                    <a:p>
                      <a:pPr algn="ctr"/>
                      <a:r>
                        <a:rPr sz="1800">
                          <a:solidFill>
                            <a:srgbClr val="E7BC72"/>
                          </a:solidFill>
                        </a:rPr>
                        <a:t>=B2*C2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</a:rPr>
                        <a:t>=B3*C3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</a:rPr>
                        <a:t>Relativa: acompanha a linha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1238249">
                <a:tc>
                  <a:txBody>
                    <a:bodyPr wrap="square"/>
                    <a:lstStyle/>
                    <a:p>
                      <a:pPr algn="ctr"/>
                      <a:r>
                        <a:rPr sz="1800">
                          <a:solidFill>
                            <a:srgbClr val="E7BC72"/>
                          </a:solidFill>
                        </a:rPr>
                        <a:t>=B2*$F$1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</a:rPr>
                        <a:t>=B3*$F$1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</a:rPr>
                        <a:t>Mista: só a taxa fica fixa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1238249">
                <a:tc>
                  <a:txBody>
                    <a:bodyPr wrap="square"/>
                    <a:lstStyle/>
                    <a:p>
                      <a:pPr algn="ctr"/>
                      <a:r>
                        <a:rPr sz="1800">
                          <a:solidFill>
                            <a:srgbClr val="E7BC72"/>
                          </a:solidFill>
                        </a:rPr>
                        <a:t>=$B$2*C2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</a:rPr>
                        <a:t>=$B$2*C3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</a:rPr>
                        <a:t>Mista: só a base fica fixa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1238249">
                <a:tc>
                  <a:txBody>
                    <a:bodyPr wrap="square"/>
                    <a:lstStyle/>
                    <a:p>
                      <a:pPr algn="ctr"/>
                      <a:r>
                        <a:rPr sz="1800">
                          <a:solidFill>
                            <a:srgbClr val="E7BC72"/>
                          </a:solidFill>
                        </a:rPr>
                        <a:t>=$B$2*$C$2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</a:rPr>
                        <a:t>=$B$2*$C$2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</a:rPr>
                        <a:t>Absoluta: nada muda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1999" y="761999"/>
            <a:ext cx="1676399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3FBFA8"/>
                </a:solidFill>
                <a:latin typeface="Quicksand Bold"/>
              </a:rPr>
              <a:t>REFERÊNCIAS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99" y="1085850"/>
            <a:ext cx="16763999" cy="670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Referências relativas e absolutas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99" y="1832570"/>
            <a:ext cx="16763999" cy="4114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Copiar uma fórmula pode ser poderoso — desde que você saiba o que deve mudar.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8025" y="4070984"/>
            <a:ext cx="3045321" cy="32194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950" b="1">
                <a:solidFill>
                  <a:srgbClr val="0F151A"/>
                </a:solidFill>
                <a:latin typeface="Quicksand Bold"/>
              </a:rPr>
              <a:t>O cifrão fixa a referência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8475" y="4619625"/>
            <a:ext cx="9178925" cy="12799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>
                <a:solidFill>
                  <a:srgbClr val="FFFFFF"/>
                </a:solidFill>
                <a:latin typeface="Quicksand"/>
              </a:rPr>
              <a:t>Use $ antes da coluna e/ou da linha quando uma fórmula copiada deve continuar apontando para a mesma célula, como uma taxa, um parâmetro ou uma constante.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8475" y="6032896"/>
            <a:ext cx="9178925" cy="27235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B2 muda; $B$2 permanece.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8475" y="7877174"/>
            <a:ext cx="917892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3FBFA8"/>
                </a:solidFill>
                <a:latin typeface="Quicksand Bold"/>
              </a:rPr>
              <a:t>Antes de seguir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8475" y="8296274"/>
            <a:ext cx="9178925" cy="92571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Antes de copiar: qual parte representa o item da linha e qual parte representa uma regra comum?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8249" y="9791699"/>
            <a:ext cx="571500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14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76350" y="3916680"/>
            <a:ext cx="15735299" cy="2819399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43100" y="3550920"/>
            <a:ext cx="3703339" cy="731519"/>
          </a:xfrm>
          <a:prstGeom prst="roundRect">
            <a:avLst>
              <a:gd name="adj" fmla="val 41666"/>
            </a:avLst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cf14f47-12f2-4855-8c5e-95de433348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7175" y="419100"/>
            <a:ext cx="6600825" cy="9867900"/>
          </a:xfrm>
          <a:prstGeom prst="rect">
            <a:avLst/>
          </a:prstGeom>
        </p:spPr>
      </p:pic>
      <p:pic>
        <p:nvPicPr>
          <p:cNvPr id="5" name="Picture 4" descr="a589ce28-99d8-4c7d-8b18-ce3c9e6a69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3764279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28900" y="3684270"/>
            <a:ext cx="2884189" cy="42645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 b="1">
                <a:solidFill>
                  <a:srgbClr val="0F1519"/>
                </a:solidFill>
                <a:latin typeface="Quicksand Bold"/>
              </a:rPr>
              <a:t>Exercício Resolvido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5950" y="4526279"/>
            <a:ext cx="14516100" cy="159948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0F1519"/>
                </a:solidFill>
                <a:latin typeface="Quicksand"/>
              </a:rPr>
              <a:t>Em uma planilha de orçamento, B2:B4 contém quantidades (2, 5, 3), C2:C4 contém preços (R$ 40, R$ 12, R$ 25) e F1 contém uma taxa fixa de 10%. Calcule o subtotal de cada item e o custo final com a taxa.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76350" y="2430780"/>
            <a:ext cx="15735299" cy="57912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43100" y="2065020"/>
            <a:ext cx="3703339" cy="731519"/>
          </a:xfrm>
          <a:prstGeom prst="roundRect">
            <a:avLst>
              <a:gd name="adj" fmla="val 41666"/>
            </a:avLst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33550" y="3040380"/>
            <a:ext cx="857250" cy="857250"/>
          </a:xfrm>
          <a:prstGeom prst="roundRect">
            <a:avLst>
              <a:gd name="adj" fmla="val 35555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33550" y="4278630"/>
            <a:ext cx="857250" cy="857250"/>
          </a:xfrm>
          <a:prstGeom prst="roundRect">
            <a:avLst>
              <a:gd name="adj" fmla="val 35555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33550" y="5516880"/>
            <a:ext cx="857250" cy="857250"/>
          </a:xfrm>
          <a:prstGeom prst="roundRect">
            <a:avLst>
              <a:gd name="adj" fmla="val 35555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3550" y="6755130"/>
            <a:ext cx="857250" cy="857250"/>
          </a:xfrm>
          <a:prstGeom prst="roundRect">
            <a:avLst>
              <a:gd name="adj" fmla="val 35555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cf14f47-12f2-4855-8c5e-95de433348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7175" y="419100"/>
            <a:ext cx="6600825" cy="9867900"/>
          </a:xfrm>
          <a:prstGeom prst="rect">
            <a:avLst/>
          </a:prstGeom>
        </p:spPr>
      </p:pic>
      <p:pic>
        <p:nvPicPr>
          <p:cNvPr id="9" name="Picture 8" descr="a589ce28-99d8-4c7d-8b18-ce3c9e6a69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2278380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28900" y="2198370"/>
            <a:ext cx="2884189" cy="42645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 b="1">
                <a:solidFill>
                  <a:srgbClr val="0F1519"/>
                </a:solidFill>
                <a:latin typeface="Quicksand Bold"/>
              </a:rPr>
              <a:t>Exercício Resolvido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0942" y="3316605"/>
            <a:ext cx="232965" cy="3047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2400" b="1">
                <a:solidFill>
                  <a:srgbClr val="111827"/>
                </a:solidFill>
                <a:latin typeface="Quicksand 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42364"/>
            <a:ext cx="13811250" cy="85290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>
                <a:solidFill>
                  <a:srgbClr val="0F1519"/>
                </a:solidFill>
                <a:latin typeface="Quicksand"/>
              </a:rPr>
              <a:t>Em D2, calcule o subtotal com =B2*C2. Ao copiar para D3:D4, as referências relativas passam a usar a linha correspondente.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3557" y="4554855"/>
            <a:ext cx="287734" cy="3047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2400" b="1">
                <a:solidFill>
                  <a:srgbClr val="111827"/>
                </a:solidFill>
                <a:latin typeface="Quicksand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280614"/>
            <a:ext cx="13811250" cy="85290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>
                <a:solidFill>
                  <a:srgbClr val="0F1519"/>
                </a:solidFill>
                <a:latin typeface="Quicksand"/>
              </a:rPr>
              <a:t>Em E2, calcule a taxa do item com =D2*$F$1. O preço e a quantidade mudam por linha, mas F1 fica fixo por causa dos cifrões.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18419" y="5793105"/>
            <a:ext cx="278010" cy="3047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2400" b="1">
                <a:solidFill>
                  <a:srgbClr val="111827"/>
                </a:solidFill>
                <a:latin typeface="Quicksand 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732184"/>
            <a:ext cx="13811250" cy="42645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>
                <a:solidFill>
                  <a:srgbClr val="0F1519"/>
                </a:solidFill>
                <a:latin typeface="Quicksand"/>
              </a:rPr>
              <a:t>Em F2, calcule o total do item com =D2+E2 e copie até F4.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10630" y="7031355"/>
            <a:ext cx="293588" cy="3047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2400" b="1">
                <a:solidFill>
                  <a:srgbClr val="111827"/>
                </a:solidFill>
                <a:latin typeface="Quicksand 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6757114"/>
            <a:ext cx="13811250" cy="85290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>
                <a:solidFill>
                  <a:srgbClr val="0F1519"/>
                </a:solidFill>
                <a:latin typeface="Quicksand"/>
              </a:rPr>
              <a:t>Some F2:F4 com =SOMA(F2:F4). Os subtotais são R$ 80, R$ 60 e R$ 75; o subtotal geral é R$ 215 e, com 10%, o custo final é R$ 236,50.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15010" y="4331047"/>
            <a:ext cx="2904529" cy="438149"/>
          </a:xfrm>
          <a:prstGeom prst="roundRect">
            <a:avLst>
              <a:gd name="adj" fmla="val 100000"/>
            </a:avLst>
          </a:prstGeom>
          <a:solidFill>
            <a:srgbClr val="3F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7515224"/>
            <a:ext cx="8362949" cy="2085975"/>
          </a:xfrm>
          <a:prstGeom prst="roundRect">
            <a:avLst>
              <a:gd name="adj" fmla="val 14611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0" y="2962274"/>
            <a:ext cx="8362949" cy="1580091"/>
          </a:xfrm>
          <a:prstGeom prst="roundRect">
            <a:avLst>
              <a:gd name="adj" fmla="val 21701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0" y="4732866"/>
            <a:ext cx="8362949" cy="1580091"/>
          </a:xfrm>
          <a:prstGeom prst="roundRect">
            <a:avLst>
              <a:gd name="adj" fmla="val 21701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9250" y="6503458"/>
            <a:ext cx="8362949" cy="1580091"/>
          </a:xfrm>
          <a:prstGeom prst="roundRect">
            <a:avLst>
              <a:gd name="adj" fmla="val 21701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9250" y="8274049"/>
            <a:ext cx="8362949" cy="1327149"/>
          </a:xfrm>
          <a:prstGeom prst="roundRect">
            <a:avLst>
              <a:gd name="adj" fmla="val 20095"/>
            </a:avLst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39250" y="8274049"/>
            <a:ext cx="171450" cy="1327149"/>
          </a:xfrm>
          <a:prstGeom prst="rect">
            <a:avLst/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9250" y="8274049"/>
            <a:ext cx="57150" cy="1327149"/>
          </a:xfrm>
          <a:prstGeom prst="rect">
            <a:avLst/>
          </a:prstGeom>
          <a:solidFill>
            <a:srgbClr val="3F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999" y="761999"/>
            <a:ext cx="1676399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7FA2FF"/>
                </a:solidFill>
                <a:latin typeface="Quicksand Bold"/>
              </a:rPr>
              <a:t>LÓGICA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99" y="1085850"/>
            <a:ext cx="16763999" cy="670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Decisões com a função 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99" y="1832570"/>
            <a:ext cx="16763999" cy="4114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Uma condição transforma um valor em uma classificação interpretável.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5010" y="4445347"/>
            <a:ext cx="290452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0F151A"/>
                </a:solidFill>
                <a:latin typeface="Quicksand Bold"/>
              </a:rPr>
              <a:t>Classificação de prazo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5016847"/>
            <a:ext cx="7791449" cy="5143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m:rPr>
                    <m:nor/>
                    <a:rPr sz="2430">
                      <a:solidFill>
                        <a:srgbClr val="75D1C0"/>
                      </a:solidFill>
                    </a:rPr>
                  </m:rPr>
                  <m:t>{</m:t>
                </m:r>
                <m:r>
                  <m:rPr>
                    <a:rPr sz="2430">
                      <a:solidFill>
                        <a:srgbClr val="75D1C0"/>
                      </a:solidFill>
                    </a:rPr>
                  </m:rPr>
                  <m:t>=SE(C2&lt;=D2;</m:t>
                </m:r>
              </m:oMath>
            </a14:m>
          </a:p>
        </p:txBody>
      </p:sp>
      <p:sp>
        <p:nvSpPr>
          <p:cNvPr id="16" name="TextBox 15"/>
          <p:cNvSpPr txBox="1"/>
          <p:nvPr/>
        </p:nvSpPr>
        <p:spPr>
          <a:xfrm>
            <a:off x="971550" y="5683597"/>
            <a:ext cx="7791449" cy="27235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Compara a data real C2 com a data limite D2 e retorna um rótulo.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599" y="7934324"/>
            <a:ext cx="775334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0A94A"/>
                </a:solidFill>
                <a:latin typeface="Quicksand Bold"/>
              </a:rPr>
              <a:t>Erro comum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599" y="8353424"/>
            <a:ext cx="7753349" cy="82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2400">
                <a:solidFill>
                  <a:srgbClr val="FFFFFF"/>
                </a:solidFill>
                <a:latin typeface="Quicksand"/>
              </a:rPr>
              <a:t>SE não “adivinha” o resultado: testa uma condição e escolhe entre duas respostas definidas.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7850" y="3352800"/>
            <a:ext cx="790574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A5BEFF"/>
                </a:solidFill>
                <a:latin typeface="Quicksand Bold"/>
              </a:rPr>
              <a:t>Teste lógico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7850" y="3809999"/>
            <a:ext cx="7905749" cy="3342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Uma comparação que resulta em VERDADEIRO ou FALSO.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7850" y="5123391"/>
            <a:ext cx="790574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A5BEFF"/>
                </a:solidFill>
                <a:latin typeface="Quicksand Bold"/>
              </a:rPr>
              <a:t>Valor se verdadeiro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7850" y="5580591"/>
            <a:ext cx="7905749" cy="3342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Resposta usada quando a condição é satisfeita.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7850" y="6893983"/>
            <a:ext cx="790574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A5BEFF"/>
                </a:solidFill>
                <a:latin typeface="Quicksand Bold"/>
              </a:rPr>
              <a:t>Valor se falso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7850" y="7351183"/>
            <a:ext cx="7905749" cy="3342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Resposta usada quando a condição não é satisfeita.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0" y="8788399"/>
            <a:ext cx="7791449" cy="29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800">
                <a:solidFill>
                  <a:srgbClr val="FFFFFF"/>
                </a:solidFill>
                <a:latin typeface="Quicksand"/>
              </a:rPr>
              <a:t>Exemplos: nota &gt;= 6 → aprovado; estoque = 0 → repor.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8249" y="9791699"/>
            <a:ext cx="571500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17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00200" y="1508760"/>
            <a:ext cx="1508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51A"/>
                </a:solidFill>
                <a:latin typeface="Calibri"/>
              </a:rPr>
              <a:t>Em uma planilha de entregas, C2 contém a data real e D2 a data limite. Qual fórmula classifica corretamente a entrega como “No prazo” quando C2 é anterior ou igual a D2?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00200" y="3901440"/>
            <a:ext cx="15087600" cy="990599"/>
          </a:xfrm>
          <a:prstGeom prst="roundRect">
            <a:avLst>
              <a:gd name="adj" fmla="val 2777"/>
            </a:avLst>
          </a:prstGeom>
          <a:solidFill>
            <a:srgbClr val="EDF2FF"/>
          </a:solidFill>
          <a:ln w="25400">
            <a:solidFill>
              <a:srgbClr val="80A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05000" y="4168140"/>
            <a:ext cx="457200" cy="457200"/>
          </a:xfrm>
          <a:prstGeom prst="ellipse">
            <a:avLst/>
          </a:prstGeom>
          <a:solidFill>
            <a:srgbClr val="588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3650" y="4053840"/>
            <a:ext cx="1384934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>
                <a:solidFill>
                  <a:srgbClr val="0F151A"/>
                </a:solidFill>
                <a:latin typeface="Rubik"/>
              </a:rPr>
              <a:t>=SE(C2&lt;=D2;"No prazo";"Atrasado")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5196840"/>
            <a:ext cx="15087600" cy="990599"/>
          </a:xfrm>
          <a:prstGeom prst="roundRect">
            <a:avLst>
              <a:gd name="adj" fmla="val 2777"/>
            </a:avLst>
          </a:prstGeom>
          <a:solidFill>
            <a:srgbClr val="E2FAF8"/>
          </a:solidFill>
          <a:ln w="25400">
            <a:solidFill>
              <a:srgbClr val="77C7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05000" y="5463540"/>
            <a:ext cx="457200" cy="457200"/>
          </a:xfrm>
          <a:prstGeom prst="ellipse">
            <a:avLst/>
          </a:prstGeom>
          <a:solidFill>
            <a:srgbClr val="00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3650" y="5349240"/>
            <a:ext cx="1384934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>
                <a:solidFill>
                  <a:srgbClr val="0F151A"/>
                </a:solidFill>
                <a:latin typeface="Rubik"/>
              </a:rPr>
              <a:t>=SE(C2=D2;"No prazo";"Atrasado")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6492240"/>
            <a:ext cx="15087600" cy="990599"/>
          </a:xfrm>
          <a:prstGeom prst="roundRect">
            <a:avLst>
              <a:gd name="adj" fmla="val 2777"/>
            </a:avLst>
          </a:prstGeom>
          <a:solidFill>
            <a:srgbClr val="FFF7E0"/>
          </a:solidFill>
          <a:ln w="25400">
            <a:solidFill>
              <a:srgbClr val="FFC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05000" y="6758940"/>
            <a:ext cx="457200" cy="457200"/>
          </a:xfrm>
          <a:prstGeom prst="ellipse">
            <a:avLst/>
          </a:prstGeom>
          <a:solidFill>
            <a:srgbClr val="C7A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3650" y="6644640"/>
            <a:ext cx="1384934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>
                <a:solidFill>
                  <a:srgbClr val="0F151A"/>
                </a:solidFill>
                <a:latin typeface="Rubik"/>
              </a:rPr>
              <a:t>=SE(C2&lt;D2;"Atrasado";"No prazo")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7787640"/>
            <a:ext cx="15087600" cy="990599"/>
          </a:xfrm>
          <a:prstGeom prst="roundRect">
            <a:avLst>
              <a:gd name="adj" fmla="val 2777"/>
            </a:avLst>
          </a:prstGeom>
          <a:solidFill>
            <a:srgbClr val="FFEDE0"/>
          </a:solidFill>
          <a:ln w="25400">
            <a:solidFill>
              <a:srgbClr val="FA7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05000" y="8054340"/>
            <a:ext cx="457200" cy="457200"/>
          </a:xfrm>
          <a:prstGeom prst="ellipse">
            <a:avLst/>
          </a:prstGeom>
          <a:solidFill>
            <a:srgbClr val="FA7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3650" y="7940040"/>
            <a:ext cx="1384934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>
                <a:solidFill>
                  <a:srgbClr val="0F151A"/>
                </a:solidFill>
                <a:latin typeface="Rubik"/>
              </a:rPr>
              <a:t>=SE(C2&gt;=D2;"No prazo";"Atrasado")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00200" y="1508760"/>
            <a:ext cx="1508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51A"/>
                </a:solidFill>
                <a:latin typeface="Calibri"/>
              </a:rPr>
              <a:t>Em uma planilha de entregas, C2 contém a data real e D2 a data limite. Qual fórmula classifica corretamente a entrega como “No prazo” quando C2 é anterior ou igual a D2?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00200" y="3901440"/>
            <a:ext cx="15087600" cy="990599"/>
          </a:xfrm>
          <a:prstGeom prst="roundRect">
            <a:avLst>
              <a:gd name="adj" fmla="val 2777"/>
            </a:avLst>
          </a:prstGeom>
          <a:solidFill>
            <a:srgbClr val="DCFCE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05000" y="4168140"/>
            <a:ext cx="457200" cy="45720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3650" y="4053840"/>
            <a:ext cx="1384934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>
                <a:solidFill>
                  <a:srgbClr val="0F151A"/>
                </a:solidFill>
                <a:latin typeface="Rubik"/>
              </a:rPr>
              <a:t>=SE(C2&lt;=D2;"No prazo";"Atrasado")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5196840"/>
            <a:ext cx="15087600" cy="990599"/>
          </a:xfrm>
          <a:prstGeom prst="roundRect">
            <a:avLst>
              <a:gd name="adj" fmla="val 2777"/>
            </a:avLst>
          </a:prstGeom>
          <a:solidFill>
            <a:srgbClr val="FEF2F2"/>
          </a:solidFill>
          <a:ln w="254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05000" y="5463540"/>
            <a:ext cx="457200" cy="457200"/>
          </a:xfrm>
          <a:prstGeom prst="ellipse">
            <a:avLst/>
          </a:prstGeom>
          <a:solidFill>
            <a:srgbClr val="FE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3650" y="5349240"/>
            <a:ext cx="1384934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>
                <a:solidFill>
                  <a:srgbClr val="0F151A"/>
                </a:solidFill>
                <a:latin typeface="Rubik"/>
              </a:rPr>
              <a:t>=SE(C2=D2;"No prazo";"Atrasado")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6492240"/>
            <a:ext cx="15087600" cy="990599"/>
          </a:xfrm>
          <a:prstGeom prst="roundRect">
            <a:avLst>
              <a:gd name="adj" fmla="val 2777"/>
            </a:avLst>
          </a:prstGeom>
          <a:solidFill>
            <a:srgbClr val="FEF2F2"/>
          </a:solidFill>
          <a:ln w="254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05000" y="6758940"/>
            <a:ext cx="457200" cy="457200"/>
          </a:xfrm>
          <a:prstGeom prst="ellipse">
            <a:avLst/>
          </a:prstGeom>
          <a:solidFill>
            <a:srgbClr val="FE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3650" y="6644640"/>
            <a:ext cx="1384934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>
                <a:solidFill>
                  <a:srgbClr val="0F151A"/>
                </a:solidFill>
                <a:latin typeface="Rubik"/>
              </a:rPr>
              <a:t>=SE(C2&lt;D2;"Atrasado";"No prazo")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7787640"/>
            <a:ext cx="15087600" cy="990599"/>
          </a:xfrm>
          <a:prstGeom prst="roundRect">
            <a:avLst>
              <a:gd name="adj" fmla="val 2777"/>
            </a:avLst>
          </a:prstGeom>
          <a:solidFill>
            <a:srgbClr val="FEF2F2"/>
          </a:solidFill>
          <a:ln w="254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05000" y="8054340"/>
            <a:ext cx="457200" cy="457200"/>
          </a:xfrm>
          <a:prstGeom prst="ellipse">
            <a:avLst/>
          </a:prstGeom>
          <a:solidFill>
            <a:srgbClr val="FE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3650" y="7940040"/>
            <a:ext cx="1384934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>
                <a:solidFill>
                  <a:srgbClr val="0F151A"/>
                </a:solidFill>
                <a:latin typeface="Rubik"/>
              </a:rPr>
              <a:t>=SE(C2&gt;=D2;"No prazo";"Atrasado")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64825" y="2962274"/>
            <a:ext cx="6937375" cy="2085975"/>
          </a:xfrm>
          <a:prstGeom prst="roundRect">
            <a:avLst>
              <a:gd name="adj" fmla="val 14611"/>
            </a:avLst>
          </a:prstGeom>
          <a:solidFill>
            <a:srgbClr val="193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64825" y="5238749"/>
            <a:ext cx="6937375" cy="2085975"/>
          </a:xfrm>
          <a:prstGeom prst="roundRect">
            <a:avLst>
              <a:gd name="adj" fmla="val 14611"/>
            </a:avLst>
          </a:prstGeom>
          <a:solidFill>
            <a:srgbClr val="39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64825" y="7515225"/>
            <a:ext cx="6937375" cy="2085975"/>
          </a:xfrm>
          <a:prstGeom prst="roundRect">
            <a:avLst>
              <a:gd name="adj" fmla="val 14611"/>
            </a:avLst>
          </a:prstGeom>
          <a:solidFill>
            <a:srgbClr val="25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1999" y="3038475"/>
          <a:ext cx="9636123" cy="6486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2041"/>
                <a:gridCol w="3212041"/>
                <a:gridCol w="3212041"/>
              </a:tblGrid>
              <a:tr h="1081087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Status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Responsável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Horas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</a:tr>
              <a:tr h="1081087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Concluído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Ana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1081087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Em teste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Bruno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</a:tr>
              <a:tr h="1081087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Planejado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Ana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1081087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Em teste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</a:tr>
              <a:tr h="1081087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Concluído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Bruno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1999" y="761999"/>
            <a:ext cx="1676399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E0A94A"/>
                </a:solidFill>
                <a:latin typeface="Quicksand Bold"/>
              </a:rPr>
              <a:t>ANÁLISE CONDICIONAL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99" y="1085850"/>
            <a:ext cx="16763999" cy="670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Contagem e critérios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99" y="1832570"/>
            <a:ext cx="16763999" cy="4114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Perguntas com critérios transformam uma base em respostas específicas.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93425" y="3438525"/>
            <a:ext cx="648017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CONT.SE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3425" y="3895724"/>
            <a:ext cx="6480175" cy="66853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Conta quantas células atendem a um critério.</a:t>
            </a:r>
          </a:p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=CONT.SE(A2:A6;"Em teste")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93425" y="5715000"/>
            <a:ext cx="648017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SOMASE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93425" y="6172200"/>
            <a:ext cx="6480175" cy="66853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Soma valores associados a um critério.</a:t>
            </a:r>
          </a:p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=SOMASE(A2:A6;"Concluído";C2:C6)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93425" y="7991474"/>
            <a:ext cx="648017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Pergunta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8448674"/>
            <a:ext cx="6480175" cy="66853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Quantos projetos estão em teste? Quantas horas foram gastas nos concluídos?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49" y="9791699"/>
            <a:ext cx="571500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19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62274"/>
            <a:ext cx="4048124" cy="5121274"/>
          </a:xfrm>
          <a:prstGeom prst="roundRect">
            <a:avLst>
              <a:gd name="adj" fmla="val 9411"/>
            </a:avLst>
          </a:prstGeom>
          <a:solidFill>
            <a:srgbClr val="193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00625" y="2962274"/>
            <a:ext cx="4048124" cy="5121274"/>
          </a:xfrm>
          <a:prstGeom prst="roundRect">
            <a:avLst>
              <a:gd name="adj" fmla="val 9411"/>
            </a:avLst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8274049"/>
            <a:ext cx="8362949" cy="1327149"/>
          </a:xfrm>
          <a:prstGeom prst="roundRect">
            <a:avLst>
              <a:gd name="adj" fmla="val 20095"/>
            </a:avLst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274049"/>
            <a:ext cx="171450" cy="1327149"/>
          </a:xfrm>
          <a:prstGeom prst="rect">
            <a:avLst/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274049"/>
            <a:ext cx="57150" cy="1327149"/>
          </a:xfrm>
          <a:prstGeom prst="rect">
            <a:avLst/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9250" y="2962274"/>
            <a:ext cx="8362949" cy="4362450"/>
          </a:xfrm>
          <a:prstGeom prst="roundRect">
            <a:avLst>
              <a:gd name="adj" fmla="val 8733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985625" y="3171825"/>
            <a:ext cx="19050" cy="3943350"/>
          </a:xfrm>
          <a:prstGeom prst="roundRect">
            <a:avLst>
              <a:gd name="adj" fmla="val 100000"/>
            </a:avLst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836774" y="3171825"/>
            <a:ext cx="19050" cy="3943350"/>
          </a:xfrm>
          <a:prstGeom prst="roundRect">
            <a:avLst>
              <a:gd name="adj" fmla="val 100000"/>
            </a:avLst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999" y="761999"/>
            <a:ext cx="1676399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7FA2FF"/>
                </a:solidFill>
                <a:latin typeface="Quicksand Bold"/>
              </a:rPr>
              <a:t>QUALIDADE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99" y="1085850"/>
            <a:ext cx="16763999" cy="670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Texto, datas e limpeza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99" y="1832570"/>
            <a:ext cx="16763999" cy="4114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Antes de analisar, verifique se o conteúdo significa o que parece significar.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49" y="4267199"/>
            <a:ext cx="340042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Problema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49" y="4762500"/>
            <a:ext cx="3400425" cy="20056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"Ana" e " ana " podem ser tratados como valores diferentes.</a:t>
            </a:r>
          </a:p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"01/02/2025" pode ser interpretado com ambiguidade.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4474" y="4772025"/>
            <a:ext cx="340042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0F151A"/>
                </a:solidFill>
                <a:latin typeface="Quicksand Bold"/>
              </a:rPr>
              <a:t>Correção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4474" y="5267324"/>
            <a:ext cx="3400425" cy="100280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0F151A"/>
                </a:solidFill>
                <a:latin typeface="Quicksand"/>
              </a:rPr>
              <a:t>Padronize grafia, espaços, maiúsculas, datas e unidades antes de contar ou comparar.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550" y="8788399"/>
            <a:ext cx="7791449" cy="29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800">
                <a:solidFill>
                  <a:srgbClr val="FFFFFF"/>
                </a:solidFill>
                <a:latin typeface="Quicksand"/>
              </a:rPr>
              <a:t>Limpar dados é uma etapa de análise, não um detalhe de formatação.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4050" y="3962399"/>
            <a:ext cx="571500" cy="1904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7FA2FF"/>
                </a:solidFill>
                <a:latin typeface="Quicksand Bold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7850" y="4210049"/>
            <a:ext cx="2203449" cy="3199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A5BEFF"/>
                </a:solidFill>
                <a:latin typeface="Quicksand Bold"/>
              </a:rPr>
              <a:t>Texto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7850" y="4644330"/>
            <a:ext cx="2203449" cy="167133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Use para rótulos e categorias; evite misturar número com unidade na mesma célula.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95200" y="3962399"/>
            <a:ext cx="571500" cy="1904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3FBFA8"/>
                </a:solidFill>
                <a:latin typeface="Quicksand Bol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19000" y="4210049"/>
            <a:ext cx="2203449" cy="3199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A5BEFF"/>
                </a:solidFill>
                <a:latin typeface="Quicksand Bold"/>
              </a:rPr>
              <a:t>Datas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19000" y="4644330"/>
            <a:ext cx="2203449" cy="167133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Converta para datas reais e mantenha um padrão de entrada.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6350" y="3962399"/>
            <a:ext cx="571500" cy="1904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E0A94A"/>
                </a:solidFill>
                <a:latin typeface="Quicksand Bol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70150" y="4210049"/>
            <a:ext cx="2203449" cy="3199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A5BEFF"/>
                </a:solidFill>
                <a:latin typeface="Quicksand Bold"/>
              </a:rPr>
              <a:t>Ausentes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70150" y="4644330"/>
            <a:ext cx="2203449" cy="167133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Diferencie zero, vazio e “não informado”: cada um tem um significado.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8249" y="9791699"/>
            <a:ext cx="571500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20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19424"/>
            <a:ext cx="76200" cy="959908"/>
          </a:xfrm>
          <a:prstGeom prst="roundRect">
            <a:avLst>
              <a:gd name="adj" fmla="val 100000"/>
            </a:avLst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284133"/>
            <a:ext cx="76200" cy="959908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548841"/>
            <a:ext cx="76200" cy="959908"/>
          </a:xfrm>
          <a:prstGeom prst="roundRect">
            <a:avLst>
              <a:gd name="adj" fmla="val 100000"/>
            </a:avLst>
          </a:prstGeom>
          <a:solidFill>
            <a:srgbClr val="3F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6756399"/>
            <a:ext cx="6937375" cy="2844799"/>
          </a:xfrm>
          <a:prstGeom prst="roundRect">
            <a:avLst>
              <a:gd name="adj" fmla="val 10714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889875" y="3038475"/>
          <a:ext cx="9636123" cy="6486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2041"/>
                <a:gridCol w="3212041"/>
                <a:gridCol w="3212041"/>
              </a:tblGrid>
              <a:tr h="1091355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75D1C0"/>
                          </a:solidFill>
                        </a:rPr>
                        <a:t>Pergunta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75D1C0"/>
                          </a:solidFill>
                        </a:rPr>
                        <a:t>Recurso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75D1C0"/>
                          </a:solidFill>
                        </a:rPr>
                        <a:t>Exemplo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</a:tr>
              <a:tr h="1434604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75D1C0"/>
                          </a:solidFill>
                        </a:rPr>
                        <a:t>Quais projetos estão em teste?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Filtro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Status = Em teste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1434604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75D1C0"/>
                          </a:solidFill>
                        </a:rPr>
                        <a:t>Quem tem mais horas?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Ordenação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Horas: do maior para o menor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1434604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75D1C0"/>
                          </a:solidFill>
                        </a:rPr>
                        <a:t>Quantos registros existem?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Tabela + contagem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ID preenchido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1091355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75D1C0"/>
                          </a:solidFill>
                        </a:rPr>
                        <a:t>Quais são de Ana?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Filtro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Responsável = Ana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1999" y="761999"/>
            <a:ext cx="1676399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3FBFA8"/>
                </a:solidFill>
                <a:latin typeface="Quicksand Bold"/>
              </a:rPr>
              <a:t>EXPLORAÇÃO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99" y="1085850"/>
            <a:ext cx="16763999" cy="670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Tabelas, filtros e ordenação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99" y="1832570"/>
            <a:ext cx="16763999" cy="4114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Explore a base sem apagar dados: filtre para perguntar, ordene para comparar.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6480175" cy="2514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7BC72"/>
                </a:solidFill>
                <a:latin typeface="Quicksand Bold"/>
              </a:rPr>
              <a:t>Tabela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66120"/>
            <a:ext cx="6480175" cy="23137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350">
                <a:solidFill>
                  <a:srgbClr val="FFFFFF"/>
                </a:solidFill>
                <a:latin typeface="Quicksand"/>
              </a:rPr>
              <a:t>Cabeçalhos e expansão.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65108"/>
            <a:ext cx="6480175" cy="2514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7BC72"/>
                </a:solidFill>
                <a:latin typeface="Quicksand Bold"/>
              </a:rPr>
              <a:t>Filtro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30828"/>
            <a:ext cx="6480175" cy="23137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350">
                <a:solidFill>
                  <a:srgbClr val="FFFFFF"/>
                </a:solidFill>
                <a:latin typeface="Quicksand"/>
              </a:rPr>
              <a:t>Mostra registros por condição.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29816"/>
            <a:ext cx="6480175" cy="2514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7BC72"/>
                </a:solidFill>
                <a:latin typeface="Quicksand Bold"/>
              </a:rPr>
              <a:t>Ordenação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095536"/>
            <a:ext cx="6480175" cy="23137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350">
                <a:solidFill>
                  <a:srgbClr val="FFFFFF"/>
                </a:solidFill>
                <a:latin typeface="Quicksand"/>
              </a:rPr>
              <a:t>Reorganiza por critério.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599" y="7499349"/>
            <a:ext cx="632777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FA2FF"/>
                </a:solidFill>
                <a:latin typeface="Quicksand Bold"/>
              </a:rPr>
              <a:t>Fique atento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599" y="7918449"/>
            <a:ext cx="6327775" cy="92571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Filtrar não exclui. Ao ordenar, selecione a tabela inteira.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49" y="9791699"/>
            <a:ext cx="571500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76499" y="2362199"/>
            <a:ext cx="1333499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4500"/>
              </a:lnSpc>
            </a:pPr>
            <a:r>
              <a:rPr sz="4050" b="1">
                <a:solidFill>
                  <a:srgbClr val="0F151A"/>
                </a:solidFill>
                <a:latin typeface="Quicksand Bold"/>
              </a:rPr>
              <a:t>Relacione as colunas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76499" y="3695699"/>
            <a:ext cx="5239870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5099" y="386714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D2D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3905249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8049" y="3962399"/>
            <a:ext cx="4039720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2100">
                <a:solidFill>
                  <a:srgbClr val="0F151A"/>
                </a:solidFill>
                <a:latin typeface="Quicksand"/>
              </a:rPr>
              <a:t>Filtro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6499" y="4800600"/>
            <a:ext cx="5239870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05099" y="4972050"/>
            <a:ext cx="571500" cy="571500"/>
          </a:xfrm>
          <a:prstGeom prst="roundRect">
            <a:avLst>
              <a:gd name="adj" fmla="val 8333"/>
            </a:avLst>
          </a:prstGeom>
          <a:solidFill>
            <a:srgbClr val="C6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5010149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8049" y="5067299"/>
            <a:ext cx="4039720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2100">
                <a:solidFill>
                  <a:srgbClr val="0F151A"/>
                </a:solidFill>
                <a:latin typeface="Quicksand"/>
              </a:rPr>
              <a:t>Ordenação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76499" y="5905500"/>
            <a:ext cx="5239870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5099" y="6076950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FEA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611505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8049" y="6172200"/>
            <a:ext cx="4039720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2100">
                <a:solidFill>
                  <a:srgbClr val="0F151A"/>
                </a:solidFill>
                <a:latin typeface="Quicksand"/>
              </a:rPr>
              <a:t>Tabela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76499" y="7010399"/>
            <a:ext cx="5239870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05099" y="718184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FC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721995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8049" y="7277100"/>
            <a:ext cx="4039720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2100">
                <a:solidFill>
                  <a:srgbClr val="0F151A"/>
                </a:solidFill>
                <a:latin typeface="Quicksand"/>
              </a:rPr>
              <a:t>CONT.SE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5970" y="3695699"/>
            <a:ext cx="7485529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54570" y="386714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670" y="3905249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( 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7520" y="3962399"/>
            <a:ext cx="6285379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1800">
                <a:solidFill>
                  <a:srgbClr val="0F151A"/>
                </a:solidFill>
                <a:latin typeface="Quicksand"/>
              </a:rPr>
              <a:t>Organizar horas do maior para o menor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5970" y="4781549"/>
            <a:ext cx="7485529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54570" y="495299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670" y="499110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( 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7520" y="5048250"/>
            <a:ext cx="6285379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1800">
                <a:solidFill>
                  <a:srgbClr val="0F151A"/>
                </a:solidFill>
                <a:latin typeface="Quicksand"/>
              </a:rPr>
              <a:t>Contar quantos registros atendem a um critério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5970" y="5867399"/>
            <a:ext cx="7485529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54570" y="603884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2670" y="607695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( 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7520" y="6134100"/>
            <a:ext cx="6285379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1800">
                <a:solidFill>
                  <a:srgbClr val="0F151A"/>
                </a:solidFill>
                <a:latin typeface="Quicksand"/>
              </a:rPr>
              <a:t>Manter cabeçalhos e ampliar a base automaticamente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5970" y="6953249"/>
            <a:ext cx="7485529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54570" y="712469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2670" y="716280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( 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7520" y="7219950"/>
            <a:ext cx="6285379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1800">
                <a:solidFill>
                  <a:srgbClr val="0F151A"/>
                </a:solidFill>
                <a:latin typeface="Quicksand"/>
              </a:rPr>
              <a:t>Exibir apenas projetos com status “Em teste”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76499" y="2362199"/>
            <a:ext cx="1333499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4500"/>
              </a:lnSpc>
            </a:pPr>
            <a:r>
              <a:rPr sz="4050" b="1">
                <a:solidFill>
                  <a:srgbClr val="0F151A"/>
                </a:solidFill>
                <a:latin typeface="Quicksand Bold"/>
              </a:rPr>
              <a:t>Relacione as colunas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76499" y="3695699"/>
            <a:ext cx="5239870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5099" y="386714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D2D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3905249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8049" y="3962399"/>
            <a:ext cx="4039720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2100">
                <a:solidFill>
                  <a:srgbClr val="0F151A"/>
                </a:solidFill>
                <a:latin typeface="Quicksand"/>
              </a:rPr>
              <a:t>Filtro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6499" y="4800600"/>
            <a:ext cx="5239870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05099" y="4972050"/>
            <a:ext cx="571500" cy="571500"/>
          </a:xfrm>
          <a:prstGeom prst="roundRect">
            <a:avLst>
              <a:gd name="adj" fmla="val 8333"/>
            </a:avLst>
          </a:prstGeom>
          <a:solidFill>
            <a:srgbClr val="C6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5010149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8049" y="5067299"/>
            <a:ext cx="4039720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2100">
                <a:solidFill>
                  <a:srgbClr val="0F151A"/>
                </a:solidFill>
                <a:latin typeface="Quicksand"/>
              </a:rPr>
              <a:t>Ordenação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76499" y="5905500"/>
            <a:ext cx="5239870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5099" y="6076950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FEA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611505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8049" y="6172200"/>
            <a:ext cx="4039720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2100">
                <a:solidFill>
                  <a:srgbClr val="0F151A"/>
                </a:solidFill>
                <a:latin typeface="Quicksand"/>
              </a:rPr>
              <a:t>Tabela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76499" y="7010399"/>
            <a:ext cx="5239870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05099" y="718184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FC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721995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8049" y="7277100"/>
            <a:ext cx="4039720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2100">
                <a:solidFill>
                  <a:srgbClr val="0F151A"/>
                </a:solidFill>
                <a:latin typeface="Quicksand"/>
              </a:rPr>
              <a:t>CONT.SE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5970" y="3695699"/>
            <a:ext cx="7485529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54570" y="386714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C6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670" y="3905249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7520" y="3962399"/>
            <a:ext cx="6285379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1800">
                <a:solidFill>
                  <a:srgbClr val="0F151A"/>
                </a:solidFill>
                <a:latin typeface="Quicksand"/>
              </a:rPr>
              <a:t>Organizar horas do maior para o menor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5970" y="4781549"/>
            <a:ext cx="7485529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54570" y="495299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FC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670" y="499110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7520" y="5048250"/>
            <a:ext cx="6285379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1800">
                <a:solidFill>
                  <a:srgbClr val="0F151A"/>
                </a:solidFill>
                <a:latin typeface="Quicksand"/>
              </a:rPr>
              <a:t>Contar quantos registros atendem a um critério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5970" y="5867399"/>
            <a:ext cx="7485529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54570" y="603884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FFEA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2670" y="607695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7520" y="6134100"/>
            <a:ext cx="6285379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1800">
                <a:solidFill>
                  <a:srgbClr val="0F151A"/>
                </a:solidFill>
                <a:latin typeface="Quicksand"/>
              </a:rPr>
              <a:t>Manter cabeçalhos e ampliar a base automaticamente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5970" y="6953249"/>
            <a:ext cx="7485529" cy="914400"/>
          </a:xfrm>
          <a:prstGeom prst="roundRect">
            <a:avLst>
              <a:gd name="adj" fmla="val 11333"/>
            </a:avLst>
          </a:prstGeom>
          <a:solidFill>
            <a:srgbClr val="FFFFFF"/>
          </a:solidFill>
          <a:ln w="2540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54570" y="7124699"/>
            <a:ext cx="571500" cy="571500"/>
          </a:xfrm>
          <a:prstGeom prst="roundRect">
            <a:avLst>
              <a:gd name="adj" fmla="val 8333"/>
            </a:avLst>
          </a:prstGeom>
          <a:solidFill>
            <a:srgbClr val="D2D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2670" y="7162800"/>
            <a:ext cx="49529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250" b="1">
                <a:solidFill>
                  <a:srgbClr val="0F1519"/>
                </a:solidFill>
                <a:latin typeface="Quicksand Bold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7520" y="7219950"/>
            <a:ext cx="6285379" cy="380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800"/>
              </a:lnSpc>
            </a:pPr>
            <a:r>
              <a:rPr sz="1800">
                <a:solidFill>
                  <a:srgbClr val="0F151A"/>
                </a:solidFill>
                <a:latin typeface="Quicksand"/>
              </a:rPr>
              <a:t>Exibir apenas projetos com status “Em teste”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62274"/>
            <a:ext cx="16916400" cy="5121274"/>
          </a:xfrm>
          <a:prstGeom prst="roundRect">
            <a:avLst>
              <a:gd name="adj" fmla="val 8183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34474" y="3171825"/>
            <a:ext cx="19050" cy="4702175"/>
          </a:xfrm>
          <a:prstGeom prst="roundRect">
            <a:avLst>
              <a:gd name="adj" fmla="val 100000"/>
            </a:avLst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9649" y="4657725"/>
            <a:ext cx="1882775" cy="400050"/>
          </a:xfrm>
          <a:prstGeom prst="roundRect">
            <a:avLst>
              <a:gd name="adj" fmla="val 100000"/>
            </a:avLst>
          </a:prstGeom>
          <a:solidFill>
            <a:srgbClr val="193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86925" y="4495799"/>
            <a:ext cx="2060475" cy="400050"/>
          </a:xfrm>
          <a:prstGeom prst="roundRect">
            <a:avLst>
              <a:gd name="adj" fmla="val 100000"/>
            </a:avLst>
          </a:prstGeom>
          <a:solidFill>
            <a:srgbClr val="39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24900" y="5103812"/>
            <a:ext cx="838200" cy="838200"/>
          </a:xfrm>
          <a:prstGeom prst="ellipse">
            <a:avLst/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63000" y="5141912"/>
            <a:ext cx="761999" cy="761999"/>
          </a:xfrm>
          <a:prstGeom prst="ellipse">
            <a:avLst/>
          </a:prstGeom>
          <a:solidFill>
            <a:srgbClr val="3F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8274049"/>
            <a:ext cx="16916400" cy="1327149"/>
          </a:xfrm>
          <a:prstGeom prst="roundRect">
            <a:avLst>
              <a:gd name="adj" fmla="val 20095"/>
            </a:avLst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8274049"/>
            <a:ext cx="171450" cy="1327149"/>
          </a:xfrm>
          <a:prstGeom prst="rect">
            <a:avLst/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8274049"/>
            <a:ext cx="57150" cy="1327149"/>
          </a:xfrm>
          <a:prstGeom prst="rect">
            <a:avLst/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999" y="761999"/>
            <a:ext cx="1676399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7FA2FF"/>
                </a:solidFill>
                <a:latin typeface="Quicksand Bold"/>
              </a:rPr>
              <a:t>ESTATÍSTICA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99" y="1085850"/>
            <a:ext cx="16763999" cy="670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Medidas de tendência central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99" y="1832570"/>
            <a:ext cx="16763999" cy="4114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A medida escolhida muda a história que os dados parecem contar.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4762500"/>
            <a:ext cx="1577975" cy="1904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75D1C0"/>
                </a:solidFill>
                <a:latin typeface="Quicksand Bold"/>
              </a:rPr>
              <a:t>SOMA ÷ QUANTIDADE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49" y="5210174"/>
            <a:ext cx="7591424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Média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649" y="5705475"/>
            <a:ext cx="7591424" cy="66853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Usa todos os valores e é sensível a extremos.</a:t>
            </a:r>
          </a:p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Dados: 4, 5, 5, 6, 20 → média =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39325" y="4600575"/>
            <a:ext cx="1755675" cy="1904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E7BC72"/>
                </a:solidFill>
                <a:latin typeface="Quicksand Bold"/>
              </a:rPr>
              <a:t>POSIÇÃO E FREQUÊNCIA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86925" y="5048250"/>
            <a:ext cx="7591424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Mediana e moda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6925" y="5543550"/>
            <a:ext cx="7591424" cy="100280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Mediana: valor central após ordenar → 5.</a:t>
            </a:r>
          </a:p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Moda: valor mais frequente → 5.</a:t>
            </a:r>
          </a:p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São úteis quando há assimetria ou repetição.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2999" y="5360987"/>
            <a:ext cx="761999" cy="3238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950" b="1">
                <a:solidFill>
                  <a:srgbClr val="0F151A"/>
                </a:solidFill>
                <a:latin typeface="Quicksand Bold"/>
              </a:rPr>
              <a:t>vs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550" y="8788399"/>
            <a:ext cx="16344900" cy="29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800">
                <a:solidFill>
                  <a:srgbClr val="FFFFFF"/>
                </a:solidFill>
                <a:latin typeface="Quicksand"/>
              </a:rPr>
              <a:t>Não existe medida “melhor” em qualquer situação: a escolha depende da pergunta e da distribuição.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49" y="9791699"/>
            <a:ext cx="571500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23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69767" y="7802909"/>
            <a:ext cx="1220589" cy="438149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64825" y="2962274"/>
            <a:ext cx="6937375" cy="3603624"/>
          </a:xfrm>
          <a:prstGeom prst="roundRect">
            <a:avLst>
              <a:gd name="adj" fmla="val 10572"/>
            </a:avLst>
          </a:prstGeom>
          <a:solidFill>
            <a:srgbClr val="193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939539" y="3209925"/>
            <a:ext cx="19050" cy="3108325"/>
          </a:xfrm>
          <a:prstGeom prst="roundRect">
            <a:avLst>
              <a:gd name="adj" fmla="val 100000"/>
            </a:avLst>
          </a:prstGeom>
          <a:solidFill>
            <a:srgbClr val="24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64825" y="6756399"/>
            <a:ext cx="6937375" cy="2844799"/>
          </a:xfrm>
          <a:prstGeom prst="roundRect">
            <a:avLst>
              <a:gd name="adj" fmla="val 13392"/>
            </a:avLst>
          </a:prstGeom>
          <a:solidFill>
            <a:srgbClr val="39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028578" y="7004049"/>
            <a:ext cx="19050" cy="2349499"/>
          </a:xfrm>
          <a:prstGeom prst="roundRect">
            <a:avLst>
              <a:gd name="adj" fmla="val 100000"/>
            </a:avLst>
          </a:prstGeom>
          <a:solidFill>
            <a:srgbClr val="6B5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1999" y="3038475"/>
          <a:ext cx="9636124" cy="4207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8062"/>
                <a:gridCol w="4818062"/>
              </a:tblGrid>
              <a:tr h="601027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E7BC72"/>
                          </a:solidFill>
                        </a:rPr>
                        <a:t>Atendimento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E7BC72"/>
                          </a:solidFill>
                        </a:rPr>
                        <a:t>Tempo (min)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</a:tr>
              <a:tr h="601027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601027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</a:tr>
              <a:tr h="601027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601027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</a:tr>
              <a:tr h="601027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601027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70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1999" y="761999"/>
            <a:ext cx="1676399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3FBFA8"/>
                </a:solidFill>
                <a:latin typeface="Quicksand Bold"/>
              </a:rPr>
              <a:t>EXEMPLO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99" y="1085850"/>
            <a:ext cx="16763999" cy="670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Exemplo: quando a média engana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99" y="1832570"/>
            <a:ext cx="16763999" cy="4114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Um valor extremo pode deslocar a média para longe da experiência típica.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9767" y="7917209"/>
            <a:ext cx="122058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0F151A"/>
                </a:solidFill>
                <a:latin typeface="Quicksand Bold"/>
              </a:rPr>
              <a:t>Cálculo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8488709"/>
            <a:ext cx="9217025" cy="4000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m:rPr>
                    <m:nor/>
                    <a:rPr sz="1890">
                      <a:solidFill>
                        <a:srgbClr val="A5BEFF"/>
                      </a:solidFill>
                    </a:rPr>
                  </m:rPr>
                  <m:t>média</m:t>
                </m:r>
                <m:r>
                  <m:rPr>
                    <a:rPr sz="1890">
                      <a:solidFill>
                        <a:srgbClr val="A5BEFF"/>
                      </a:solidFill>
                    </a:rPr>
                  </m:rPr>
                  <m:t>=120/6=20</m:t>
                </m:r>
                <m:r>
                  <m:rPr>
                    <m:nor/>
                    <a:rPr sz="1890">
                      <a:solidFill>
                        <a:srgbClr val="A5BEFF"/>
                      </a:solidFill>
                    </a:rPr>
                  </m:rPr>
                  <m:t>min</m:t>
                </m:r>
              </m:oMath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971550" y="9041159"/>
            <a:ext cx="9217025" cy="27235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A mediana é 10,5 min: fica entre o 3º e o 4º valor ordenado.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88675" y="4152899"/>
            <a:ext cx="2741314" cy="85913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6150" b="1">
                <a:solidFill>
                  <a:srgbClr val="75D1C0"/>
                </a:solidFill>
                <a:latin typeface="Quicksand Bold"/>
              </a:rPr>
              <a:t>20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88675" y="5088235"/>
            <a:ext cx="2741314" cy="2857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2500"/>
              </a:lnSpc>
            </a:pPr>
            <a:r>
              <a:rPr sz="1800">
                <a:solidFill>
                  <a:srgbClr val="A3AFAF"/>
                </a:solidFill>
                <a:latin typeface="Quicksand"/>
              </a:rPr>
              <a:t>média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68139" y="4114800"/>
            <a:ext cx="3110210" cy="12799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>
                <a:solidFill>
                  <a:srgbClr val="FFFFFF"/>
                </a:solidFill>
                <a:latin typeface="Quicksand"/>
              </a:rPr>
              <a:t>Puxada para cima pelo atendimento de 70 minutos.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88675" y="7137399"/>
            <a:ext cx="2830353" cy="171827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6150" b="1">
                <a:solidFill>
                  <a:srgbClr val="E7BC72"/>
                </a:solidFill>
                <a:latin typeface="Quicksand Bold"/>
              </a:rPr>
              <a:t>10,5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88675" y="8931870"/>
            <a:ext cx="2830353" cy="2857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2500"/>
              </a:lnSpc>
            </a:pPr>
            <a:r>
              <a:rPr sz="1800">
                <a:solidFill>
                  <a:srgbClr val="B0ADA7"/>
                </a:solidFill>
                <a:latin typeface="Quicksand"/>
              </a:rPr>
              <a:t>mediana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57178" y="7537449"/>
            <a:ext cx="3021171" cy="12799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>
                <a:solidFill>
                  <a:srgbClr val="FFFFFF"/>
                </a:solidFill>
                <a:latin typeface="Quicksand"/>
              </a:rPr>
              <a:t>Representa melhor o centro dos cinco atendimentos usuais.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8249" y="9791699"/>
            <a:ext cx="571500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24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528648"/>
            <a:ext cx="6937375" cy="4713816"/>
          </a:xfrm>
          <a:prstGeom prst="roundRect">
            <a:avLst>
              <a:gd name="adj" fmla="val 7274"/>
            </a:avLst>
          </a:prstGeom>
          <a:solidFill>
            <a:srgbClr val="22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13675" y="2962274"/>
            <a:ext cx="9788525" cy="2844799"/>
          </a:xfrm>
          <a:prstGeom prst="roundRect">
            <a:avLst>
              <a:gd name="adj" fmla="val 13392"/>
            </a:avLst>
          </a:prstGeom>
          <a:solidFill>
            <a:srgbClr val="22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13675" y="5997574"/>
            <a:ext cx="9788525" cy="1074208"/>
          </a:xfrm>
          <a:prstGeom prst="roundRect">
            <a:avLst>
              <a:gd name="adj" fmla="val 31921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3675" y="7262283"/>
            <a:ext cx="9788525" cy="1074208"/>
          </a:xfrm>
          <a:prstGeom prst="roundRect">
            <a:avLst>
              <a:gd name="adj" fmla="val 31921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13675" y="8526991"/>
            <a:ext cx="9788525" cy="1074208"/>
          </a:xfrm>
          <a:prstGeom prst="roundRect">
            <a:avLst>
              <a:gd name="adj" fmla="val 31921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f518564-2a36-47bc-a1c3-22dc31f926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49" y="3661998"/>
            <a:ext cx="6670675" cy="4447116"/>
          </a:xfrm>
          <a:prstGeom prst="rect">
            <a:avLst/>
          </a:prstGeom>
        </p:spPr>
      </p:pic>
      <p:pic>
        <p:nvPicPr>
          <p:cNvPr id="9" name="Picture 8" descr="496abf95-0e36-407f-bfa0-346e27d4b0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8475" y="3965575"/>
            <a:ext cx="838200" cy="838200"/>
          </a:xfrm>
          <a:prstGeom prst="rect">
            <a:avLst/>
          </a:prstGeom>
        </p:spPr>
      </p:pic>
      <p:pic>
        <p:nvPicPr>
          <p:cNvPr id="10" name="Picture 9" descr="8c24ea7d-025f-4be3-947f-bb2f36d5bb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9" y="3795348"/>
            <a:ext cx="1095374" cy="2476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1999" y="761999"/>
            <a:ext cx="1676399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E0A94A"/>
                </a:solidFill>
                <a:latin typeface="Quicksand Bold"/>
              </a:rPr>
              <a:t>VISUALIZAÇÃO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99" y="1085850"/>
            <a:ext cx="16763999" cy="670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Gráfico de colunas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99" y="1832570"/>
            <a:ext cx="16763999" cy="4114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Compare categorias discretas usando alturas alinhadas a uma escala comum.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8356765"/>
            <a:ext cx="6937375" cy="54471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Colunas maiores representam mais horas; compare categorias pelo eixo vertical.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7175" y="3419474"/>
            <a:ext cx="8150225" cy="46097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3300" b="1">
                <a:solidFill>
                  <a:srgbClr val="3FBFA8"/>
                </a:solidFill>
                <a:latin typeface="Quicksand Bold"/>
              </a:rPr>
              <a:t>Quando usar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7175" y="4051895"/>
            <a:ext cx="8150225" cy="12799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>
                <a:solidFill>
                  <a:srgbClr val="FFFFFF"/>
                </a:solidFill>
                <a:latin typeface="Quicksand"/>
              </a:rPr>
              <a:t>Para comparar quantidades entre categorias: horas por tarefa, bugs por módulo, alunos por turma ou vendas por produto.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2275" y="6235699"/>
            <a:ext cx="9331325" cy="2514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7BC72"/>
                </a:solidFill>
                <a:latin typeface="Quicksand Bold"/>
              </a:rPr>
              <a:t>Leia o eixo 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2275" y="6601420"/>
            <a:ext cx="9331325" cy="23137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350">
                <a:solidFill>
                  <a:srgbClr val="FFFFFF"/>
                </a:solidFill>
                <a:latin typeface="Quicksand"/>
              </a:rPr>
              <a:t>Identifique as categorias.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2275" y="7500408"/>
            <a:ext cx="9331325" cy="2514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7BC72"/>
                </a:solidFill>
                <a:latin typeface="Quicksand Bold"/>
              </a:rPr>
              <a:t>Leia o eixo 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2275" y="7866128"/>
            <a:ext cx="9331325" cy="23137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350">
                <a:solidFill>
                  <a:srgbClr val="FFFFFF"/>
                </a:solidFill>
                <a:latin typeface="Quicksand"/>
              </a:rPr>
              <a:t>Confira a unidade e a escala.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2275" y="8765116"/>
            <a:ext cx="9331325" cy="2514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7BC72"/>
                </a:solidFill>
                <a:latin typeface="Quicksand Bold"/>
              </a:rPr>
              <a:t>Compare alturas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2275" y="9130836"/>
            <a:ext cx="9331325" cy="23137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350">
                <a:solidFill>
                  <a:srgbClr val="FFFFFF"/>
                </a:solidFill>
                <a:latin typeface="Quicksand"/>
              </a:rPr>
              <a:t>Observe diferenças e extremos.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49" y="9791699"/>
            <a:ext cx="571500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25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62274"/>
            <a:ext cx="9788525" cy="2844799"/>
          </a:xfrm>
          <a:prstGeom prst="roundRect">
            <a:avLst>
              <a:gd name="adj" fmla="val 13392"/>
            </a:avLst>
          </a:prstGeom>
          <a:solidFill>
            <a:srgbClr val="22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0599" y="3686175"/>
            <a:ext cx="1963737" cy="495299"/>
          </a:xfrm>
          <a:prstGeom prst="roundRect">
            <a:avLst>
              <a:gd name="adj" fmla="val 100000"/>
            </a:avLst>
          </a:prstGeom>
          <a:solidFill>
            <a:srgbClr val="3F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97574"/>
            <a:ext cx="9788525" cy="1074208"/>
          </a:xfrm>
          <a:prstGeom prst="roundRect">
            <a:avLst>
              <a:gd name="adj" fmla="val 28374"/>
            </a:avLst>
          </a:prstGeom>
          <a:solidFill>
            <a:srgbClr val="39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7262283"/>
            <a:ext cx="9788525" cy="1074208"/>
          </a:xfrm>
          <a:prstGeom prst="roundRect">
            <a:avLst>
              <a:gd name="adj" fmla="val 28374"/>
            </a:avLst>
          </a:prstGeom>
          <a:solidFill>
            <a:srgbClr val="25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8526991"/>
            <a:ext cx="9788525" cy="1074208"/>
          </a:xfrm>
          <a:prstGeom prst="roundRect">
            <a:avLst>
              <a:gd name="adj" fmla="val 28374"/>
            </a:avLst>
          </a:prstGeom>
          <a:solidFill>
            <a:srgbClr val="193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64825" y="3528648"/>
            <a:ext cx="6937375" cy="4713816"/>
          </a:xfrm>
          <a:prstGeom prst="roundRect">
            <a:avLst>
              <a:gd name="adj" fmla="val 7274"/>
            </a:avLst>
          </a:prstGeom>
          <a:solidFill>
            <a:srgbClr val="22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f5c55c6-b439-42f0-b840-cf5f3be37a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8175" y="3661998"/>
            <a:ext cx="6670675" cy="4447116"/>
          </a:xfrm>
          <a:prstGeom prst="rect">
            <a:avLst/>
          </a:prstGeom>
        </p:spPr>
      </p:pic>
      <p:pic>
        <p:nvPicPr>
          <p:cNvPr id="10" name="Picture 9" descr="8c24ea7d-025f-4be3-947f-bb2f36d5bb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525" y="3795348"/>
            <a:ext cx="1095374" cy="2476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1999" y="761999"/>
            <a:ext cx="1676399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7FA2FF"/>
                </a:solidFill>
                <a:latin typeface="Quicksand Bold"/>
              </a:rPr>
              <a:t>VISUALIZAÇÃO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99" y="1085850"/>
            <a:ext cx="16763999" cy="670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Gráfico de linhas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99" y="1832570"/>
            <a:ext cx="16763999" cy="4114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A linha evidencia sequência, variação e tendência ao longo de um eixo ordenado.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3785234"/>
            <a:ext cx="1582737" cy="32194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950" b="1">
                <a:solidFill>
                  <a:srgbClr val="0F151A"/>
                </a:solidFill>
                <a:latin typeface="Quicksand Bold"/>
              </a:rPr>
              <a:t>Quando usar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99" y="4333875"/>
            <a:ext cx="9178925" cy="7467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100">
                <a:solidFill>
                  <a:srgbClr val="FFFFFF"/>
                </a:solidFill>
                <a:latin typeface="Quicksand"/>
              </a:rPr>
              <a:t>Para observar evolução no tempo: acessos por mês, temperatura por dia, velocidade de uma entrega ou quantidade de bugs por sprint.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35699"/>
            <a:ext cx="9331325" cy="2514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7BC72"/>
                </a:solidFill>
                <a:latin typeface="Quicksand Bold"/>
              </a:rPr>
              <a:t>Eixo temporal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601420"/>
            <a:ext cx="9331325" cy="23137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350">
                <a:solidFill>
                  <a:srgbClr val="FFFFFF"/>
                </a:solidFill>
                <a:latin typeface="Quicksand"/>
              </a:rPr>
              <a:t>Meses, dias ou sprints em ordem.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7500408"/>
            <a:ext cx="9331325" cy="2514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7BC72"/>
                </a:solidFill>
                <a:latin typeface="Quicksand Bold"/>
              </a:rPr>
              <a:t>Pontos conectados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7866128"/>
            <a:ext cx="9331325" cy="23137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350">
                <a:solidFill>
                  <a:srgbClr val="FFFFFF"/>
                </a:solidFill>
                <a:latin typeface="Quicksand"/>
              </a:rPr>
              <a:t>A conexão mostra a trajetória entre observações.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8765116"/>
            <a:ext cx="9331325" cy="2514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7BC72"/>
                </a:solidFill>
                <a:latin typeface="Quicksand Bold"/>
              </a:rPr>
              <a:t>Tendência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130836"/>
            <a:ext cx="9331325" cy="23137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350">
                <a:solidFill>
                  <a:srgbClr val="FFFFFF"/>
                </a:solidFill>
                <a:latin typeface="Quicksand"/>
              </a:rPr>
              <a:t>Subidas, quedas e estabilidade merecem explicação.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4825" y="8356765"/>
            <a:ext cx="6937375" cy="54471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A sequência dos pontos permite observar tendência e variação ao longo do tempo.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49" y="9791699"/>
            <a:ext cx="571500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56621" y="3222277"/>
            <a:ext cx="6118919" cy="6118919"/>
          </a:xfrm>
          <a:prstGeom prst="roundRect">
            <a:avLst>
              <a:gd name="adj" fmla="val 5603"/>
            </a:avLst>
          </a:prstGeom>
          <a:solidFill>
            <a:srgbClr val="22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39250" y="2962274"/>
            <a:ext cx="8362949" cy="3603624"/>
          </a:xfrm>
          <a:prstGeom prst="roundRect">
            <a:avLst>
              <a:gd name="adj" fmla="val 10572"/>
            </a:avLst>
          </a:prstGeom>
          <a:solidFill>
            <a:srgbClr val="22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0" y="6756399"/>
            <a:ext cx="8362949" cy="2844799"/>
          </a:xfrm>
          <a:prstGeom prst="roundRect">
            <a:avLst>
              <a:gd name="adj" fmla="val 10714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93d26240-981b-4461-9c7f-d8528c281a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971" y="3355627"/>
            <a:ext cx="5852219" cy="5852219"/>
          </a:xfrm>
          <a:prstGeom prst="rect">
            <a:avLst/>
          </a:prstGeom>
        </p:spPr>
      </p:pic>
      <p:pic>
        <p:nvPicPr>
          <p:cNvPr id="7" name="Picture 6" descr="d7ec5255-bc47-4832-acc9-f814836391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050" y="4344987"/>
            <a:ext cx="838200" cy="838200"/>
          </a:xfrm>
          <a:prstGeom prst="rect">
            <a:avLst/>
          </a:prstGeom>
        </p:spPr>
      </p:pic>
      <p:pic>
        <p:nvPicPr>
          <p:cNvPr id="8" name="Picture 7" descr="8c24ea7d-025f-4be3-947f-bb2f36d5bb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321" y="3488977"/>
            <a:ext cx="1095374" cy="2476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1999" y="761999"/>
            <a:ext cx="1676399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3FBFA8"/>
                </a:solidFill>
                <a:latin typeface="Quicksand Bold"/>
              </a:rPr>
              <a:t>VISUALIZAÇÃO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99" y="1085850"/>
            <a:ext cx="16763999" cy="670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Gráfico de setores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99" y="1832570"/>
            <a:ext cx="16763999" cy="4114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Mostre como um total se divide — mas preserve a legibilidade das partes.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7573714"/>
            <a:ext cx="1380321" cy="16341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Cada setor representa uma parcela do total; as partes devem somar 100%.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0" y="3800475"/>
            <a:ext cx="6724649" cy="46097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3300" b="1">
                <a:solidFill>
                  <a:srgbClr val="7FA2FF"/>
                </a:solidFill>
                <a:latin typeface="Quicksand Bold"/>
              </a:rPr>
              <a:t>Quando usar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0" y="4432895"/>
            <a:ext cx="6724649" cy="12799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>
                <a:solidFill>
                  <a:srgbClr val="FFFFFF"/>
                </a:solidFill>
                <a:latin typeface="Quicksand"/>
              </a:rPr>
              <a:t>Para composição: distribuição do orçamento, participação de categorias ou proporções de um conjunto fechado.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44050" y="7270749"/>
            <a:ext cx="775334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3FBFA8"/>
                </a:solidFill>
                <a:latin typeface="Quicksand Bold"/>
              </a:rPr>
              <a:t>Fique atento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44050" y="7689849"/>
            <a:ext cx="7753349" cy="138856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Evite muitos setores ou valores muito parecidos: comparar ângulos é menos preciso do que comparar alturas.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8249" y="9791699"/>
            <a:ext cx="571500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27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8196262"/>
            <a:ext cx="4057650" cy="723900"/>
          </a:xfrm>
          <a:prstGeom prst="roundRect">
            <a:avLst>
              <a:gd name="adj" fmla="val 100000"/>
            </a:avLst>
          </a:prstGeom>
          <a:solidFill>
            <a:srgbClr val="193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91075" y="8539162"/>
            <a:ext cx="133349" cy="38100"/>
          </a:xfrm>
          <a:prstGeom prst="roundRect">
            <a:avLst>
              <a:gd name="adj" fmla="val 100000"/>
            </a:avLst>
          </a:prstGeom>
          <a:solidFill>
            <a:srgbClr val="3F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72050" y="8196262"/>
            <a:ext cx="4057650" cy="723900"/>
          </a:xfrm>
          <a:prstGeom prst="roundRect">
            <a:avLst>
              <a:gd name="adj" fmla="val 100000"/>
            </a:avLst>
          </a:prstGeom>
          <a:solidFill>
            <a:srgbClr val="39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77324" y="8539162"/>
            <a:ext cx="133349" cy="38100"/>
          </a:xfrm>
          <a:prstGeom prst="roundRect">
            <a:avLst>
              <a:gd name="adj" fmla="val 100000"/>
            </a:avLst>
          </a:prstGeom>
          <a:solidFill>
            <a:srgbClr val="3F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58300" y="8196262"/>
            <a:ext cx="4057650" cy="723900"/>
          </a:xfrm>
          <a:prstGeom prst="roundRect">
            <a:avLst>
              <a:gd name="adj" fmla="val 100000"/>
            </a:avLst>
          </a:prstGeom>
          <a:solidFill>
            <a:srgbClr val="25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363574" y="8539162"/>
            <a:ext cx="133349" cy="38100"/>
          </a:xfrm>
          <a:prstGeom prst="roundRect">
            <a:avLst>
              <a:gd name="adj" fmla="val 100000"/>
            </a:avLst>
          </a:prstGeom>
          <a:solidFill>
            <a:srgbClr val="3F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544550" y="8196262"/>
            <a:ext cx="4057650" cy="723900"/>
          </a:xfrm>
          <a:prstGeom prst="roundRect">
            <a:avLst>
              <a:gd name="adj" fmla="val 100000"/>
            </a:avLst>
          </a:prstGeom>
          <a:solidFill>
            <a:srgbClr val="3F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1999" y="3038475"/>
          <a:ext cx="16763996" cy="4211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0999"/>
                <a:gridCol w="4190999"/>
                <a:gridCol w="4190999"/>
                <a:gridCol w="4190999"/>
              </a:tblGrid>
              <a:tr h="782955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Pergunta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Tipo de dado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Gráfico indicado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Por quê?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</a:tr>
              <a:tr h="782955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Qual categoria tem mais?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Categorias + quantidade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Colunas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Alturas facilitam comparação.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782955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Como mudou ao longo do tempo?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Série temporal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Linhas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A trajetória fica visível.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1080135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Como o total se divide?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Partes de um todo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Setores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A composição aparece em proporções.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782955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Qual grupo varia mais?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Categorias ou tempo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Colunas ou linhas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Depende de haver ordem temporal.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61999" y="761999"/>
            <a:ext cx="1676399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E0A94A"/>
                </a:solidFill>
                <a:latin typeface="Quicksand Bold"/>
              </a:rPr>
              <a:t>DECISÃO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99" y="1085850"/>
            <a:ext cx="16763999" cy="670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Escolha do gráfico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99" y="1832570"/>
            <a:ext cx="16763999" cy="4114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Comece pela pergunta, não pelo botão de gráfico.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8386762"/>
            <a:ext cx="3829050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Pergunte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8386762"/>
            <a:ext cx="3829050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Classifique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8386762"/>
            <a:ext cx="3829050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250" b="1">
                <a:solidFill>
                  <a:srgbClr val="A5BEFF"/>
                </a:solidFill>
                <a:latin typeface="Quicksand Bold"/>
              </a:rPr>
              <a:t>Escolha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58850" y="8386762"/>
            <a:ext cx="3829050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250" b="1">
                <a:solidFill>
                  <a:srgbClr val="0F151A"/>
                </a:solidFill>
                <a:latin typeface="Quicksand Bold"/>
              </a:rPr>
              <a:t>Revise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8249" y="9791699"/>
            <a:ext cx="571500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28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00200" y="1508760"/>
            <a:ext cx="1508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51A"/>
                </a:solidFill>
                <a:latin typeface="Calibri"/>
              </a:rPr>
              <a:t>Uma equipe registrou a quantidade de bugs encontrados em cada sprint ao longo de seis semanas. Qual gráfico comunica melhor a evolução desse número no tempo?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00200" y="3901440"/>
            <a:ext cx="15087600" cy="990599"/>
          </a:xfrm>
          <a:prstGeom prst="roundRect">
            <a:avLst>
              <a:gd name="adj" fmla="val 2777"/>
            </a:avLst>
          </a:prstGeom>
          <a:solidFill>
            <a:srgbClr val="EDF2FF"/>
          </a:solidFill>
          <a:ln w="25400">
            <a:solidFill>
              <a:srgbClr val="80A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05000" y="4168140"/>
            <a:ext cx="457200" cy="457200"/>
          </a:xfrm>
          <a:prstGeom prst="ellipse">
            <a:avLst/>
          </a:prstGeom>
          <a:solidFill>
            <a:srgbClr val="588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3650" y="4053840"/>
            <a:ext cx="1384934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>
                <a:solidFill>
                  <a:srgbClr val="0F151A"/>
                </a:solidFill>
                <a:latin typeface="Rubik"/>
              </a:rPr>
              <a:t>Tabela de dupla entrada sem gráfico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5196840"/>
            <a:ext cx="15087600" cy="990599"/>
          </a:xfrm>
          <a:prstGeom prst="roundRect">
            <a:avLst>
              <a:gd name="adj" fmla="val 2777"/>
            </a:avLst>
          </a:prstGeom>
          <a:solidFill>
            <a:srgbClr val="E2FAF8"/>
          </a:solidFill>
          <a:ln w="25400">
            <a:solidFill>
              <a:srgbClr val="77C7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05000" y="5463540"/>
            <a:ext cx="457200" cy="457200"/>
          </a:xfrm>
          <a:prstGeom prst="ellipse">
            <a:avLst/>
          </a:prstGeom>
          <a:solidFill>
            <a:srgbClr val="00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3650" y="5349240"/>
            <a:ext cx="1384934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>
                <a:solidFill>
                  <a:srgbClr val="0F151A"/>
                </a:solidFill>
                <a:latin typeface="Rubik"/>
              </a:rPr>
              <a:t>Gráfico de colunas sem ordem temporal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6492240"/>
            <a:ext cx="15087600" cy="990599"/>
          </a:xfrm>
          <a:prstGeom prst="roundRect">
            <a:avLst>
              <a:gd name="adj" fmla="val 2777"/>
            </a:avLst>
          </a:prstGeom>
          <a:solidFill>
            <a:srgbClr val="FFF7E0"/>
          </a:solidFill>
          <a:ln w="25400">
            <a:solidFill>
              <a:srgbClr val="FFC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05000" y="6758940"/>
            <a:ext cx="457200" cy="457200"/>
          </a:xfrm>
          <a:prstGeom prst="ellipse">
            <a:avLst/>
          </a:prstGeom>
          <a:solidFill>
            <a:srgbClr val="C7A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3650" y="6644640"/>
            <a:ext cx="1384934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>
                <a:solidFill>
                  <a:srgbClr val="0F151A"/>
                </a:solidFill>
                <a:latin typeface="Rubik"/>
              </a:rPr>
              <a:t>Gráfico de linhas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7787640"/>
            <a:ext cx="15087600" cy="990599"/>
          </a:xfrm>
          <a:prstGeom prst="roundRect">
            <a:avLst>
              <a:gd name="adj" fmla="val 2777"/>
            </a:avLst>
          </a:prstGeom>
          <a:solidFill>
            <a:srgbClr val="FFEDE0"/>
          </a:solidFill>
          <a:ln w="25400">
            <a:solidFill>
              <a:srgbClr val="FA7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05000" y="8054340"/>
            <a:ext cx="457200" cy="457200"/>
          </a:xfrm>
          <a:prstGeom prst="ellipse">
            <a:avLst/>
          </a:prstGeom>
          <a:solidFill>
            <a:srgbClr val="FA7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3650" y="7940040"/>
            <a:ext cx="1384934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>
                <a:solidFill>
                  <a:srgbClr val="0F151A"/>
                </a:solidFill>
                <a:latin typeface="Rubik"/>
              </a:rPr>
              <a:t>Gráfico de setores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00200" y="1508760"/>
            <a:ext cx="1508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51A"/>
                </a:solidFill>
                <a:latin typeface="Calibri"/>
              </a:rPr>
              <a:t>Uma equipe registrou a quantidade de bugs encontrados em cada sprint ao longo de seis semanas. Qual gráfico comunica melhor a evolução desse número no tempo?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00200" y="3901440"/>
            <a:ext cx="15087600" cy="990599"/>
          </a:xfrm>
          <a:prstGeom prst="roundRect">
            <a:avLst>
              <a:gd name="adj" fmla="val 2777"/>
            </a:avLst>
          </a:prstGeom>
          <a:solidFill>
            <a:srgbClr val="FEF2F2"/>
          </a:solidFill>
          <a:ln w="254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05000" y="4168140"/>
            <a:ext cx="457200" cy="457200"/>
          </a:xfrm>
          <a:prstGeom prst="ellipse">
            <a:avLst/>
          </a:prstGeom>
          <a:solidFill>
            <a:srgbClr val="FE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3650" y="4053840"/>
            <a:ext cx="1384934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>
                <a:solidFill>
                  <a:srgbClr val="0F151A"/>
                </a:solidFill>
                <a:latin typeface="Rubik"/>
              </a:rPr>
              <a:t>Tabela de dupla entrada sem gráfico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5196840"/>
            <a:ext cx="15087600" cy="990599"/>
          </a:xfrm>
          <a:prstGeom prst="roundRect">
            <a:avLst>
              <a:gd name="adj" fmla="val 2777"/>
            </a:avLst>
          </a:prstGeom>
          <a:solidFill>
            <a:srgbClr val="FEF2F2"/>
          </a:solidFill>
          <a:ln w="254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05000" y="5463540"/>
            <a:ext cx="457200" cy="457200"/>
          </a:xfrm>
          <a:prstGeom prst="ellipse">
            <a:avLst/>
          </a:prstGeom>
          <a:solidFill>
            <a:srgbClr val="FE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3650" y="5349240"/>
            <a:ext cx="1384934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>
                <a:solidFill>
                  <a:srgbClr val="0F151A"/>
                </a:solidFill>
                <a:latin typeface="Rubik"/>
              </a:rPr>
              <a:t>Gráfico de colunas sem ordem temporal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6492240"/>
            <a:ext cx="15087600" cy="990599"/>
          </a:xfrm>
          <a:prstGeom prst="roundRect">
            <a:avLst>
              <a:gd name="adj" fmla="val 2777"/>
            </a:avLst>
          </a:prstGeom>
          <a:solidFill>
            <a:srgbClr val="DCFCE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05000" y="6758940"/>
            <a:ext cx="457200" cy="45720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3650" y="6644640"/>
            <a:ext cx="1384934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>
                <a:solidFill>
                  <a:srgbClr val="0F151A"/>
                </a:solidFill>
                <a:latin typeface="Rubik"/>
              </a:rPr>
              <a:t>Gráfico de linhas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7787640"/>
            <a:ext cx="15087600" cy="990599"/>
          </a:xfrm>
          <a:prstGeom prst="roundRect">
            <a:avLst>
              <a:gd name="adj" fmla="val 2777"/>
            </a:avLst>
          </a:prstGeom>
          <a:solidFill>
            <a:srgbClr val="FEF2F2"/>
          </a:solidFill>
          <a:ln w="254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05000" y="8054340"/>
            <a:ext cx="457200" cy="457200"/>
          </a:xfrm>
          <a:prstGeom prst="ellipse">
            <a:avLst/>
          </a:prstGeom>
          <a:solidFill>
            <a:srgbClr val="FE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3650" y="7940040"/>
            <a:ext cx="1384934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>
                <a:solidFill>
                  <a:srgbClr val="0F151A"/>
                </a:solidFill>
                <a:latin typeface="Rubik"/>
              </a:rPr>
              <a:t>Gráfico de setores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2499" y="3507581"/>
            <a:ext cx="38100" cy="3271837"/>
          </a:xfrm>
          <a:prstGeom prst="roundRect">
            <a:avLst>
              <a:gd name="adj" fmla="val 100000"/>
            </a:avLst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4850" y="3240881"/>
            <a:ext cx="533399" cy="533399"/>
          </a:xfrm>
          <a:prstGeom prst="ellipse">
            <a:avLst/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4850" y="4331493"/>
            <a:ext cx="533399" cy="533399"/>
          </a:xfrm>
          <a:prstGeom prst="ellipse">
            <a:avLst/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850" y="5422106"/>
            <a:ext cx="533399" cy="533399"/>
          </a:xfrm>
          <a:prstGeom prst="ellipse">
            <a:avLst/>
          </a:prstGeom>
          <a:solidFill>
            <a:srgbClr val="3F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04850" y="6512718"/>
            <a:ext cx="533399" cy="533399"/>
          </a:xfrm>
          <a:prstGeom prst="ellipse">
            <a:avLst/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7515224"/>
            <a:ext cx="9788525" cy="2085975"/>
          </a:xfrm>
          <a:prstGeom prst="roundRect">
            <a:avLst>
              <a:gd name="adj" fmla="val 14611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64825" y="2962274"/>
            <a:ext cx="6937375" cy="4362450"/>
          </a:xfrm>
          <a:prstGeom prst="roundRect">
            <a:avLst>
              <a:gd name="adj" fmla="val 7860"/>
            </a:avLst>
          </a:prstGeom>
          <a:solidFill>
            <a:srgbClr val="22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50575" y="4629150"/>
            <a:ext cx="6365875" cy="9525"/>
          </a:xfrm>
          <a:prstGeom prst="rect">
            <a:avLst/>
          </a:prstGeom>
          <a:solidFill>
            <a:srgbClr val="87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50575" y="5133975"/>
            <a:ext cx="6365875" cy="9525"/>
          </a:xfrm>
          <a:prstGeom prst="rect">
            <a:avLst/>
          </a:prstGeom>
          <a:solidFill>
            <a:srgbClr val="87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50575" y="5638799"/>
            <a:ext cx="6365875" cy="9525"/>
          </a:xfrm>
          <a:prstGeom prst="rect">
            <a:avLst/>
          </a:prstGeom>
          <a:solidFill>
            <a:srgbClr val="87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999" y="761999"/>
            <a:ext cx="1676399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3FBFA8"/>
                </a:solidFill>
                <a:latin typeface="Quicksand Bold"/>
              </a:rPr>
              <a:t>PRODUÇÃO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99" y="1085850"/>
            <a:ext cx="16763999" cy="670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Construindo um gráfico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999" y="1832570"/>
            <a:ext cx="16763999" cy="4114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O gráfico nasce da seleção correta e termina com uma revisão crítica.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49" y="3370421"/>
            <a:ext cx="533399" cy="27431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0F151A"/>
                </a:solidFill>
                <a:latin typeface="Quicksand 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5900" y="3162299"/>
            <a:ext cx="891222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Selecionar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5900" y="3562349"/>
            <a:ext cx="8912225" cy="27235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Marque apenas os dados relevantes, incluindo cabeçalhos.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49" y="4461033"/>
            <a:ext cx="533399" cy="27431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0F151A"/>
                </a:solidFill>
                <a:latin typeface="Quicksand 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4252912"/>
            <a:ext cx="891222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Inserir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5900" y="4652962"/>
            <a:ext cx="8912225" cy="27235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Escolha o tipo coerente com a pergunta.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849" y="5551646"/>
            <a:ext cx="533399" cy="27431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0F151A"/>
                </a:solidFill>
                <a:latin typeface="Quicksand 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5900" y="5343525"/>
            <a:ext cx="891222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Nomear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5900" y="5743575"/>
            <a:ext cx="8912225" cy="27235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Escreva título informativo e títulos dos eixos.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849" y="6642258"/>
            <a:ext cx="533399" cy="27431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0F151A"/>
                </a:solidFill>
                <a:latin typeface="Quicksand 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5900" y="6434137"/>
            <a:ext cx="891222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Revisar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5900" y="6834187"/>
            <a:ext cx="8912225" cy="27235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Confira escala, legenda, unidade e fonte.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599" y="7877174"/>
            <a:ext cx="917892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FA2FF"/>
                </a:solidFill>
                <a:latin typeface="Quicksand Bold"/>
              </a:rPr>
              <a:t>Dica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599" y="8296274"/>
            <a:ext cx="9178925" cy="92571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Um gráfico bonito com dados errados continua sendo uma comunicação ruim.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50575" y="4210049"/>
            <a:ext cx="819149" cy="3342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878A8C"/>
                </a:solidFill>
                <a:latin typeface="Quicksand"/>
              </a:rPr>
              <a:t>Título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98325" y="4210049"/>
            <a:ext cx="5318124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FFFFFF"/>
                </a:solidFill>
                <a:latin typeface="Quicksand Bold"/>
              </a:rPr>
              <a:t>O que está sendo mostrado?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50575" y="4714875"/>
            <a:ext cx="819149" cy="3342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878A8C"/>
                </a:solidFill>
                <a:latin typeface="Quicksand"/>
              </a:rPr>
              <a:t>Eixo 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998325" y="4714875"/>
            <a:ext cx="5318124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FFFFFF"/>
                </a:solidFill>
                <a:latin typeface="Quicksand Bold"/>
              </a:rPr>
              <a:t>Categorias ou tempo?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50575" y="5219700"/>
            <a:ext cx="819149" cy="3342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878A8C"/>
                </a:solidFill>
                <a:latin typeface="Quicksand"/>
              </a:rPr>
              <a:t>Eixo 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998325" y="5219700"/>
            <a:ext cx="5318124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FFFFFF"/>
                </a:solidFill>
                <a:latin typeface="Quicksand Bold"/>
              </a:rPr>
              <a:t>Qual unidade e intervalo?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50575" y="5724524"/>
            <a:ext cx="819149" cy="33426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878A8C"/>
                </a:solidFill>
                <a:latin typeface="Quicksand"/>
              </a:rPr>
              <a:t>Fonte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998325" y="5724524"/>
            <a:ext cx="5318124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FFFFFF"/>
                </a:solidFill>
                <a:latin typeface="Quicksand Bold"/>
              </a:rPr>
              <a:t>De onde vieram os dados?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8249" y="9791699"/>
            <a:ext cx="571500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30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62274"/>
            <a:ext cx="4048124" cy="5880099"/>
          </a:xfrm>
          <a:prstGeom prst="roundRect">
            <a:avLst>
              <a:gd name="adj" fmla="val 9411"/>
            </a:avLst>
          </a:prstGeom>
          <a:solidFill>
            <a:srgbClr val="25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00625" y="2962274"/>
            <a:ext cx="4048124" cy="5880099"/>
          </a:xfrm>
          <a:prstGeom prst="roundRect">
            <a:avLst>
              <a:gd name="adj" fmla="val 9411"/>
            </a:avLst>
          </a:prstGeom>
          <a:solidFill>
            <a:srgbClr val="3F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0" y="2962274"/>
            <a:ext cx="8362949" cy="5121274"/>
          </a:xfrm>
          <a:prstGeom prst="roundRect">
            <a:avLst>
              <a:gd name="adj" fmla="val 7439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0" y="8274049"/>
            <a:ext cx="8362949" cy="1327149"/>
          </a:xfrm>
          <a:prstGeom prst="roundRect">
            <a:avLst>
              <a:gd name="adj" fmla="val 20095"/>
            </a:avLst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39250" y="8274049"/>
            <a:ext cx="171450" cy="1327149"/>
          </a:xfrm>
          <a:prstGeom prst="rect">
            <a:avLst/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39250" y="8274049"/>
            <a:ext cx="57150" cy="1327149"/>
          </a:xfrm>
          <a:prstGeom prst="rect">
            <a:avLst/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1999" y="761999"/>
            <a:ext cx="1676399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E0A94A"/>
                </a:solidFill>
                <a:latin typeface="Quicksand Bold"/>
              </a:rPr>
              <a:t>LEITURA CRÍTICA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99" y="1085850"/>
            <a:ext cx="16763999" cy="670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Leitura crítica de gráficos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99" y="1832570"/>
            <a:ext cx="16763999" cy="4114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Antes de concluir, interrogue a escala, o recorte e a unidade.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49" y="4981574"/>
            <a:ext cx="340042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A5BEFF"/>
                </a:solidFill>
                <a:latin typeface="Quicksand Bold"/>
              </a:rPr>
              <a:t>Leitura apressada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49" y="5476875"/>
            <a:ext cx="3400425" cy="133707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“A equipe dobrou o desempenho!”</a:t>
            </a:r>
          </a:p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A conclusão usa só a aparência visual.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4474" y="4810124"/>
            <a:ext cx="3400425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0F151A"/>
                </a:solidFill>
                <a:latin typeface="Quicksand Bold"/>
              </a:rPr>
              <a:t>Leitura investigativa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4474" y="5305425"/>
            <a:ext cx="3400425" cy="167133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0F151A"/>
                </a:solidFill>
                <a:latin typeface="Quicksand"/>
              </a:rPr>
              <a:t>“O eixo começa em 80 ou em 0? A medida é quantidade, percentual ou tempo?”</a:t>
            </a:r>
          </a:p>
          <a:p>
            <a:pPr algn="l">
              <a:lnSpc>
                <a:spcPct val="121500"/>
              </a:lnSpc>
            </a:pPr>
            <a:r>
              <a:rPr sz="1950">
                <a:solidFill>
                  <a:srgbClr val="0F151A"/>
                </a:solidFill>
                <a:latin typeface="Quicksand"/>
              </a:rPr>
              <a:t>A conclusão procura evidências.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7850" y="3219449"/>
            <a:ext cx="7905749" cy="3199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75D1C0"/>
                </a:solidFill>
                <a:latin typeface="Quicksand Bold"/>
              </a:rPr>
              <a:t>Escala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7850" y="3653730"/>
            <a:ext cx="7905749" cy="30857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800">
                <a:solidFill>
                  <a:srgbClr val="FFFFFF"/>
                </a:solidFill>
                <a:latin typeface="Quicksand"/>
              </a:rPr>
              <a:t>Intervalos irregulares ou eixo recortado podem exagerar diferenças.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7850" y="4990041"/>
            <a:ext cx="7905749" cy="3199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75D1C0"/>
                </a:solidFill>
                <a:latin typeface="Quicksand Bold"/>
              </a:rPr>
              <a:t>Unidade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7850" y="5424322"/>
            <a:ext cx="7905749" cy="6171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800">
                <a:solidFill>
                  <a:srgbClr val="FFFFFF"/>
                </a:solidFill>
                <a:latin typeface="Quicksand"/>
              </a:rPr>
              <a:t>Não confunda horas com quantidade de tarefas, nem valor absoluto com percentual.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7850" y="6760633"/>
            <a:ext cx="7905749" cy="3199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75D1C0"/>
                </a:solidFill>
                <a:latin typeface="Quicksand Bold"/>
              </a:rPr>
              <a:t>Contexto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7850" y="7194913"/>
            <a:ext cx="7905749" cy="30857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800">
                <a:solidFill>
                  <a:srgbClr val="FFFFFF"/>
                </a:solidFill>
                <a:latin typeface="Quicksand"/>
              </a:rPr>
              <a:t>Título, período, fonte e tamanho da amostra limitam a interpretação.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0" y="8788399"/>
            <a:ext cx="7791449" cy="29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800">
                <a:solidFill>
                  <a:srgbClr val="FFFFFF"/>
                </a:solidFill>
                <a:latin typeface="Quicksand"/>
              </a:rPr>
              <a:t>Pergunte: o gráfico sustenta a frase que está sendo dita?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49" y="9791699"/>
            <a:ext cx="571500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31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81362" y="1862137"/>
            <a:ext cx="6562725" cy="65627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9424" y="2352675"/>
            <a:ext cx="7677149" cy="558164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57462" y="2667000"/>
            <a:ext cx="13173075" cy="28498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D2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96124" y="2324100"/>
            <a:ext cx="4095749" cy="685800"/>
          </a:xfrm>
          <a:prstGeom prst="roundRect">
            <a:avLst>
              <a:gd name="adj" fmla="val 8333"/>
            </a:avLst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48525" y="2419349"/>
            <a:ext cx="379094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9000"/>
              </a:lnSpc>
            </a:pPr>
            <a:r>
              <a:rPr sz="2175" b="1">
                <a:solidFill>
                  <a:srgbClr val="0F151A"/>
                </a:solidFill>
                <a:latin typeface="Quicksand Bold"/>
              </a:rPr>
              <a:t>Verdadeiro ou falso?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4662" y="3200400"/>
            <a:ext cx="12258675" cy="1783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7000"/>
              </a:lnSpc>
            </a:pPr>
            <a:r>
              <a:rPr sz="3600">
                <a:solidFill>
                  <a:srgbClr val="0F151A"/>
                </a:solidFill>
                <a:latin typeface="Rubik"/>
              </a:rPr>
              <a:t>Em um gráfico de linhas, a conexão entre pontos ajuda a observar a evolução de uma variável ao longo do tempo.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1112" y="6812280"/>
            <a:ext cx="4267199" cy="990599"/>
          </a:xfrm>
          <a:prstGeom prst="roundRect">
            <a:avLst>
              <a:gd name="adj" fmla="val 8333"/>
            </a:avLst>
          </a:prstGeom>
          <a:solidFill>
            <a:srgbClr val="E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8262" y="7040880"/>
            <a:ext cx="41528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3300" b="1">
                <a:solidFill>
                  <a:srgbClr val="FFFFFF"/>
                </a:solidFill>
                <a:latin typeface="Quicksand Bold"/>
              </a:rPr>
              <a:t>← Falso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739687" y="6812280"/>
            <a:ext cx="4267199" cy="990599"/>
          </a:xfrm>
          <a:prstGeom prst="roundRect">
            <a:avLst>
              <a:gd name="adj" fmla="val 8333"/>
            </a:avLst>
          </a:prstGeom>
          <a:solidFill>
            <a:srgbClr val="38B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96837" y="7040880"/>
            <a:ext cx="41528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3300" b="1">
                <a:solidFill>
                  <a:srgbClr val="FFFFFF"/>
                </a:solidFill>
                <a:latin typeface="Quicksand Bold"/>
              </a:rPr>
              <a:t>Verdadeiro →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6972300"/>
            <a:ext cx="3371850" cy="3238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557462" y="1619250"/>
            <a:ext cx="3276599" cy="800100"/>
          </a:xfrm>
          <a:prstGeom prst="roundRect">
            <a:avLst>
              <a:gd name="adj" fmla="val 12500"/>
            </a:avLst>
          </a:prstGeom>
          <a:solidFill>
            <a:srgbClr val="38B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52712" y="1752599"/>
            <a:ext cx="3086100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700" b="1">
                <a:solidFill>
                  <a:srgbClr val="FFFFFF"/>
                </a:solidFill>
                <a:latin typeface="Quicksand Bold"/>
              </a:rPr>
              <a:t>✓ Verdadeiro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57462" y="2647949"/>
            <a:ext cx="13173075" cy="1501140"/>
          </a:xfrm>
          <a:prstGeom prst="roundRect">
            <a:avLst>
              <a:gd name="adj" fmla="val 4166"/>
            </a:avLst>
          </a:prstGeom>
          <a:solidFill>
            <a:srgbClr val="E2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7462" y="2647949"/>
            <a:ext cx="57150" cy="1501140"/>
          </a:xfrm>
          <a:prstGeom prst="rect">
            <a:avLst/>
          </a:prstGeom>
          <a:solidFill>
            <a:srgbClr val="77C7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62262" y="2914650"/>
            <a:ext cx="12563474" cy="9677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7000"/>
              </a:lnSpc>
            </a:pPr>
            <a:r>
              <a:rPr sz="2700" i="1">
                <a:solidFill>
                  <a:srgbClr val="0F151A"/>
                </a:solidFill>
                <a:latin typeface="Rubik Italic"/>
              </a:rPr>
              <a:t>Em um gráfico de linhas, a conexão entre pontos ajuda a observar a evolução de uma variável ao longo do tempo.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7462" y="4377690"/>
            <a:ext cx="13173075" cy="23698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D2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4662" y="4739640"/>
            <a:ext cx="12258675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2175" b="1">
                <a:solidFill>
                  <a:srgbClr val="6F7F8B"/>
                </a:solidFill>
                <a:latin typeface="Quicksand Bold"/>
              </a:rPr>
              <a:t>Explicação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4662" y="5177790"/>
            <a:ext cx="122586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7000"/>
              </a:lnSpc>
            </a:pPr>
            <a:r>
              <a:rPr sz="3600">
                <a:solidFill>
                  <a:srgbClr val="0F151A"/>
                </a:solidFill>
                <a:latin typeface="Rubik"/>
              </a:rPr>
              <a:t>A sequência ordenada e os segmentos tornam visíveis tendências, quedas e oscilações.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81362" y="1862137"/>
            <a:ext cx="6562725" cy="65627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9424" y="2352675"/>
            <a:ext cx="7677149" cy="558164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57462" y="2667000"/>
            <a:ext cx="13173075" cy="28498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D2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96124" y="2324100"/>
            <a:ext cx="4095749" cy="685800"/>
          </a:xfrm>
          <a:prstGeom prst="roundRect">
            <a:avLst>
              <a:gd name="adj" fmla="val 8333"/>
            </a:avLst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48525" y="2419349"/>
            <a:ext cx="379094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9000"/>
              </a:lnSpc>
            </a:pPr>
            <a:r>
              <a:rPr sz="2175" b="1">
                <a:solidFill>
                  <a:srgbClr val="0F151A"/>
                </a:solidFill>
                <a:latin typeface="Quicksand Bold"/>
              </a:rPr>
              <a:t>Verdadeiro ou falso?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4662" y="3200400"/>
            <a:ext cx="12258675" cy="1783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7000"/>
              </a:lnSpc>
            </a:pPr>
            <a:r>
              <a:rPr sz="3600">
                <a:solidFill>
                  <a:srgbClr val="0F151A"/>
                </a:solidFill>
                <a:latin typeface="Rubik"/>
              </a:rPr>
              <a:t>Se duas colunas têm alturas muito diferentes, podemos concluir que a diferença é grande sem verificar a escala do eixo vertical.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1112" y="6812280"/>
            <a:ext cx="4267199" cy="990599"/>
          </a:xfrm>
          <a:prstGeom prst="roundRect">
            <a:avLst>
              <a:gd name="adj" fmla="val 8333"/>
            </a:avLst>
          </a:prstGeom>
          <a:solidFill>
            <a:srgbClr val="E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8262" y="7040880"/>
            <a:ext cx="41528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3300" b="1">
                <a:solidFill>
                  <a:srgbClr val="FFFFFF"/>
                </a:solidFill>
                <a:latin typeface="Quicksand Bold"/>
              </a:rPr>
              <a:t>← Falso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739687" y="6812280"/>
            <a:ext cx="4267199" cy="990599"/>
          </a:xfrm>
          <a:prstGeom prst="roundRect">
            <a:avLst>
              <a:gd name="adj" fmla="val 8333"/>
            </a:avLst>
          </a:prstGeom>
          <a:solidFill>
            <a:srgbClr val="38B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96837" y="7040880"/>
            <a:ext cx="41528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3300" b="1">
                <a:solidFill>
                  <a:srgbClr val="FFFFFF"/>
                </a:solidFill>
                <a:latin typeface="Quicksand Bold"/>
              </a:rPr>
              <a:t>Verdadeiro →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0" y="6953249"/>
            <a:ext cx="2533649" cy="333374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557462" y="1619250"/>
            <a:ext cx="2552700" cy="800100"/>
          </a:xfrm>
          <a:prstGeom prst="roundRect">
            <a:avLst>
              <a:gd name="adj" fmla="val 12500"/>
            </a:avLst>
          </a:prstGeom>
          <a:solidFill>
            <a:srgbClr val="E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52712" y="1752599"/>
            <a:ext cx="23621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700" b="1">
                <a:solidFill>
                  <a:srgbClr val="FFFFFF"/>
                </a:solidFill>
                <a:latin typeface="Quicksand Bold"/>
              </a:rPr>
              <a:t>✕ Falso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57462" y="2647949"/>
            <a:ext cx="13173075" cy="1501140"/>
          </a:xfrm>
          <a:prstGeom prst="roundRect">
            <a:avLst>
              <a:gd name="adj" fmla="val 4166"/>
            </a:avLst>
          </a:prstGeom>
          <a:solidFill>
            <a:srgbClr val="FF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7462" y="2647949"/>
            <a:ext cx="57150" cy="1501140"/>
          </a:xfrm>
          <a:prstGeom prst="rect">
            <a:avLst/>
          </a:prstGeom>
          <a:solidFill>
            <a:srgbClr val="E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62262" y="2914650"/>
            <a:ext cx="12563474" cy="9677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7000"/>
              </a:lnSpc>
            </a:pPr>
            <a:r>
              <a:rPr sz="2700" i="1">
                <a:solidFill>
                  <a:srgbClr val="0F151A"/>
                </a:solidFill>
                <a:latin typeface="Rubik Italic"/>
              </a:rPr>
              <a:t>Se duas colunas têm alturas muito diferentes, podemos concluir que a diferença é grande sem verificar a escala do eixo vertical.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7462" y="4377690"/>
            <a:ext cx="13173075" cy="29641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D2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4662" y="4739640"/>
            <a:ext cx="12258675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2175" b="1">
                <a:solidFill>
                  <a:srgbClr val="6F7F8B"/>
                </a:solidFill>
                <a:latin typeface="Quicksand Bold"/>
              </a:rPr>
              <a:t>Explicação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4662" y="5177790"/>
            <a:ext cx="12258675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7000"/>
              </a:lnSpc>
            </a:pPr>
            <a:r>
              <a:rPr sz="3600">
                <a:solidFill>
                  <a:srgbClr val="0F151A"/>
                </a:solidFill>
                <a:latin typeface="Rubik"/>
              </a:rPr>
              <a:t>A escala pode começar em um valor diferente de zero ou usar intervalos distintos, alterando a percepção visual.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81362" y="1862137"/>
            <a:ext cx="6562725" cy="65627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9424" y="2352675"/>
            <a:ext cx="7677149" cy="558164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57462" y="2667000"/>
            <a:ext cx="13173075" cy="2286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D2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96124" y="2324100"/>
            <a:ext cx="4095749" cy="685800"/>
          </a:xfrm>
          <a:prstGeom prst="roundRect">
            <a:avLst>
              <a:gd name="adj" fmla="val 8333"/>
            </a:avLst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48525" y="2419349"/>
            <a:ext cx="3790949" cy="4952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9000"/>
              </a:lnSpc>
            </a:pPr>
            <a:r>
              <a:rPr sz="2175" b="1">
                <a:solidFill>
                  <a:srgbClr val="0F151A"/>
                </a:solidFill>
                <a:latin typeface="Quicksand Bold"/>
              </a:rPr>
              <a:t>Verdadeiro ou falso?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4662" y="3200400"/>
            <a:ext cx="12258675" cy="121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7000"/>
              </a:lnSpc>
            </a:pPr>
            <a:r>
              <a:rPr sz="3600">
                <a:solidFill>
                  <a:srgbClr val="0F151A"/>
                </a:solidFill>
                <a:latin typeface="Rubik"/>
              </a:rPr>
              <a:t>Um gráfico de setores é adequado para mostrar partes que, juntas, formam um total de 100%.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1112" y="6248400"/>
            <a:ext cx="4267199" cy="990599"/>
          </a:xfrm>
          <a:prstGeom prst="roundRect">
            <a:avLst>
              <a:gd name="adj" fmla="val 8333"/>
            </a:avLst>
          </a:prstGeom>
          <a:solidFill>
            <a:srgbClr val="E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8262" y="6477000"/>
            <a:ext cx="41528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3300" b="1">
                <a:solidFill>
                  <a:srgbClr val="FFFFFF"/>
                </a:solidFill>
                <a:latin typeface="Quicksand Bold"/>
              </a:rPr>
              <a:t>← Falso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739687" y="6248400"/>
            <a:ext cx="4267199" cy="990599"/>
          </a:xfrm>
          <a:prstGeom prst="roundRect">
            <a:avLst>
              <a:gd name="adj" fmla="val 8333"/>
            </a:avLst>
          </a:prstGeom>
          <a:solidFill>
            <a:srgbClr val="38B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96837" y="6477000"/>
            <a:ext cx="41528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3300" b="1">
                <a:solidFill>
                  <a:srgbClr val="FFFFFF"/>
                </a:solidFill>
                <a:latin typeface="Quicksand Bold"/>
              </a:rPr>
              <a:t>Verdadeiro →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6972300"/>
            <a:ext cx="3371850" cy="3238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557462" y="1619250"/>
            <a:ext cx="3276599" cy="800100"/>
          </a:xfrm>
          <a:prstGeom prst="roundRect">
            <a:avLst>
              <a:gd name="adj" fmla="val 12500"/>
            </a:avLst>
          </a:prstGeom>
          <a:solidFill>
            <a:srgbClr val="38B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52712" y="1752599"/>
            <a:ext cx="3086100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2700" b="1">
                <a:solidFill>
                  <a:srgbClr val="FFFFFF"/>
                </a:solidFill>
                <a:latin typeface="Quicksand Bold"/>
              </a:rPr>
              <a:t>✓ Verdadeiro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57462" y="2647949"/>
            <a:ext cx="13173075" cy="1501140"/>
          </a:xfrm>
          <a:prstGeom prst="roundRect">
            <a:avLst>
              <a:gd name="adj" fmla="val 4166"/>
            </a:avLst>
          </a:prstGeom>
          <a:solidFill>
            <a:srgbClr val="E2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7462" y="2647949"/>
            <a:ext cx="57150" cy="1501140"/>
          </a:xfrm>
          <a:prstGeom prst="rect">
            <a:avLst/>
          </a:prstGeom>
          <a:solidFill>
            <a:srgbClr val="77C7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62262" y="2914650"/>
            <a:ext cx="12563474" cy="9677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7000"/>
              </a:lnSpc>
            </a:pPr>
            <a:r>
              <a:rPr sz="2700" i="1">
                <a:solidFill>
                  <a:srgbClr val="0F151A"/>
                </a:solidFill>
                <a:latin typeface="Rubik Italic"/>
              </a:rPr>
              <a:t>Um gráfico de setores é adequado para mostrar partes que, juntas, formam um total de 100%.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7462" y="4377690"/>
            <a:ext cx="13173075" cy="23698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D2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4662" y="4739640"/>
            <a:ext cx="12258675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2175" b="1">
                <a:solidFill>
                  <a:srgbClr val="6F7F8B"/>
                </a:solidFill>
                <a:latin typeface="Quicksand Bold"/>
              </a:rPr>
              <a:t>Explicação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4662" y="5177790"/>
            <a:ext cx="122586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7000"/>
              </a:lnSpc>
            </a:pPr>
            <a:r>
              <a:rPr sz="3600">
                <a:solidFill>
                  <a:srgbClr val="0F151A"/>
                </a:solidFill>
                <a:latin typeface="Rubik"/>
              </a:rPr>
              <a:t>Os setores representam proporções de um todo; a soma das partes deve corresponder ao total.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14625" y="4152899"/>
            <a:ext cx="12858750" cy="38100"/>
          </a:xfrm>
          <a:prstGeom prst="roundRect">
            <a:avLst>
              <a:gd name="adj" fmla="val 100000"/>
            </a:avLst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09825" y="3867150"/>
            <a:ext cx="609600" cy="609600"/>
          </a:xfrm>
          <a:prstGeom prst="ellipse">
            <a:avLst/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96075" y="3867150"/>
            <a:ext cx="609600" cy="609600"/>
          </a:xfrm>
          <a:prstGeom prst="ellipse">
            <a:avLst/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2325" y="3867150"/>
            <a:ext cx="609600" cy="609600"/>
          </a:xfrm>
          <a:prstGeom prst="ellipse">
            <a:avLst/>
          </a:prstGeom>
          <a:solidFill>
            <a:srgbClr val="3F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268575" y="3867150"/>
            <a:ext cx="609600" cy="609600"/>
          </a:xfrm>
          <a:prstGeom prst="ellipse">
            <a:avLst/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6756399"/>
            <a:ext cx="5486400" cy="2844799"/>
          </a:xfrm>
          <a:prstGeom prst="roundRect">
            <a:avLst>
              <a:gd name="adj" fmla="val 12053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9825" y="8159749"/>
            <a:ext cx="1333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6756399"/>
            <a:ext cx="5486400" cy="2844799"/>
          </a:xfrm>
          <a:prstGeom prst="roundRect">
            <a:avLst>
              <a:gd name="adj" fmla="val 12053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934824" y="8159749"/>
            <a:ext cx="1333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115800" y="6756399"/>
            <a:ext cx="5486400" cy="2844799"/>
          </a:xfrm>
          <a:prstGeom prst="roundRect">
            <a:avLst>
              <a:gd name="adj" fmla="val 12053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999" y="761999"/>
            <a:ext cx="1676399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3FBFA8"/>
                </a:solidFill>
                <a:latin typeface="Quicksand Bold"/>
              </a:rPr>
              <a:t>MINI PROJETO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99" y="1085850"/>
            <a:ext cx="16763999" cy="670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Mini projeto: do dado à decisão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999" y="1832570"/>
            <a:ext cx="16763999" cy="4114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Uma investigação simples pode mobilizar todas as etapas aprendidas.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9825" y="4017645"/>
            <a:ext cx="609600" cy="30860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025" b="1">
                <a:solidFill>
                  <a:srgbClr val="0F151A"/>
                </a:solidFill>
                <a:latin typeface="Quicksand 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4629150"/>
            <a:ext cx="3829050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Pergunta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5105400"/>
            <a:ext cx="3829050" cy="54471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FFFFFF"/>
                </a:solidFill>
                <a:latin typeface="Quicksand"/>
              </a:rPr>
              <a:t>Qual aspecto da rotina escolar ou de um projeto queremos compreender?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6074" y="4017645"/>
            <a:ext cx="609600" cy="30860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025" b="1">
                <a:solidFill>
                  <a:srgbClr val="0F151A"/>
                </a:solidFill>
                <a:latin typeface="Quicksand 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6350" y="4629150"/>
            <a:ext cx="3829050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Coleta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6350" y="5105400"/>
            <a:ext cx="3829050" cy="54471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FFFFFF"/>
                </a:solidFill>
                <a:latin typeface="Quicksand"/>
              </a:rPr>
              <a:t>Defina variáveis, unidade, período e fonte dos dados.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82325" y="4017645"/>
            <a:ext cx="609600" cy="30860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025" b="1">
                <a:solidFill>
                  <a:srgbClr val="0F151A"/>
                </a:solidFill>
                <a:latin typeface="Quicksand 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4629150"/>
            <a:ext cx="3829050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Limpeza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5105400"/>
            <a:ext cx="3829050" cy="54471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FFFFFF"/>
                </a:solidFill>
                <a:latin typeface="Quicksand"/>
              </a:rPr>
              <a:t>Padronize categorias, datas, números e valores ausentes.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68574" y="4017645"/>
            <a:ext cx="609600" cy="30860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025" b="1">
                <a:solidFill>
                  <a:srgbClr val="0F151A"/>
                </a:solidFill>
                <a:latin typeface="Quicksand 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658850" y="4629150"/>
            <a:ext cx="3829050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Análise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658850" y="5105400"/>
            <a:ext cx="3829050" cy="54471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FFFFFF"/>
                </a:solidFill>
                <a:latin typeface="Quicksand"/>
              </a:rPr>
              <a:t>Use fórmulas, filtros e medidas de tendência central.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" y="7661274"/>
            <a:ext cx="5257800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250" b="1">
                <a:solidFill>
                  <a:srgbClr val="A5BEFF"/>
                </a:solidFill>
                <a:latin typeface="Quicksand Bold"/>
              </a:rPr>
              <a:t>Visualização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8137524"/>
            <a:ext cx="5257800" cy="54471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FFFFFF"/>
                </a:solidFill>
                <a:latin typeface="Quicksand"/>
              </a:rPr>
              <a:t>Escolha colunas, linhas ou setores conforme a pergunta.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5100" y="7804149"/>
            <a:ext cx="5257800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250" b="1">
                <a:solidFill>
                  <a:srgbClr val="A5BEFF"/>
                </a:solidFill>
                <a:latin typeface="Quicksand Bold"/>
              </a:rPr>
              <a:t>Interpretação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5100" y="8280399"/>
            <a:ext cx="5257800" cy="27235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FFFFFF"/>
                </a:solidFill>
                <a:latin typeface="Quicksand"/>
              </a:rPr>
              <a:t>Descreva padrões, exceções e limites da evidência.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30100" y="7661274"/>
            <a:ext cx="5257800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250" b="1">
                <a:solidFill>
                  <a:srgbClr val="A5BEFF"/>
                </a:solidFill>
                <a:latin typeface="Quicksand Bold"/>
              </a:rPr>
              <a:t>Decisão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8137524"/>
            <a:ext cx="5257800" cy="54471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FFFFFF"/>
                </a:solidFill>
                <a:latin typeface="Quicksand"/>
              </a:rPr>
              <a:t>Proponha uma ação ou nova pergunta baseada nos resultados.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8249" y="9791699"/>
            <a:ext cx="571500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33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490739" y="7808317"/>
            <a:ext cx="2178645" cy="438149"/>
          </a:xfrm>
          <a:prstGeom prst="roundRect">
            <a:avLst>
              <a:gd name="adj" fmla="val 100000"/>
            </a:avLst>
          </a:prstGeom>
          <a:solidFill>
            <a:srgbClr val="3F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41025" y="3971925"/>
            <a:ext cx="1143000" cy="47624"/>
          </a:xfrm>
          <a:prstGeom prst="roundRect">
            <a:avLst>
              <a:gd name="adj" fmla="val 80000"/>
            </a:avLst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64825" y="5238749"/>
            <a:ext cx="6937375" cy="1327150"/>
          </a:xfrm>
          <a:prstGeom prst="roundRect">
            <a:avLst>
              <a:gd name="adj" fmla="val 22966"/>
            </a:avLst>
          </a:prstGeom>
          <a:solidFill>
            <a:srgbClr val="25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64825" y="6756400"/>
            <a:ext cx="6937375" cy="1327150"/>
          </a:xfrm>
          <a:prstGeom prst="roundRect">
            <a:avLst>
              <a:gd name="adj" fmla="val 22966"/>
            </a:avLst>
          </a:prstGeom>
          <a:solidFill>
            <a:srgbClr val="193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64825" y="8274050"/>
            <a:ext cx="6937375" cy="1327150"/>
          </a:xfrm>
          <a:prstGeom prst="roundRect">
            <a:avLst>
              <a:gd name="adj" fmla="val 22966"/>
            </a:avLst>
          </a:prstGeom>
          <a:solidFill>
            <a:srgbClr val="39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1999" y="3038475"/>
          <a:ext cx="9636124" cy="421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9031"/>
                <a:gridCol w="2409031"/>
                <a:gridCol w="2409031"/>
                <a:gridCol w="2409031"/>
              </a:tblGrid>
              <a:tr h="701992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Aluno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Questões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Acertos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Percentual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</a:tr>
              <a:tr h="701992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Bia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80%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701992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Caio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60%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701992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Duda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90%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701992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Enzo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70%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  <a:tr h="701992"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A5BEFF"/>
                          </a:solidFill>
                        </a:rPr>
                        <a:t>Fabi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  <a:solidFill>
                      <a:srgbClr val="2228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</a:rPr>
                        <a:t>50%</a:t>
                      </a:r>
                    </a:p>
                  </a:txBody>
                  <a:tcPr anchor="ctr">
                    <a:lnL w="12700">
                      <a:solidFill>
                        <a:srgbClr val="44484C"/>
                      </a:solidFill>
                    </a:lnL>
                    <a:lnR w="12700">
                      <a:solidFill>
                        <a:srgbClr val="44484C"/>
                      </a:solidFill>
                    </a:lnR>
                    <a:lnT w="12700">
                      <a:solidFill>
                        <a:srgbClr val="44484C"/>
                      </a:solidFill>
                    </a:lnT>
                    <a:lnB w="12700">
                      <a:solidFill>
                        <a:srgbClr val="44484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1999" y="761999"/>
            <a:ext cx="16763999" cy="2284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E0A94A"/>
                </a:solidFill>
                <a:latin typeface="Quicksand Bold"/>
              </a:rPr>
              <a:t>EXEMPLO INTEGRADO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99" y="1085850"/>
            <a:ext cx="16763999" cy="6703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Exemplo integrado: desempenho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99" y="1832570"/>
            <a:ext cx="16763999" cy="4114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Uma base pequena já permite combinar cálculo, medida central, gráfico e conclusão.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739" y="7922617"/>
            <a:ext cx="2178645" cy="2738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0F151A"/>
                </a:solidFill>
                <a:latin typeface="Quicksand Bold"/>
              </a:rPr>
              <a:t>Média da turma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8494117"/>
            <a:ext cx="9217025" cy="4153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14:m xmlns:a14="http://schemas.microsoft.com/office/drawing/2010/main">
              <m:oMath xmlns:m="http://schemas.openxmlformats.org/officeDocument/2006/math" xmlns:mml="http://www.w3.org/1998/Math/MathML">
                <m:r>
                  <m:rPr>
                    <a:rPr sz="1755">
                      <a:solidFill>
                        <a:srgbClr val="75D1C0"/>
                      </a:solidFill>
                    </a:rPr>
                  </m:rPr>
                  <m:t>=MÉDIA(D2:D6)=70%</m:t>
                </m:r>
              </m:oMath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971550" y="9035752"/>
            <a:ext cx="9217025" cy="272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A média resume os percentuais individuais.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41025" y="3057525"/>
            <a:ext cx="6784975" cy="83788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6000" b="1">
                <a:solidFill>
                  <a:srgbClr val="E0A94A"/>
                </a:solidFill>
                <a:latin typeface="Quicksand Bold"/>
              </a:rPr>
              <a:t>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1025" y="4152899"/>
            <a:ext cx="6784975" cy="2616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25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média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1025" y="4548187"/>
            <a:ext cx="6784975" cy="39997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250">
                <a:solidFill>
                  <a:srgbClr val="FFFFFF"/>
                </a:solidFill>
                <a:latin typeface="Quicksand"/>
              </a:rPr>
              <a:t>Centro aritmético dos percentuais registrados.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93425" y="5486400"/>
            <a:ext cx="6480175" cy="25136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A5BEFF"/>
                </a:solidFill>
                <a:latin typeface="Quicksand Bold"/>
              </a:rPr>
              <a:t>Leitura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3425" y="5852120"/>
            <a:ext cx="6480175" cy="2312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350">
                <a:solidFill>
                  <a:srgbClr val="FFFFFF"/>
                </a:solidFill>
                <a:latin typeface="Quicksand"/>
              </a:rPr>
              <a:t>Duda apresenta o maior percentual; Fabi, o menor.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93425" y="7004050"/>
            <a:ext cx="6480175" cy="25136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A5BEFF"/>
                </a:solidFill>
                <a:latin typeface="Quicksand Bold"/>
              </a:rPr>
              <a:t>Visual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3425" y="7369770"/>
            <a:ext cx="6480175" cy="46241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350">
                <a:solidFill>
                  <a:srgbClr val="FFFFFF"/>
                </a:solidFill>
                <a:latin typeface="Quicksand"/>
              </a:rPr>
              <a:t>Colunas permitem comparar alunos; linhas não são necessárias sem sequência temporal.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93425" y="8521700"/>
            <a:ext cx="6480175" cy="25136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A5BEFF"/>
                </a:solidFill>
                <a:latin typeface="Quicksand Bold"/>
              </a:rPr>
              <a:t>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93425" y="8887420"/>
            <a:ext cx="6480175" cy="2312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350">
                <a:solidFill>
                  <a:srgbClr val="FFFFFF"/>
                </a:solidFill>
                <a:latin typeface="Quicksand"/>
              </a:rPr>
              <a:t>Investigar quais conteúdos aparecem nas questões erradas.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49" y="9791699"/>
            <a:ext cx="571500" cy="2284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34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62274"/>
            <a:ext cx="8362949" cy="1516856"/>
          </a:xfrm>
          <a:prstGeom prst="roundRect">
            <a:avLst>
              <a:gd name="adj" fmla="val 22605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669631"/>
            <a:ext cx="8362949" cy="1516856"/>
          </a:xfrm>
          <a:prstGeom prst="roundRect">
            <a:avLst>
              <a:gd name="adj" fmla="val 22605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376987"/>
            <a:ext cx="8362949" cy="1516856"/>
          </a:xfrm>
          <a:prstGeom prst="roundRect">
            <a:avLst>
              <a:gd name="adj" fmla="val 22605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8084343"/>
            <a:ext cx="8362949" cy="1516856"/>
          </a:xfrm>
          <a:prstGeom prst="roundRect">
            <a:avLst>
              <a:gd name="adj" fmla="val 22605"/>
            </a:avLst>
          </a:prstGeom>
          <a:solidFill>
            <a:srgbClr val="0F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5950" y="3507581"/>
            <a:ext cx="38100" cy="3271837"/>
          </a:xfrm>
          <a:prstGeom prst="roundRect">
            <a:avLst>
              <a:gd name="adj" fmla="val 100000"/>
            </a:avLst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58300" y="3240881"/>
            <a:ext cx="533399" cy="533399"/>
          </a:xfrm>
          <a:prstGeom prst="ellipse">
            <a:avLst/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58300" y="4331493"/>
            <a:ext cx="533399" cy="533399"/>
          </a:xfrm>
          <a:prstGeom prst="ellipse">
            <a:avLst/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58300" y="5422106"/>
            <a:ext cx="533399" cy="533399"/>
          </a:xfrm>
          <a:prstGeom prst="ellipse">
            <a:avLst/>
          </a:prstGeom>
          <a:solidFill>
            <a:srgbClr val="3F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58300" y="6512718"/>
            <a:ext cx="533399" cy="533399"/>
          </a:xfrm>
          <a:prstGeom prst="ellipse">
            <a:avLst/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39250" y="8274049"/>
            <a:ext cx="8362949" cy="1327149"/>
          </a:xfrm>
          <a:prstGeom prst="roundRect">
            <a:avLst>
              <a:gd name="adj" fmla="val 20095"/>
            </a:avLst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39250" y="8274049"/>
            <a:ext cx="171450" cy="1327149"/>
          </a:xfrm>
          <a:prstGeom prst="rect">
            <a:avLst/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39250" y="8274049"/>
            <a:ext cx="57150" cy="1327149"/>
          </a:xfrm>
          <a:prstGeom prst="rect">
            <a:avLst/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999" y="761999"/>
            <a:ext cx="16763999" cy="2284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7FA2FF"/>
                </a:solidFill>
                <a:latin typeface="Quicksand Bold"/>
              </a:rPr>
              <a:t>CONFIABILIDADE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99" y="1085850"/>
            <a:ext cx="16763999" cy="6703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Erros frequentes e confiabilidade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99" y="1832570"/>
            <a:ext cx="16763999" cy="4114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A planilha calcula rápido; por isso, um erro pequeno pode se espalhar rapidamente.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24225"/>
            <a:ext cx="7905749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Referência errada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81424"/>
            <a:ext cx="7905749" cy="33436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Copiar sem fixar uma taxa altera o cálculo.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31581"/>
            <a:ext cx="7905749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Dados misturados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8781"/>
            <a:ext cx="7905749" cy="33436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Texto, número e unidade na mesma coluna impedem operações.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738937"/>
            <a:ext cx="7905749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Intervalo incompleto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7196137"/>
            <a:ext cx="7905749" cy="33436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Uma linha fora da seleção desaparece da análise.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8446293"/>
            <a:ext cx="7905749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75D1C0"/>
                </a:solidFill>
                <a:latin typeface="Quicksand Bold"/>
              </a:rPr>
              <a:t>Escala enganosa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8903493"/>
            <a:ext cx="7905749" cy="33436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1500"/>
              </a:lnSpc>
            </a:pPr>
            <a:r>
              <a:rPr sz="1950">
                <a:solidFill>
                  <a:srgbClr val="FFFFFF"/>
                </a:solidFill>
                <a:latin typeface="Quicksand"/>
              </a:rPr>
              <a:t>O gráfico pode exagerar ou minimizar diferenças.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8300" y="3370421"/>
            <a:ext cx="533399" cy="2738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0F151A"/>
                </a:solidFill>
                <a:latin typeface="Quicksand Bol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9350" y="3162299"/>
            <a:ext cx="7486650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Verifique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9350" y="3562349"/>
            <a:ext cx="7486650" cy="272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Confira fórmulas, intervalos e tipos de dados.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8300" y="4461033"/>
            <a:ext cx="533399" cy="2738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0F151A"/>
                </a:solidFill>
                <a:latin typeface="Quicksand Bold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9350" y="4252912"/>
            <a:ext cx="7486650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Compare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39350" y="4652962"/>
            <a:ext cx="7486650" cy="272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Faça uma conta manual ou use uma segunda função.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8300" y="5551646"/>
            <a:ext cx="533399" cy="2738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0F151A"/>
                </a:solidFill>
                <a:latin typeface="Quicksand Bold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39350" y="5343525"/>
            <a:ext cx="7486650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Documente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39350" y="5743575"/>
            <a:ext cx="7486650" cy="272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Registre fonte, período, unidade e decisões.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8300" y="6642258"/>
            <a:ext cx="533399" cy="27389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0F151A"/>
                </a:solidFill>
                <a:latin typeface="Quicksand Bold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39350" y="6434137"/>
            <a:ext cx="7486650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250" b="1">
                <a:solidFill>
                  <a:srgbClr val="E7BC72"/>
                </a:solidFill>
                <a:latin typeface="Quicksand Bold"/>
              </a:rPr>
              <a:t>Revise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39350" y="6834187"/>
            <a:ext cx="7486650" cy="272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650">
                <a:solidFill>
                  <a:srgbClr val="878A8C"/>
                </a:solidFill>
                <a:latin typeface="Quicksand"/>
              </a:rPr>
              <a:t>Peça que outra pessoa leia a tabela e o gráfico.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5000" y="8788399"/>
            <a:ext cx="7791449" cy="29681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800">
                <a:solidFill>
                  <a:srgbClr val="FFFFFF"/>
                </a:solidFill>
                <a:latin typeface="Quicksand"/>
              </a:rPr>
              <a:t>Confiabilidade = resultado correto + processo verificável.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8249" y="9791699"/>
            <a:ext cx="571500" cy="2284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878A8C"/>
                </a:solidFill>
                <a:latin typeface="Quicksand Bold"/>
              </a:rPr>
              <a:t>35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14500" y="1523999"/>
            <a:ext cx="5229225" cy="609600"/>
          </a:xfrm>
          <a:prstGeom prst="roundRect">
            <a:avLst>
              <a:gd name="adj" fmla="val 100000"/>
            </a:avLst>
          </a:prstGeom>
          <a:solidFill>
            <a:srgbClr val="323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714500" y="7715250"/>
            <a:ext cx="57150" cy="857250"/>
          </a:xfrm>
          <a:prstGeom prst="roundRect">
            <a:avLst>
              <a:gd name="adj" fmla="val 100000"/>
            </a:avLst>
          </a:prstGeom>
          <a:solidFill>
            <a:srgbClr val="80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15b234e-47ca-4c94-8a29-eab9fd4252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49" y="1695449"/>
            <a:ext cx="266699" cy="2666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11000" y="571500"/>
            <a:ext cx="5715000" cy="104775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>
              <a:lnSpc>
                <a:spcPct val="90000"/>
              </a:lnSpc>
            </a:pPr>
            <a:r>
              <a:rPr sz="82500" b="1">
                <a:solidFill>
                  <a:srgbClr val="151C22"/>
                </a:solidFill>
                <a:latin typeface="Quicksand Bold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62199" y="1657350"/>
            <a:ext cx="4333875" cy="32013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FFFF"/>
                </a:solidFill>
                <a:latin typeface="Quicksand Bold"/>
              </a:rPr>
              <a:t>Discuta com o colega ao lado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4500" y="2667000"/>
            <a:ext cx="10668000" cy="288121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7200"/>
              </a:lnSpc>
            </a:pPr>
            <a:r>
              <a:rPr sz="4200" b="1">
                <a:solidFill>
                  <a:srgbClr val="FFFFFF"/>
                </a:solidFill>
                <a:latin typeface="Quicksand Bold"/>
              </a:rPr>
              <a:t>Uma planilha apresenta uma média de 70%, mas metade dos estudantes ficou abaixo de 60%. Que perguntas você faria antes de tomar uma decisão sobre a turma?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250" y="7715250"/>
            <a:ext cx="11811000" cy="85290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2400" b="1" i="1">
                <a:solidFill>
                  <a:srgbClr val="FFFFFF"/>
                </a:solidFill>
                <a:latin typeface="Quicksand Bold"/>
              </a:rPr>
              <a:t>Considere distribuição, mediana, valores extremos, tamanho da amostra e conteúdos avaliados.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14625" y="4152899"/>
            <a:ext cx="12858750" cy="38100"/>
          </a:xfrm>
          <a:prstGeom prst="roundRect">
            <a:avLst>
              <a:gd name="adj" fmla="val 100000"/>
            </a:avLst>
          </a:prstGeom>
          <a:solidFill>
            <a:srgbClr val="444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09825" y="3867150"/>
            <a:ext cx="609600" cy="609600"/>
          </a:xfrm>
          <a:prstGeom prst="ellipse">
            <a:avLst/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96075" y="3867150"/>
            <a:ext cx="609600" cy="609600"/>
          </a:xfrm>
          <a:prstGeom prst="ellipse">
            <a:avLst/>
          </a:prstGeom>
          <a:solidFill>
            <a:srgbClr val="3F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2325" y="3867150"/>
            <a:ext cx="609600" cy="609600"/>
          </a:xfrm>
          <a:prstGeom prst="ellipse">
            <a:avLst/>
          </a:prstGeom>
          <a:solidFill>
            <a:srgbClr val="E0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268575" y="3867150"/>
            <a:ext cx="609600" cy="609600"/>
          </a:xfrm>
          <a:prstGeom prst="ellipse">
            <a:avLst/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1999" y="6832599"/>
            <a:ext cx="1143000" cy="47624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9905999"/>
            <a:ext cx="438149" cy="38100"/>
          </a:xfrm>
          <a:prstGeom prst="roundRect">
            <a:avLst>
              <a:gd name="adj" fmla="val 100000"/>
            </a:avLst>
          </a:prstGeom>
          <a:solidFill>
            <a:srgbClr val="7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1999" y="761999"/>
            <a:ext cx="16763999" cy="2284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Quicksand Bold"/>
              </a:rPr>
              <a:t>SÍNTESE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99" y="1085850"/>
            <a:ext cx="16763999" cy="6703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99000"/>
              </a:lnSpc>
            </a:pPr>
            <a:r>
              <a:rPr sz="4800" b="1">
                <a:solidFill>
                  <a:srgbClr val="FFFFFF"/>
                </a:solidFill>
                <a:latin typeface="Quicksand Bold"/>
              </a:rPr>
              <a:t>Síntese: dado à decisão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99" y="1832570"/>
            <a:ext cx="16763999" cy="4114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>
                <a:solidFill>
                  <a:srgbClr val="FFFFFF"/>
                </a:solidFill>
                <a:latin typeface="Quicksand"/>
              </a:rPr>
              <a:t>Use este roteiro sempre que uma planilha precisar sustentar uma conclusão.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9825" y="4017645"/>
            <a:ext cx="609600" cy="30867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025" b="1">
                <a:solidFill>
                  <a:srgbClr val="0F151A"/>
                </a:solidFill>
                <a:latin typeface="Quicksand 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629150"/>
            <a:ext cx="3829050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250" b="1">
                <a:solidFill>
                  <a:srgbClr val="FFFFFF"/>
                </a:solidFill>
                <a:latin typeface="Quicksand Bold"/>
              </a:rPr>
              <a:t>1 • Estruture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5105400"/>
            <a:ext cx="3829050" cy="54462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FFFFFF"/>
                </a:solidFill>
                <a:latin typeface="Quicksand"/>
              </a:rPr>
              <a:t>Linhas, colunas, cabeçalhos, tipos e unidades consistentes.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6074" y="4017645"/>
            <a:ext cx="609600" cy="30867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025" b="1">
                <a:solidFill>
                  <a:srgbClr val="0F151A"/>
                </a:solidFill>
                <a:latin typeface="Quicksand 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6350" y="4629150"/>
            <a:ext cx="3829050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250" b="1">
                <a:solidFill>
                  <a:srgbClr val="FFFFFF"/>
                </a:solidFill>
                <a:latin typeface="Quicksand Bold"/>
              </a:rPr>
              <a:t>2 • Calcule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6350" y="5105400"/>
            <a:ext cx="3829050" cy="54462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FFFFFF"/>
                </a:solidFill>
                <a:latin typeface="Quicksand"/>
              </a:rPr>
              <a:t>Fórmulas, referências, funções e critérios adequados.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82325" y="4017645"/>
            <a:ext cx="609600" cy="30867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025" b="1">
                <a:solidFill>
                  <a:srgbClr val="0F151A"/>
                </a:solidFill>
                <a:latin typeface="Quicksand 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4629150"/>
            <a:ext cx="3829050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250" b="1">
                <a:solidFill>
                  <a:srgbClr val="FFFFFF"/>
                </a:solidFill>
                <a:latin typeface="Quicksand Bold"/>
              </a:rPr>
              <a:t>3 • Explore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5105400"/>
            <a:ext cx="3829050" cy="54462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FFFFFF"/>
                </a:solidFill>
                <a:latin typeface="Quicksand"/>
              </a:rPr>
              <a:t>Filtros, ordenação, comparação e medidas centrais.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68574" y="4017645"/>
            <a:ext cx="609600" cy="30867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025" b="1">
                <a:solidFill>
                  <a:srgbClr val="0F151A"/>
                </a:solidFill>
                <a:latin typeface="Quicksand 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58850" y="4629150"/>
            <a:ext cx="3829050" cy="3426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250" b="1">
                <a:solidFill>
                  <a:srgbClr val="FFFFFF"/>
                </a:solidFill>
                <a:latin typeface="Quicksand Bold"/>
              </a:rPr>
              <a:t>4 • Comunique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658850" y="5105400"/>
            <a:ext cx="3829050" cy="54462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lnSpc>
                <a:spcPct val="117000"/>
              </a:lnSpc>
            </a:pPr>
            <a:r>
              <a:rPr sz="1650">
                <a:solidFill>
                  <a:srgbClr val="FFFFFF"/>
                </a:solidFill>
                <a:latin typeface="Quicksand"/>
              </a:rPr>
              <a:t>Gráfico escolhido pela pergunta, com escala, fonte e título.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999" y="7594599"/>
            <a:ext cx="16763999" cy="9904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3000">
                <a:solidFill>
                  <a:srgbClr val="FFFFFF"/>
                </a:solidFill>
                <a:latin typeface="Quicksand"/>
              </a:rPr>
              <a:t>Uma planilha não substitui o pensamento: ela torna o pensamento mais explícito, verificável e comunicável.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999" y="8699499"/>
            <a:ext cx="16763999" cy="2723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17000"/>
              </a:lnSpc>
            </a:pPr>
            <a:r>
              <a:rPr sz="1650">
                <a:solidFill>
                  <a:srgbClr val="FFFFFF"/>
                </a:solidFill>
                <a:latin typeface="Quicksand"/>
              </a:rPr>
              <a:t>— Ideia central da aula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8249" y="9791699"/>
            <a:ext cx="571500" cy="2284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B2B4B6"/>
                </a:solidFill>
                <a:latin typeface="Quicksand Bold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